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a1f36ac6ce469f" /><Relationship Type="http://schemas.openxmlformats.org/officeDocument/2006/relationships/extended-properties" Target="/docProps/app.xml" Id="R5f704fdc734b4804" /><Relationship Type="http://schemas.openxmlformats.org/officeDocument/2006/relationships/officeDocument" Target="/ppt/presentation.xml" Id="Re4b7261121b647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079c9084bb4cd9"/>
  </p:sldMasterIdLst>
  <p:notesMasterIdLst>
    <p:notesMasterId xmlns:r="http://schemas.openxmlformats.org/officeDocument/2006/relationships" r:id="R8b2270afddf64ea1"/>
  </p:notesMasterIdLst>
  <p:sldIdLst>
    <p:sldId xmlns:r="http://schemas.openxmlformats.org/officeDocument/2006/relationships" id="256" r:id="R8cd43437541c4943"/>
    <p:sldId xmlns:r="http://schemas.openxmlformats.org/officeDocument/2006/relationships" id="257" r:id="Rb2786ad18aa64a08"/>
    <p:sldId xmlns:r="http://schemas.openxmlformats.org/officeDocument/2006/relationships" id="258" r:id="Rdd0aa2d5eec7414c"/>
    <p:sldId xmlns:r="http://schemas.openxmlformats.org/officeDocument/2006/relationships" id="259" r:id="R78c5fca131514358"/>
    <p:sldId xmlns:r="http://schemas.openxmlformats.org/officeDocument/2006/relationships" id="260" r:id="R1db596dec0c846ec"/>
    <p:sldId xmlns:r="http://schemas.openxmlformats.org/officeDocument/2006/relationships" id="261" r:id="R7460fa2e2d3f4a76"/>
    <p:sldId xmlns:r="http://schemas.openxmlformats.org/officeDocument/2006/relationships" id="262" r:id="R146ea640ca0049a1"/>
    <p:sldId xmlns:r="http://schemas.openxmlformats.org/officeDocument/2006/relationships" id="263" r:id="R6eb0ddc7220f4c98"/>
    <p:sldId xmlns:r="http://schemas.openxmlformats.org/officeDocument/2006/relationships" id="264" r:id="Rd4ba2c3cc9f54419"/>
    <p:sldId xmlns:r="http://schemas.openxmlformats.org/officeDocument/2006/relationships" id="265" r:id="R63f28a86155f4792"/>
    <p:sldId xmlns:r="http://schemas.openxmlformats.org/officeDocument/2006/relationships" id="266" r:id="R8be3305c8cc24ef9"/>
    <p:sldId xmlns:r="http://schemas.openxmlformats.org/officeDocument/2006/relationships" id="267" r:id="Rbcba5e82d6704522"/>
    <p:sldId xmlns:r="http://schemas.openxmlformats.org/officeDocument/2006/relationships" id="268" r:id="R6a80f86377934c80"/>
    <p:sldId xmlns:r="http://schemas.openxmlformats.org/officeDocument/2006/relationships" id="269" r:id="R1485b575fcef47c1"/>
    <p:sldId xmlns:r="http://schemas.openxmlformats.org/officeDocument/2006/relationships" id="270" r:id="R28c6dac6c8e643ae"/>
    <p:sldId xmlns:r="http://schemas.openxmlformats.org/officeDocument/2006/relationships" id="271" r:id="R5f6493156801455d"/>
    <p:sldId xmlns:r="http://schemas.openxmlformats.org/officeDocument/2006/relationships" id="272" r:id="R7cf68df2172f4544"/>
    <p:sldId xmlns:r="http://schemas.openxmlformats.org/officeDocument/2006/relationships" id="273" r:id="Re74c3fa31f9f44e9"/>
    <p:sldId xmlns:r="http://schemas.openxmlformats.org/officeDocument/2006/relationships" id="274" r:id="R84f40a4e733b493e"/>
    <p:sldId xmlns:r="http://schemas.openxmlformats.org/officeDocument/2006/relationships" id="275" r:id="Rf9ff6fd2440b4d21"/>
    <p:sldId xmlns:r="http://schemas.openxmlformats.org/officeDocument/2006/relationships" id="276" r:id="Rc3b5ce4805a94f3b"/>
    <p:sldId xmlns:r="http://schemas.openxmlformats.org/officeDocument/2006/relationships" id="277" r:id="Rcb2adb93ea5549f7"/>
    <p:sldId xmlns:r="http://schemas.openxmlformats.org/officeDocument/2006/relationships" id="278" r:id="Rf5936feecea74972"/>
    <p:sldId xmlns:r="http://schemas.openxmlformats.org/officeDocument/2006/relationships" id="279" r:id="Rcf660caa2deb426c"/>
    <p:sldId xmlns:r="http://schemas.openxmlformats.org/officeDocument/2006/relationships" id="280" r:id="R418630b45d804d1a"/>
    <p:sldId xmlns:r="http://schemas.openxmlformats.org/officeDocument/2006/relationships" id="281" r:id="Re98ad038ef964a65"/>
    <p:sldId xmlns:r="http://schemas.openxmlformats.org/officeDocument/2006/relationships" id="282" r:id="Ref2db98d12d74856"/>
    <p:sldId xmlns:r="http://schemas.openxmlformats.org/officeDocument/2006/relationships" id="283" r:id="R31f4109da5d04464"/>
    <p:sldId xmlns:r="http://schemas.openxmlformats.org/officeDocument/2006/relationships" id="284" r:id="R503017e97ccb4822"/>
    <p:sldId xmlns:r="http://schemas.openxmlformats.org/officeDocument/2006/relationships" id="285" r:id="R82ae9348a3d04923"/>
    <p:sldId xmlns:r="http://schemas.openxmlformats.org/officeDocument/2006/relationships" id="286" r:id="R1f09593afcd24502"/>
    <p:sldId xmlns:r="http://schemas.openxmlformats.org/officeDocument/2006/relationships" id="287" r:id="R452dab4b652245ed"/>
    <p:sldId xmlns:r="http://schemas.openxmlformats.org/officeDocument/2006/relationships" id="288" r:id="Ra2de5dab783f4397"/>
    <p:sldId xmlns:r="http://schemas.openxmlformats.org/officeDocument/2006/relationships" id="289" r:id="R20c140273def4454"/>
    <p:sldId xmlns:r="http://schemas.openxmlformats.org/officeDocument/2006/relationships" id="290" r:id="R46687d8b7b9d4e11"/>
    <p:sldId xmlns:r="http://schemas.openxmlformats.org/officeDocument/2006/relationships" id="291" r:id="R56c917def16e4153"/>
    <p:sldId xmlns:r="http://schemas.openxmlformats.org/officeDocument/2006/relationships" id="292" r:id="R38fb2ee1c0614808"/>
    <p:sldId xmlns:r="http://schemas.openxmlformats.org/officeDocument/2006/relationships" id="293" r:id="R9f9bf7a9d5a54f5d"/>
    <p:sldId xmlns:r="http://schemas.openxmlformats.org/officeDocument/2006/relationships" id="294" r:id="R2699c81653664d76"/>
    <p:sldId xmlns:r="http://schemas.openxmlformats.org/officeDocument/2006/relationships" id="295" r:id="R34415ddff6284ee9"/>
    <p:sldId xmlns:r="http://schemas.openxmlformats.org/officeDocument/2006/relationships" id="296" r:id="Ra1f995f55d6c4219"/>
    <p:sldId xmlns:r="http://schemas.openxmlformats.org/officeDocument/2006/relationships" id="297" r:id="Rb890c70429ad4240"/>
    <p:sldId xmlns:r="http://schemas.openxmlformats.org/officeDocument/2006/relationships" id="298" r:id="R1185e17f711045d3"/>
    <p:sldId xmlns:r="http://schemas.openxmlformats.org/officeDocument/2006/relationships" id="299" r:id="R456654941711409d"/>
    <p:sldId xmlns:r="http://schemas.openxmlformats.org/officeDocument/2006/relationships" id="300" r:id="Rcfe41a3d3b914d3e"/>
    <p:sldId xmlns:r="http://schemas.openxmlformats.org/officeDocument/2006/relationships" id="301" r:id="R1e493d86847f406b"/>
    <p:sldId xmlns:r="http://schemas.openxmlformats.org/officeDocument/2006/relationships" id="302" r:id="R9e482c3d987b4ed4"/>
    <p:sldId xmlns:r="http://schemas.openxmlformats.org/officeDocument/2006/relationships" id="303" r:id="R321bb4e1c0564af3"/>
    <p:sldId xmlns:r="http://schemas.openxmlformats.org/officeDocument/2006/relationships" id="304" r:id="Rb7c1765590d64f91"/>
    <p:sldId xmlns:r="http://schemas.openxmlformats.org/officeDocument/2006/relationships" id="305" r:id="Rf7605ef93393424c"/>
    <p:sldId xmlns:r="http://schemas.openxmlformats.org/officeDocument/2006/relationships" id="306" r:id="R457d52069b9143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f781ef15f44395" /><Relationship Type="http://schemas.openxmlformats.org/officeDocument/2006/relationships/slideMaster" Target="/ppt/slideMasters/slideMaster1.xml" Id="R0b079c9084bb4cd9" /><Relationship Type="http://schemas.openxmlformats.org/officeDocument/2006/relationships/notesMaster" Target="/ppt/notesMasters/notesMaster1.xml" Id="R8b2270afddf64ea1" /><Relationship Type="http://schemas.openxmlformats.org/officeDocument/2006/relationships/presProps" Target="/ppt/presProps.xml" Id="Rab24ca6895bf4d94" /><Relationship Type="http://schemas.openxmlformats.org/officeDocument/2006/relationships/tableStyles" Target="/ppt/tableStyles.xml" Id="R1390af9a999c4f17" /><Relationship Type="http://schemas.openxmlformats.org/officeDocument/2006/relationships/slide" Target="/ppt/slides/slide1.xml" Id="R8cd43437541c4943" /><Relationship Type="http://schemas.openxmlformats.org/officeDocument/2006/relationships/slide" Target="/ppt/slides/slide2.xml" Id="Rb2786ad18aa64a08" /><Relationship Type="http://schemas.openxmlformats.org/officeDocument/2006/relationships/slide" Target="/ppt/slides/slide3.xml" Id="Rdd0aa2d5eec7414c" /><Relationship Type="http://schemas.openxmlformats.org/officeDocument/2006/relationships/slide" Target="/ppt/slides/slide4.xml" Id="R78c5fca131514358" /><Relationship Type="http://schemas.openxmlformats.org/officeDocument/2006/relationships/slide" Target="/ppt/slides/slide5.xml" Id="R1db596dec0c846ec" /><Relationship Type="http://schemas.openxmlformats.org/officeDocument/2006/relationships/slide" Target="/ppt/slides/slide6.xml" Id="R7460fa2e2d3f4a76" /><Relationship Type="http://schemas.openxmlformats.org/officeDocument/2006/relationships/slide" Target="/ppt/slides/slide7.xml" Id="R146ea640ca0049a1" /><Relationship Type="http://schemas.openxmlformats.org/officeDocument/2006/relationships/slide" Target="/ppt/slides/slide8.xml" Id="R6eb0ddc7220f4c98" /><Relationship Type="http://schemas.openxmlformats.org/officeDocument/2006/relationships/slide" Target="/ppt/slides/slide9.xml" Id="Rd4ba2c3cc9f54419" /><Relationship Type="http://schemas.openxmlformats.org/officeDocument/2006/relationships/slide" Target="/ppt/slides/slide10.xml" Id="R63f28a86155f4792" /><Relationship Type="http://schemas.openxmlformats.org/officeDocument/2006/relationships/slide" Target="/ppt/slides/slide11.xml" Id="R8be3305c8cc24ef9" /><Relationship Type="http://schemas.openxmlformats.org/officeDocument/2006/relationships/slide" Target="/ppt/slides/slide12.xml" Id="Rbcba5e82d6704522" /><Relationship Type="http://schemas.openxmlformats.org/officeDocument/2006/relationships/slide" Target="/ppt/slides/slide13.xml" Id="R6a80f86377934c80" /><Relationship Type="http://schemas.openxmlformats.org/officeDocument/2006/relationships/slide" Target="/ppt/slides/slide14.xml" Id="R1485b575fcef47c1" /><Relationship Type="http://schemas.openxmlformats.org/officeDocument/2006/relationships/slide" Target="/ppt/slides/slide15.xml" Id="R28c6dac6c8e643ae" /><Relationship Type="http://schemas.openxmlformats.org/officeDocument/2006/relationships/slide" Target="/ppt/slides/slide16.xml" Id="R5f6493156801455d" /><Relationship Type="http://schemas.openxmlformats.org/officeDocument/2006/relationships/slide" Target="/ppt/slides/slide17.xml" Id="R7cf68df2172f4544" /><Relationship Type="http://schemas.openxmlformats.org/officeDocument/2006/relationships/slide" Target="/ppt/slides/slide18.xml" Id="Re74c3fa31f9f44e9" /><Relationship Type="http://schemas.openxmlformats.org/officeDocument/2006/relationships/slide" Target="/ppt/slides/slide19.xml" Id="R84f40a4e733b493e" /><Relationship Type="http://schemas.openxmlformats.org/officeDocument/2006/relationships/slide" Target="/ppt/slides/slide20.xml" Id="Rf9ff6fd2440b4d21" /><Relationship Type="http://schemas.openxmlformats.org/officeDocument/2006/relationships/slide" Target="/ppt/slides/slide21.xml" Id="Rc3b5ce4805a94f3b" /><Relationship Type="http://schemas.openxmlformats.org/officeDocument/2006/relationships/slide" Target="/ppt/slides/slide22.xml" Id="Rcb2adb93ea5549f7" /><Relationship Type="http://schemas.openxmlformats.org/officeDocument/2006/relationships/slide" Target="/ppt/slides/slide23.xml" Id="Rf5936feecea74972" /><Relationship Type="http://schemas.openxmlformats.org/officeDocument/2006/relationships/slide" Target="/ppt/slides/slide24.xml" Id="Rcf660caa2deb426c" /><Relationship Type="http://schemas.openxmlformats.org/officeDocument/2006/relationships/slide" Target="/ppt/slides/slide25.xml" Id="R418630b45d804d1a" /><Relationship Type="http://schemas.openxmlformats.org/officeDocument/2006/relationships/slide" Target="/ppt/slides/slide26.xml" Id="Re98ad038ef964a65" /><Relationship Type="http://schemas.openxmlformats.org/officeDocument/2006/relationships/slide" Target="/ppt/slides/slide27.xml" Id="Ref2db98d12d74856" /><Relationship Type="http://schemas.openxmlformats.org/officeDocument/2006/relationships/slide" Target="/ppt/slides/slide28.xml" Id="R31f4109da5d04464" /><Relationship Type="http://schemas.openxmlformats.org/officeDocument/2006/relationships/slide" Target="/ppt/slides/slide29.xml" Id="R503017e97ccb4822" /><Relationship Type="http://schemas.openxmlformats.org/officeDocument/2006/relationships/slide" Target="/ppt/slides/slide30.xml" Id="R82ae9348a3d04923" /><Relationship Type="http://schemas.openxmlformats.org/officeDocument/2006/relationships/slide" Target="/ppt/slides/slide31.xml" Id="R1f09593afcd24502" /><Relationship Type="http://schemas.openxmlformats.org/officeDocument/2006/relationships/slide" Target="/ppt/slides/slide32.xml" Id="R452dab4b652245ed" /><Relationship Type="http://schemas.openxmlformats.org/officeDocument/2006/relationships/slide" Target="/ppt/slides/slide33.xml" Id="Ra2de5dab783f4397" /><Relationship Type="http://schemas.openxmlformats.org/officeDocument/2006/relationships/slide" Target="/ppt/slides/slide34.xml" Id="R20c140273def4454" /><Relationship Type="http://schemas.openxmlformats.org/officeDocument/2006/relationships/slide" Target="/ppt/slides/slide35.xml" Id="R46687d8b7b9d4e11" /><Relationship Type="http://schemas.openxmlformats.org/officeDocument/2006/relationships/slide" Target="/ppt/slides/slide36.xml" Id="R56c917def16e4153" /><Relationship Type="http://schemas.openxmlformats.org/officeDocument/2006/relationships/slide" Target="/ppt/slides/slide37.xml" Id="R38fb2ee1c0614808" /><Relationship Type="http://schemas.openxmlformats.org/officeDocument/2006/relationships/slide" Target="/ppt/slides/slide38.xml" Id="R9f9bf7a9d5a54f5d" /><Relationship Type="http://schemas.openxmlformats.org/officeDocument/2006/relationships/slide" Target="/ppt/slides/slide39.xml" Id="R2699c81653664d76" /><Relationship Type="http://schemas.openxmlformats.org/officeDocument/2006/relationships/slide" Target="/ppt/slides/slide40.xml" Id="R34415ddff6284ee9" /><Relationship Type="http://schemas.openxmlformats.org/officeDocument/2006/relationships/slide" Target="/ppt/slides/slide41.xml" Id="Ra1f995f55d6c4219" /><Relationship Type="http://schemas.openxmlformats.org/officeDocument/2006/relationships/slide" Target="/ppt/slides/slide42.xml" Id="Rb890c70429ad4240" /><Relationship Type="http://schemas.openxmlformats.org/officeDocument/2006/relationships/slide" Target="/ppt/slides/slide43.xml" Id="R1185e17f711045d3" /><Relationship Type="http://schemas.openxmlformats.org/officeDocument/2006/relationships/slide" Target="/ppt/slides/slide44.xml" Id="R456654941711409d" /><Relationship Type="http://schemas.openxmlformats.org/officeDocument/2006/relationships/slide" Target="/ppt/slides/slide45.xml" Id="Rcfe41a3d3b914d3e" /><Relationship Type="http://schemas.openxmlformats.org/officeDocument/2006/relationships/slide" Target="/ppt/slides/slide46.xml" Id="R1e493d86847f406b" /><Relationship Type="http://schemas.openxmlformats.org/officeDocument/2006/relationships/slide" Target="/ppt/slides/slide47.xml" Id="R9e482c3d987b4ed4" /><Relationship Type="http://schemas.openxmlformats.org/officeDocument/2006/relationships/slide" Target="/ppt/slides/slide48.xml" Id="R321bb4e1c0564af3" /><Relationship Type="http://schemas.openxmlformats.org/officeDocument/2006/relationships/slide" Target="/ppt/slides/slide49.xml" Id="Rb7c1765590d64f91" /><Relationship Type="http://schemas.openxmlformats.org/officeDocument/2006/relationships/slide" Target="/ppt/slides/slide50.xml" Id="Rf7605ef93393424c" /><Relationship Type="http://schemas.openxmlformats.org/officeDocument/2006/relationships/slide" Target="/ppt/slides/slide51.xml" Id="R457d52069b9143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6f4fc3a9724b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ed825274eb4c02" /><Relationship Type="http://schemas.openxmlformats.org/officeDocument/2006/relationships/notesMaster" Target="/ppt/notesMasters/notesMaster1.xml" Id="R3fd609ab8e074f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e5332c886d499d" /><Relationship Type="http://schemas.openxmlformats.org/officeDocument/2006/relationships/notesMaster" Target="/ppt/notesMasters/notesMaster1.xml" Id="R7f9539a3157549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0f20401a4644c3" /><Relationship Type="http://schemas.openxmlformats.org/officeDocument/2006/relationships/notesMaster" Target="/ppt/notesMasters/notesMaster1.xml" Id="R5d74dd386b544e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37c85cec014324" /><Relationship Type="http://schemas.openxmlformats.org/officeDocument/2006/relationships/notesMaster" Target="/ppt/notesMasters/notesMaster1.xml" Id="Rfd5eaaa47bb941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e6763c9eea4aca" /><Relationship Type="http://schemas.openxmlformats.org/officeDocument/2006/relationships/notesMaster" Target="/ppt/notesMasters/notesMaster1.xml" Id="R2688a108beb643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51957a5f2b4433" /><Relationship Type="http://schemas.openxmlformats.org/officeDocument/2006/relationships/notesMaster" Target="/ppt/notesMasters/notesMaster1.xml" Id="R95496d77593340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0aae4df5aa41d3" /><Relationship Type="http://schemas.openxmlformats.org/officeDocument/2006/relationships/notesMaster" Target="/ppt/notesMasters/notesMaster1.xml" Id="R0954bed3bc8143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5ea289c5d644fe" /><Relationship Type="http://schemas.openxmlformats.org/officeDocument/2006/relationships/notesMaster" Target="/ppt/notesMasters/notesMaster1.xml" Id="Rd4b2354bc6c140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18bc4e79344909" /><Relationship Type="http://schemas.openxmlformats.org/officeDocument/2006/relationships/notesMaster" Target="/ppt/notesMasters/notesMaster1.xml" Id="R66e4a3b27ae041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89ef42a71b4d3c" /><Relationship Type="http://schemas.openxmlformats.org/officeDocument/2006/relationships/notesMaster" Target="/ppt/notesMasters/notesMaster1.xml" Id="Rd36afb29884f48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540ced4157410a" /><Relationship Type="http://schemas.openxmlformats.org/officeDocument/2006/relationships/notesMaster" Target="/ppt/notesMasters/notesMaster1.xml" Id="R42449bf769ca42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5f0770d0554742" /><Relationship Type="http://schemas.openxmlformats.org/officeDocument/2006/relationships/notesMaster" Target="/ppt/notesMasters/notesMaster1.xml" Id="Rd73740ebbca648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5833370ff7048c1" /><Relationship Type="http://schemas.openxmlformats.org/officeDocument/2006/relationships/notesMaster" Target="/ppt/notesMasters/notesMaster1.xml" Id="Rb7dad0c8ea1d4e2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fd6a3a410c4f6b" /><Relationship Type="http://schemas.openxmlformats.org/officeDocument/2006/relationships/notesMaster" Target="/ppt/notesMasters/notesMaster1.xml" Id="R2563cfd99dbb4c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5799c8fb915480a" /><Relationship Type="http://schemas.openxmlformats.org/officeDocument/2006/relationships/notesMaster" Target="/ppt/notesMasters/notesMaster1.xml" Id="R6bd14c8fa43442e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4bc5ea9a5454941" /><Relationship Type="http://schemas.openxmlformats.org/officeDocument/2006/relationships/notesMaster" Target="/ppt/notesMasters/notesMaster1.xml" Id="R06471366d77e49f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3e0ae02c47d4406" /><Relationship Type="http://schemas.openxmlformats.org/officeDocument/2006/relationships/notesMaster" Target="/ppt/notesMasters/notesMaster1.xml" Id="Ra4854c8f8f3f4b7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176f18b24534279" /><Relationship Type="http://schemas.openxmlformats.org/officeDocument/2006/relationships/notesMaster" Target="/ppt/notesMasters/notesMaster1.xml" Id="Rfe1ec23d6269454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dad218d88094ccd" /><Relationship Type="http://schemas.openxmlformats.org/officeDocument/2006/relationships/notesMaster" Target="/ppt/notesMasters/notesMaster1.xml" Id="R722ea4684c864d7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9a9bd134e804fa4" /><Relationship Type="http://schemas.openxmlformats.org/officeDocument/2006/relationships/notesMaster" Target="/ppt/notesMasters/notesMaster1.xml" Id="R5d7b07d54f5343c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5bf4492865845ae" /><Relationship Type="http://schemas.openxmlformats.org/officeDocument/2006/relationships/notesMaster" Target="/ppt/notesMasters/notesMaster1.xml" Id="R1c09d14dbc3a467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e2cde3a68a04ef9" /><Relationship Type="http://schemas.openxmlformats.org/officeDocument/2006/relationships/notesMaster" Target="/ppt/notesMasters/notesMaster1.xml" Id="R891a32b327fa4af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491365160d048ed" /><Relationship Type="http://schemas.openxmlformats.org/officeDocument/2006/relationships/notesMaster" Target="/ppt/notesMasters/notesMaster1.xml" Id="R6eab89486e82414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b8b3e8658e54133" /><Relationship Type="http://schemas.openxmlformats.org/officeDocument/2006/relationships/notesMaster" Target="/ppt/notesMasters/notesMaster1.xml" Id="R3542dbaa972a4da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35b31e1531d4fbd" /><Relationship Type="http://schemas.openxmlformats.org/officeDocument/2006/relationships/notesMaster" Target="/ppt/notesMasters/notesMaster1.xml" Id="R2963171b77cf42c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fdc5524ac11423d" /><Relationship Type="http://schemas.openxmlformats.org/officeDocument/2006/relationships/notesMaster" Target="/ppt/notesMasters/notesMaster1.xml" Id="R1ad514d5c208428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786ccc67f164b95" /><Relationship Type="http://schemas.openxmlformats.org/officeDocument/2006/relationships/notesMaster" Target="/ppt/notesMasters/notesMaster1.xml" Id="R581163d91e404e7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fd56a5e2fcf4634" /><Relationship Type="http://schemas.openxmlformats.org/officeDocument/2006/relationships/notesMaster" Target="/ppt/notesMasters/notesMaster1.xml" Id="Ra2447d0f1a66446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600b43b7e9a4551" /><Relationship Type="http://schemas.openxmlformats.org/officeDocument/2006/relationships/notesMaster" Target="/ppt/notesMasters/notesMaster1.xml" Id="Rd2fcb7dde622446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2e60e24910c43dc" /><Relationship Type="http://schemas.openxmlformats.org/officeDocument/2006/relationships/notesMaster" Target="/ppt/notesMasters/notesMaster1.xml" Id="R5f5b4a961a73432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9d658310c184090" /><Relationship Type="http://schemas.openxmlformats.org/officeDocument/2006/relationships/notesMaster" Target="/ppt/notesMasters/notesMaster1.xml" Id="R7464189ff384401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8c3a3cd07754877" /><Relationship Type="http://schemas.openxmlformats.org/officeDocument/2006/relationships/notesMaster" Target="/ppt/notesMasters/notesMaster1.xml" Id="R5c8732debd7b4cf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6989b38b7e94b5a" /><Relationship Type="http://schemas.openxmlformats.org/officeDocument/2006/relationships/notesMaster" Target="/ppt/notesMasters/notesMaster1.xml" Id="R4bfd8aa2ce0d450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1485daef0574f91" /><Relationship Type="http://schemas.openxmlformats.org/officeDocument/2006/relationships/notesMaster" Target="/ppt/notesMasters/notesMaster1.xml" Id="Re7eb8390320e4e4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360e88f1442470c" /><Relationship Type="http://schemas.openxmlformats.org/officeDocument/2006/relationships/notesMaster" Target="/ppt/notesMasters/notesMaster1.xml" Id="Rb3c040c3e0dc43b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0305d5a6787487b" /><Relationship Type="http://schemas.openxmlformats.org/officeDocument/2006/relationships/notesMaster" Target="/ppt/notesMasters/notesMaster1.xml" Id="Ref833402b6804eb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dc2255e06cc4fd5" /><Relationship Type="http://schemas.openxmlformats.org/officeDocument/2006/relationships/notesMaster" Target="/ppt/notesMasters/notesMaster1.xml" Id="R8f279618b7b5445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8302cbfc57f4a9f" /><Relationship Type="http://schemas.openxmlformats.org/officeDocument/2006/relationships/notesMaster" Target="/ppt/notesMasters/notesMaster1.xml" Id="R961b7e0b77ab484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ceb968beaf14f75" /><Relationship Type="http://schemas.openxmlformats.org/officeDocument/2006/relationships/notesMaster" Target="/ppt/notesMasters/notesMaster1.xml" Id="R4a8e84d8ed98452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bd6b5149bc74ced" /><Relationship Type="http://schemas.openxmlformats.org/officeDocument/2006/relationships/notesMaster" Target="/ppt/notesMasters/notesMaster1.xml" Id="Rab2f3a5139d84f5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6f132e90bda434f" /><Relationship Type="http://schemas.openxmlformats.org/officeDocument/2006/relationships/notesMaster" Target="/ppt/notesMasters/notesMaster1.xml" Id="R0993efebad9d4e3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a1606c131e040b6" /><Relationship Type="http://schemas.openxmlformats.org/officeDocument/2006/relationships/notesMaster" Target="/ppt/notesMasters/notesMaster1.xml" Id="R7977310e74d5413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bd8651def6a4688" /><Relationship Type="http://schemas.openxmlformats.org/officeDocument/2006/relationships/notesMaster" Target="/ppt/notesMasters/notesMaster1.xml" Id="R4a76387b105647c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d5c8149d4ea4e0a" /><Relationship Type="http://schemas.openxmlformats.org/officeDocument/2006/relationships/notesMaster" Target="/ppt/notesMasters/notesMaster1.xml" Id="R97acd868aab4484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2210ebcbc6546ab" /><Relationship Type="http://schemas.openxmlformats.org/officeDocument/2006/relationships/notesMaster" Target="/ppt/notesMasters/notesMaster1.xml" Id="R12b00cc791c3438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37f76e2787f14b3f" /><Relationship Type="http://schemas.openxmlformats.org/officeDocument/2006/relationships/notesMaster" Target="/ppt/notesMasters/notesMaster1.xml" Id="Rd8a2cba6fafb4e72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b9cc7cfae4e24650" /><Relationship Type="http://schemas.openxmlformats.org/officeDocument/2006/relationships/notesMaster" Target="/ppt/notesMasters/notesMaster1.xml" Id="Rb934a1057b81477d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a180911c5b7345c0" /><Relationship Type="http://schemas.openxmlformats.org/officeDocument/2006/relationships/notesMaster" Target="/ppt/notesMasters/notesMaster1.xml" Id="Rfca2f880e9234df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f865d2b373964e8c" /><Relationship Type="http://schemas.openxmlformats.org/officeDocument/2006/relationships/notesMaster" Target="/ppt/notesMasters/notesMaster1.xml" Id="Rbd426291e7864c31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c1b116c21cd84494" /><Relationship Type="http://schemas.openxmlformats.org/officeDocument/2006/relationships/notesMaster" Target="/ppt/notesMasters/notesMaster1.xml" Id="Rd655bf1938dc462c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32edf783f9d042f3" /><Relationship Type="http://schemas.openxmlformats.org/officeDocument/2006/relationships/notesMaster" Target="/ppt/notesMasters/notesMaster1.xml" Id="Rcf8c9e7baf3e47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a pergunta central: quando uma decisão probabilística tipada ajuda uma interface robótica?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sintético. Separar conversa da decisão de roteamento.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Noul não deve substituir verificação de idade real. Exemplo conceitual de interpretação de texto; resposta numérica não é chamada real. Fonte: https://docs.typesafe.ai/primitives/noul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System One é categoria e nome de produto da TypeSafe, inspirada em Kahneman. Fonte: https://typesafe.ai/blog/introducing-system-one-models-and-jev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https://docs.typesafe.ai/primitives/choice https://docs.typesafe.ai/primitives/noul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afirmar zero tokens nem chamada gratuita. Fonte: TypeSafe pricing e results do repo.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Multiplicadores promocionais não são medidas do Maestro.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 com JSON mode também pode emitir estrutura; teste desempenho, custo e formato na mesma tarefa.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Print da documentação oficial de Choice, capturado em 26 set. 2026. Fonte: https://docs.typesafe.ai/primitives/choice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Executar no site ao vivo; não pré-fixar a resposta.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Reserva para demo autenticada. Fallback: request/response publicados no quick start. https://docs.typesafe.ai/introduction/quickstart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Pseudocódigo baseado no quick start; a sintaxe precisa ser ajustada ao SDK/API em uso. Fonte: https://docs.typesafe.ai/introduction/quickstart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Esquema didático: entrada → sinal → ajuste → saída → limite.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Esquema didático: entrada → sinal → ajuste → saída → limite.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Esquema didático: entrada → sinal → ajuste → saída → limite.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Descrição pública da TypeSafe, sem inventar reward ou algoritmo. https://docs.typesafe.ai/introduction/machine-learning-primer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didático: não são 100 casos do Maestro. Calibração se verifica em grupos; uma previsão individual ainda pode errar.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ECE, apresentar bins com tamanho n; amostra pequena limita inferência.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RLCD é descrição pública do fornecedor, não prova de superioridade. https://docs.typesafe.ai/introduction/machine-learning-primer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https://x.com/heystefan_/status/2101369117496521042.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https://x.com/dani_avila7/status/2101885477158547753.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https://jevtypesafeai.com/tools/pr-judge.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https://threadnavigator.com/thread/2100372930282573876/.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https://x.com/jpschroeder/status/2100347770867458384.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https://typesafe.ai/blog/introducing-system-one-models-and-jev https://github.com/NandhaKishorM/laya https://github.com/mizorewww/laya-mlx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Números vêm de ambientes diferentes e não são benchmark pareado. Fonte: https://github.com/NandhaKishorM/laya https://github.com/mizorewww/laya-mlx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Síntese inferida das fontes primárias: TypeSafe, Laya, Julia-1, CLM e Span-01. Lançamentos próximos não provam que treinaram modelos completos após Jev.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oficiais: https://supersoniclabs.ia.br/ e https://supersoniclabs.ia.br/julia-1/ e https://huggingface.co/SupersonicLabs/Julia-1 . São números publicados pela própria equipe. Referência Jev reaproveitada, não nova rodada pareada. pt-BR e intenção do Maestro não foram avaliados.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Autores incluem Stanford e NVIDIA, conforme README/paper. Até 9× é alegação dos autores em tarefas selecionadas. O post no X diz até 13×; usar o README atualizado como fonte principal. https://github.com/Contrastive-LM/CLM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crítica do tweet usa multiplicação como provocação; a comparação verificável é detecção de comportamento, não aritmética geral. Fonte: https://www.respan.ai/blog/introducing-span-1 e https://www.respan.ai/docs/documentation/span-01/concept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Documento original: https://docs.google.com/document/d/1G61uUB0FifUnmmrPzFQojZ3KpczYKmXGpgEXDJ2l_Zg/edit . O Google Doc exporta como PDF de 12 páginas. Diogo compartilhou o Google Doc em https://x.com/CompleteSkeptic/status/2101894250401271876 . O post de N01ennn fala em PDF de 11 páginas; a autoria da síntese não foi verificada. A imagem é do documento público, não do PDF do post.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documento traz uma conta ilustrativa sobre roteamento e reprocessamento do contexto. Não usar a conta como benchmark medido. KV cache armazena representações de prefixos já processados; trocar de modelo não compartilha automaticamente esse cache. Fonte: Google Doc público, seção Thing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documento propõe Noul por bloco e, futuramente, Score para níveis de detalhe. Também propõe instruções condicionais e descoberta progressiva de ferramentas. São ideias, não sistema entregue. Fonte: Google Doc público, seções Meta-attention, First-principled version of Skills/MCP/Tool calling, Conditional system messages.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Síntese baseada nas seções Permissions/Approval, MCP/Tool calling, Meta-attention e Routing + Sub-agents do Google Doc público. Jev não recebe autoridade irrestrita; o harness deve validar decisões e efeitos. O post de N01ennn é um resumo secundário: https://x.com/N01ennn/status/2103818303642689696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Tabela de adequação, não ranking universal. Fontes oficiais: TypeSafe, Laya GitHub, Supersonic Labs, CLM GitHub, Respan docs.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Adaptado do pitch docs/pitch/storyboard.md. Não apresentar mock como hardware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Adaptado do pitch.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Pipeline resumido; DAT/MockDeviceKit, Android, TargetResolver, WebSocket e ROS.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docs/privacy-data-flow.md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classificador local não é detector geral de CPF. Fonte: RemoteTranscriptGate.kt, tools/jev_local_proxy.py e docs/tasks/jev-remote-privacy-gate.md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JevIntentClassifier.kt, MainActivity.kt, docs/tasks/mission-preview-contract.md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Estrutura real, com textos dos seis critérios abreviados para caber. Fonte: tools/jev_local_proxy.py request_payload e JevProxyChoiceEvaluator.kt. A transcrição é de exemplo; nenhum dado pessoal.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Resposta sanitizada real da fixture results/jev-final-recovery-fixture.json, caso recovery-045. confidence 0.70 é diferente de probabilities[choice] 0.75. O formato mostrado omite latência e custo da fixture.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Trecho editado para projeção, fiel à lógica de JevIntentClassifier.kt. O guard de CANCEL explícito está desligado por padrão.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docs/study-groups/jev-rl-2026-10-01/results/jev-final-recovery-presentation.md. ECE não prova calibração geral.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docs/tasks/jev-experimental-decision.md. Não atribuir o erro à rota de missão composta.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Área para gravação ou demo ao vivo. Identificar claramente simulação e mock.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vídeo offline ou três capturas do diretório results/offline-demo. Legenda obrigatória: fixture mock local — não executa o robô.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Decisão operacional atual: 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debate.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Encerrar e abrir perguntas.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14c0c0f84f4c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3dfcb175b04b87" /><Relationship Type="http://schemas.openxmlformats.org/officeDocument/2006/relationships/slideLayout" Target="/ppt/slideLayouts/slideLayout1.xml" Id="Rd6abd182ecca40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abd182ecca40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25ec209e144c4" /><Relationship Type="http://schemas.openxmlformats.org/officeDocument/2006/relationships/notesSlide" Target="/ppt/notesSlides/notesSlide1.xml" Id="Rf7e8a6d8d91040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4f066f2624009" /><Relationship Type="http://schemas.openxmlformats.org/officeDocument/2006/relationships/notesSlide" Target="/ppt/notesSlides/notesSlide2.xml" Id="Rc95b7b76f3ad46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341ef326d493c" /><Relationship Type="http://schemas.openxmlformats.org/officeDocument/2006/relationships/notesSlide" Target="/ppt/notesSlides/notesSlide3.xml" Id="Re5f01aeb412547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94468dd79462a" /><Relationship Type="http://schemas.openxmlformats.org/officeDocument/2006/relationships/notesSlide" Target="/ppt/notesSlides/notesSlide4.xml" Id="R485d574967274c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2f7f3b9734353" /><Relationship Type="http://schemas.openxmlformats.org/officeDocument/2006/relationships/notesSlide" Target="/ppt/notesSlides/notesSlide5.xml" Id="R5dc72b5416804d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3a762414b403e" /><Relationship Type="http://schemas.openxmlformats.org/officeDocument/2006/relationships/notesSlide" Target="/ppt/notesSlides/notesSlide6.xml" Id="R963781a5de334e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0c9e630e84238" /><Relationship Type="http://schemas.openxmlformats.org/officeDocument/2006/relationships/notesSlide" Target="/ppt/notesSlides/notesSlide7.xml" Id="Rbddb1ab5927d41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90d063107428f" /><Relationship Type="http://schemas.openxmlformats.org/officeDocument/2006/relationships/notesSlide" Target="/ppt/notesSlides/notesSlide8.xml" Id="R25b910e14fdc4f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e64c11cc345d6" /><Relationship Type="http://schemas.openxmlformats.org/officeDocument/2006/relationships/image" Target="/ppt/media/image.png" Id="R491bbb00f4f8489f" /><Relationship Type="http://schemas.openxmlformats.org/officeDocument/2006/relationships/notesSlide" Target="/ppt/notesSlides/notesSlide9.xml" Id="R0f546e0a48d24c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65fffcda44539" /><Relationship Type="http://schemas.openxmlformats.org/officeDocument/2006/relationships/notesSlide" Target="/ppt/notesSlides/notesSlide10.xml" Id="Rf27277adad494f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2d6d84e024076" /><Relationship Type="http://schemas.openxmlformats.org/officeDocument/2006/relationships/notesSlide" Target="/ppt/notesSlides/notesSlide11.xml" Id="Rcac8d20c641449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acbce5abf4dad" /><Relationship Type="http://schemas.openxmlformats.org/officeDocument/2006/relationships/notesSlide" Target="/ppt/notesSlides/notesSlide12.xml" Id="Rf2a74b145f3d4a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5cb6b5cff4189" /><Relationship Type="http://schemas.openxmlformats.org/officeDocument/2006/relationships/notesSlide" Target="/ppt/notesSlides/notesSlide13.xml" Id="R31db6ba54d2b4e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555163c6849cb" /><Relationship Type="http://schemas.openxmlformats.org/officeDocument/2006/relationships/notesSlide" Target="/ppt/notesSlides/notesSlide14.xml" Id="Rd45353de2c354c2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06e9f86fa46ca" /><Relationship Type="http://schemas.openxmlformats.org/officeDocument/2006/relationships/notesSlide" Target="/ppt/notesSlides/notesSlide15.xml" Id="R2586591fd54f4ce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1ef01c8714715" /><Relationship Type="http://schemas.openxmlformats.org/officeDocument/2006/relationships/notesSlide" Target="/ppt/notesSlides/notesSlide16.xml" Id="R643e49dedeab4fb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f993353aa48bd" /><Relationship Type="http://schemas.openxmlformats.org/officeDocument/2006/relationships/notesSlide" Target="/ppt/notesSlides/notesSlide17.xml" Id="R539b40beefd8461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28d67db8e46ee" /><Relationship Type="http://schemas.openxmlformats.org/officeDocument/2006/relationships/notesSlide" Target="/ppt/notesSlides/notesSlide18.xml" Id="Rb51c2b8d4121419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e650f25e7486d" /><Relationship Type="http://schemas.openxmlformats.org/officeDocument/2006/relationships/notesSlide" Target="/ppt/notesSlides/notesSlide19.xml" Id="Rf3c656f03c1a44d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bce7900b44778" /><Relationship Type="http://schemas.openxmlformats.org/officeDocument/2006/relationships/notesSlide" Target="/ppt/notesSlides/notesSlide20.xml" Id="R753bab0c929a4c2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1b490c6cf41de" /><Relationship Type="http://schemas.openxmlformats.org/officeDocument/2006/relationships/notesSlide" Target="/ppt/notesSlides/notesSlide21.xml" Id="R35eff35bd1834fd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8ceb5f8744db3" /><Relationship Type="http://schemas.openxmlformats.org/officeDocument/2006/relationships/notesSlide" Target="/ppt/notesSlides/notesSlide22.xml" Id="R55c8924a597a425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7715323c949f7" /><Relationship Type="http://schemas.openxmlformats.org/officeDocument/2006/relationships/notesSlide" Target="/ppt/notesSlides/notesSlide23.xml" Id="R98f29624be0a49d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193630e7e40d2" /><Relationship Type="http://schemas.openxmlformats.org/officeDocument/2006/relationships/notesSlide" Target="/ppt/notesSlides/notesSlide24.xml" Id="R6d88cef0067e452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9314f3d0c40e8" /><Relationship Type="http://schemas.openxmlformats.org/officeDocument/2006/relationships/notesSlide" Target="/ppt/notesSlides/notesSlide25.xml" Id="Ra8d5b659df4a42a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b60d5dea84987" /><Relationship Type="http://schemas.openxmlformats.org/officeDocument/2006/relationships/notesSlide" Target="/ppt/notesSlides/notesSlide26.xml" Id="Ra7e9e5bfb806461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131f1855b45cb" /><Relationship Type="http://schemas.openxmlformats.org/officeDocument/2006/relationships/notesSlide" Target="/ppt/notesSlides/notesSlide27.xml" Id="Radd4bcc02280470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f0cdb8a674eb7" /><Relationship Type="http://schemas.openxmlformats.org/officeDocument/2006/relationships/notesSlide" Target="/ppt/notesSlides/notesSlide28.xml" Id="R69bacac3a8a14d7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ac066817d4cf7" /><Relationship Type="http://schemas.openxmlformats.org/officeDocument/2006/relationships/notesSlide" Target="/ppt/notesSlides/notesSlide29.xml" Id="Rc9ee0fa34c1e4b7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91a523aa34c03" /><Relationship Type="http://schemas.openxmlformats.org/officeDocument/2006/relationships/notesSlide" Target="/ppt/notesSlides/notesSlide30.xml" Id="R1cd937510ce7458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7d001cbc04364" /><Relationship Type="http://schemas.openxmlformats.org/officeDocument/2006/relationships/image" Target="/ppt/media/image2.png" Id="R6e9020ec390c46b1" /><Relationship Type="http://schemas.openxmlformats.org/officeDocument/2006/relationships/notesSlide" Target="/ppt/notesSlides/notesSlide31.xml" Id="Rbdc8249f85014ee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c3f61467545fc" /><Relationship Type="http://schemas.openxmlformats.org/officeDocument/2006/relationships/notesSlide" Target="/ppt/notesSlides/notesSlide32.xml" Id="Ra2b844fee85848e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c42e8aa2d4dfb" /><Relationship Type="http://schemas.openxmlformats.org/officeDocument/2006/relationships/notesSlide" Target="/ppt/notesSlides/notesSlide33.xml" Id="R0638cbb0eb49420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d9504daa04f80" /><Relationship Type="http://schemas.openxmlformats.org/officeDocument/2006/relationships/notesSlide" Target="/ppt/notesSlides/notesSlide34.xml" Id="R6a57ed42206348f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21afd874843d6" /><Relationship Type="http://schemas.openxmlformats.org/officeDocument/2006/relationships/notesSlide" Target="/ppt/notesSlides/notesSlide35.xml" Id="R6f04abebd4ec479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587b3b5c84d61" /><Relationship Type="http://schemas.openxmlformats.org/officeDocument/2006/relationships/notesSlide" Target="/ppt/notesSlides/notesSlide36.xml" Id="Rd2fe0592e3b24ce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9b0798c7e4ec6" /><Relationship Type="http://schemas.openxmlformats.org/officeDocument/2006/relationships/notesSlide" Target="/ppt/notesSlides/notesSlide37.xml" Id="Rd77a0b73cdcb41c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472f699dd4f52" /><Relationship Type="http://schemas.openxmlformats.org/officeDocument/2006/relationships/notesSlide" Target="/ppt/notesSlides/notesSlide38.xml" Id="R709b2d98f12d4af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a7b6335974d82" /><Relationship Type="http://schemas.openxmlformats.org/officeDocument/2006/relationships/notesSlide" Target="/ppt/notesSlides/notesSlide39.xml" Id="Rd066a4eb784a42d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dd9a8fed7459e" /><Relationship Type="http://schemas.openxmlformats.org/officeDocument/2006/relationships/notesSlide" Target="/ppt/notesSlides/notesSlide40.xml" Id="R620654eef3214cd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660535fb54b0d" /><Relationship Type="http://schemas.openxmlformats.org/officeDocument/2006/relationships/notesSlide" Target="/ppt/notesSlides/notesSlide41.xml" Id="R477b3f03e050480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766f58f8542fe" /><Relationship Type="http://schemas.openxmlformats.org/officeDocument/2006/relationships/notesSlide" Target="/ppt/notesSlides/notesSlide42.xml" Id="R7a0dca76e41e454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b256b29704ec8" /><Relationship Type="http://schemas.openxmlformats.org/officeDocument/2006/relationships/notesSlide" Target="/ppt/notesSlides/notesSlide43.xml" Id="R6652acd4118c447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1ab4a3213417e" /><Relationship Type="http://schemas.openxmlformats.org/officeDocument/2006/relationships/notesSlide" Target="/ppt/notesSlides/notesSlide44.xml" Id="R43f7e0784472487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9466ea5124222" /><Relationship Type="http://schemas.openxmlformats.org/officeDocument/2006/relationships/notesSlide" Target="/ppt/notesSlides/notesSlide45.xml" Id="Rb27b350d4e74450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1b8dfc0ff4d37" /><Relationship Type="http://schemas.openxmlformats.org/officeDocument/2006/relationships/notesSlide" Target="/ppt/notesSlides/notesSlide46.xml" Id="Rec120fdbe71843c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c03230d1d492f" /><Relationship Type="http://schemas.openxmlformats.org/officeDocument/2006/relationships/notesSlide" Target="/ppt/notesSlides/notesSlide47.xml" Id="Rb336b12223aa4e8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390b60abf4ebb" /><Relationship Type="http://schemas.openxmlformats.org/officeDocument/2006/relationships/notesSlide" Target="/ppt/notesSlides/notesSlide48.xml" Id="Rcd53301a1e114fc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942fd903144a7" /><Relationship Type="http://schemas.openxmlformats.org/officeDocument/2006/relationships/notesSlide" Target="/ppt/notesSlides/notesSlide49.xml" Id="Rb5440dc9aa94447b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2920a7b194f61" /><Relationship Type="http://schemas.openxmlformats.org/officeDocument/2006/relationships/notesSlide" Target="/ppt/notesSlides/notesSlide50.xml" Id="R99fc489bf8f2489f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fbd0c7c08484d" /><Relationship Type="http://schemas.openxmlformats.org/officeDocument/2006/relationships/notesSlide" Target="/ppt/notesSlides/notesSlide51.xml" Id="R255d4d5ca75d43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7A88F-A3E6-4F5B-AE19-2A4E9E55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F7D77-D060-4381-A9BA-00BBE139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E7B8E-0313-4199-8650-16ED369E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0414A-97DE-4734-BB84-AFD98F0D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63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Jev, Reinforcement Learning e decisões calibradas em um sistema robótico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2510A-EFCF-481E-8FDB-3BDD1E7B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017CB-4553-488C-A623-68446963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F5987-4129-4DF5-9BE9-F621ED6A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3DD73-FDE9-4DDC-82B5-E6D966E1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JEV  ×  MAESTRO AGRÍCOLA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8D780-0C15-41CF-89FF-1A889F4D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Grupo de estudos de Reinforcement Learning · 1º out. 2026</a:t>
            </a:r>
          </a:p>
        </p:txBody>
      </p:sp>
    </p:spTree>
    <p:extLst>
      <p:ext uri="{BB962C8B-B14F-4D97-AF65-F5344CB8AC3E}">
        <p14:creationId xmlns:p14="http://schemas.microsoft.com/office/powerpoint/2010/main" val="5434911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C723A-EECA-4A87-A5DA-2878E9E7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48DFC-CFA4-4880-917D-7770F34B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170E6-4A89-4BA7-8CA8-E91050A6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2C03B-A0FC-4CCB-8C62-0C14A790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Um bot de WhatsApp precisa encaminhar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98483-7C65-4044-B00C-3E323516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2B0D0-D141-40AD-A109-8DCD34CD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D3149-CC37-415B-9CB1-F9F2035E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741612-320B-4A1B-A038-CF54FC8B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“Minha cobrança veio duplicada. Consegue resolver?”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2BD11-B7AA-4EB2-BB0B-3E62F4FC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O bot pode conversar como humano; em algum ponto, precisa escolher um destino concreto.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CA898-D0F2-40C0-8E0B-38AEC4FF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TÉCNICO   ·   FINANCEIRO   ·   COMERCIAL   ·   HUMANO</a:t>
            </a:r>
          </a:p>
        </p:txBody>
      </p:sp>
    </p:spTree>
    <p:extLst>
      <p:ext uri="{BB962C8B-B14F-4D97-AF65-F5344CB8AC3E}">
        <p14:creationId xmlns:p14="http://schemas.microsoft.com/office/powerpoint/2010/main" val="9445092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26502-155D-4C01-830B-EBCDF8F4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AAE10-33F2-4F0D-9FD9-49E77D61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2E059-BFE2-4AA2-916A-41F32959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21762-86DE-4045-AD0A-009AD231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Quando usar if; quando perguntar ao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B99D8-FB1E-423B-B1D4-528A971D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DCD2A-8F84-4045-89C2-208C892B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DEC11-3CBE-4E18-A411-F6D753C6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95225-5468-4994-9000-A9A911DB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24025"/>
            <a:ext cx="4953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81993-47D3-4210-9DD8-83B05A9E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44958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(idade &gt;= 18) {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resposta = "sim"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 else {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resposta = "não"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2C392-22A0-4013-B1E1-30746066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24025"/>
            <a:ext cx="5619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9CCC5-E9C7-457E-93C8-46D6B742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51625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state: "Ela disse que já é maior de idade"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question: Noul(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"A frase afirma maioridade?"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)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answer: P(sim) → política → sim/não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64512-90EE-43AF-A749-BD00FAFD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02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Idade numérica conhecida: use if. Texto ambíguo: classificação probabilística.</a:t>
            </a:r>
          </a:p>
        </p:txBody>
      </p:sp>
    </p:spTree>
    <p:extLst>
      <p:ext uri="{BB962C8B-B14F-4D97-AF65-F5344CB8AC3E}">
        <p14:creationId xmlns:p14="http://schemas.microsoft.com/office/powerpoint/2010/main" val="6957051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AFA78-D2BE-4168-B7AE-3DE52758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C1DA5-3040-4D80-BAC1-749B922E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32986-1830-428F-8D5B-91CD3991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970B8-EE69-45CC-9D8E-C548AF74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 e a ideia de System 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40B54-8CAA-4699-876B-F840CCEB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BB89F-F41D-49C0-9377-5607F6CA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269EA-FC74-4E64-8E94-934044E1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9FD83-F2A4-44A9-B68D-AAE4D5EF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A198A-B378-435E-AC2F-551FA7AC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476375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System One: nome da TypeSafe para decisões rápidas e tipadas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2FB11-A740-4406-982B-10AAF2F8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B59AB-CAF0-421F-B871-57180EE1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81250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Inspirado no Sistema 1 de Kahneman; não é uma teoria do cérebro implementada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6FDBA-95D6-4665-AA8A-970A811F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F4764A-75BE-444A-8867-53094486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86125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recebe um estado e perguntas; devolve escolhas e probabilidades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18637F-2432-44A5-8046-BCE218B2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A2964-7218-42A4-ADCC-9B5F6A5A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91000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Diogo Almeida, fundador da TypeSafe, trabalhou na OpenAI</a:t>
            </a:r>
          </a:p>
        </p:txBody>
      </p:sp>
    </p:spTree>
    <p:extLst>
      <p:ext uri="{BB962C8B-B14F-4D97-AF65-F5344CB8AC3E}">
        <p14:creationId xmlns:p14="http://schemas.microsoft.com/office/powerpoint/2010/main" val="16982023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FABB3-75A7-4845-A0A8-F634F1F1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B06C6-5E67-406F-9152-98EBAA18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D423C-76CE-43B4-BDF4-42802780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9E391-CF0A-4909-BC53-D1D95E48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 contrato do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4E2B8-5E53-4B5C-A56F-1CEC3811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A4CC1-8190-40F6-9BB0-20E0A768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A0D24-18C8-4F61-B262-1415E964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4A54C-7951-4570-92FC-8C580387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35E3B-12CB-4EB8-9B9B-F4A523BC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state + questions + opções ou critérios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1013C-9BEF-44E7-B2C5-3AD82B24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4B1BC-BF7A-470F-8460-D8D9465E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Choice → escolha, probabilidades e confidence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D96A1-3FD7-4D0A-9426-8B16BC32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4F5AA-C69D-4E37-AE38-F218B378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Noul → probabilidade de sim; Score → nota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116F0-5003-4A9E-9F25-EE8178FC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94357-F300-4731-BEE5-6E220DC1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Seu código valida e age após a resposta</a:t>
            </a:r>
          </a:p>
        </p:txBody>
      </p:sp>
    </p:spTree>
    <p:extLst>
      <p:ext uri="{BB962C8B-B14F-4D97-AF65-F5344CB8AC3E}">
        <p14:creationId xmlns:p14="http://schemas.microsoft.com/office/powerpoint/2010/main" val="5843204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AC219-C7D3-4C02-93C8-E8EDA6F2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5F80C-C3C4-43D8-B622-FB2DACE7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05FDB-07A6-4B20-A607-6D280BCB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0CAE2-A2A7-40D3-AD0B-12C4516C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Tokens de saída: o ponto econômico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5AC33-0D2A-4C95-9904-DB6CD5A7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82918-8FAD-4CA2-96BC-06491D36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B6105-8AB5-497D-A774-8618D74A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843B8E-1133-41BD-B812-C5D382C4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Preço anunciado de output tokens: zero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8BB44-5814-4755-B54B-6B12A818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Jev ainda contabiliza tokens de saída. No nosso harness: 69–71 por chamada. Há custo de entrada e de rede.</a:t>
            </a:r>
          </a:p>
        </p:txBody>
      </p:sp>
    </p:spTree>
    <p:extLst>
      <p:ext uri="{BB962C8B-B14F-4D97-AF65-F5344CB8AC3E}">
        <p14:creationId xmlns:p14="http://schemas.microsoft.com/office/powerpoint/2010/main" val="7791362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7F4773-3214-4E15-8080-CB938594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6F535-9EF4-49B9-B453-4154A8B7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E4582-694B-416B-AEA3-4256F148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EFFBB-26DD-4DDD-87CE-E5CB21AB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Velocidade só importa junto com qualidade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B01FF-9E29-49A7-8D5C-09FC3F53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EAB4F-374C-4237-894F-4ED1E44A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3E812-881A-456C-855B-40E537EE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3F9A6-230A-4DB8-B48F-A17BF71C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F38B6-F468-47D1-B870-79158900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Alegações da TypeSafe vêm de workflows próprios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A0CBE-9CE4-4A0F-8A5A-3DC04DDE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097DEC-032B-456D-BEB8-2AD0F63A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Compare a mesma tarefa, p95 e qualidade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635FD-2D4D-4CD6-BC71-71FBE8E5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DC83E-1B97-4F28-A16A-21715960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Inclua custo de rede e custo do erro</a:t>
            </a:r>
          </a:p>
        </p:txBody>
      </p:sp>
    </p:spTree>
    <p:extLst>
      <p:ext uri="{BB962C8B-B14F-4D97-AF65-F5344CB8AC3E}">
        <p14:creationId xmlns:p14="http://schemas.microsoft.com/office/powerpoint/2010/main" val="7057306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DA8A2-9A75-4454-81CF-6C749321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B4CFB-4712-44C1-891D-5033131E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EC09C-D4A3-49B9-905E-33F848DE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83374-B999-41D5-A1B2-57183DDC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LLM versus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ECCC5-A082-4930-AB3F-1108F7F2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45DA2-7E9D-4CFC-A2D9-4711CFA2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EB677-BB1A-404B-9DC9-433DC882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08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53750" cy="4210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4191000"/>
                <a:gridCol w="4095750"/>
              </a:tblGrid>
              <a:tr h="7016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Critério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LLM generativo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Jev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Saída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Texto ou JSON gerado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Escolha/probabilidade tipada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Flexibilidade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Alta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Catálogo delimitado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Validação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Schema + política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Catálogo + política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Tokens de saída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Geração textual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Resposta compacta; preço anunciado zero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Melhor uso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Explicar e redigir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Roteamento e decisão fechada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26413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E6B48-3913-434B-A215-541C8BBD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36D64-4405-4762-87D2-780D2DA4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0E1F8-EFA4-480A-A738-AF972D62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EF648-70F7-43A6-89A0-0349F9B9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Choice na documentação oficial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D9A43-BD7C-4742-88C1-26CE7FA4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1BF58-7EC1-4C1E-A0EA-6EE02A3A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1CE2E-9312-4B53-9737-0E04F8CF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09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bbb00f4f8489f"/>
          <a:stretch xmlns:a="http://schemas.openxmlformats.org/drawingml/2006/main"/>
        </p:blipFill>
        <p:spPr>
          <a:xfrm xmlns:a="http://schemas.openxmlformats.org/drawingml/2006/main">
            <a:off x="1653284" y="1447800"/>
            <a:ext cx="8866381" cy="4276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4780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C9DE6-A560-4C15-9A5F-F4D5A1CB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DBE0E-DD68-4341-8AFD-630BB470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46228-D050-4AD9-910A-FF9653D9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AA897-EF37-4AFD-B964-DFE5DBF8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Playground: encaminhar uma mensagem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A0D81-FF9D-4795-A737-EAA727A0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E1B99-EA42-4BA8-919C-CAEB9CBB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97EF7-8CCB-40AA-BDC2-8F7D7715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0B6F7-8276-4606-A2F3-0AFF642A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2870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E0B4F-D486-4E5A-88B9-3F5DF3B6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76425"/>
            <a:ext cx="98298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state: "A integração de pagamento falhou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e a fatura foi cobrada duas vezes."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Choice: FINANCEIRO | TÉCNICO |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  COMERCIAL | HUMANO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5F481-EBF0-40FD-812E-19F81B0A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720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Antes de executar: qual opção a sala espera?</a:t>
            </a:r>
          </a:p>
        </p:txBody>
      </p:sp>
    </p:spTree>
    <p:extLst>
      <p:ext uri="{BB962C8B-B14F-4D97-AF65-F5344CB8AC3E}">
        <p14:creationId xmlns:p14="http://schemas.microsoft.com/office/powerpoint/2010/main" val="6086403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C41BB-8F38-4941-A5C0-A2718DD7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1C2DE-AB54-4E28-8FB9-47D9BBC5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D6B39-C007-4F4F-B0D7-5C2885E0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2E68F-0F16-4C9B-A707-804FD17C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Playground da TypeSafe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BE83E-4F44-4967-897E-7342E7B1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E26F6-00DB-4EFE-AEF1-8B00547D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A5E39-AC1B-4B41-A236-4B782537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05876-FE1F-4C00-B120-EB985508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53750" cy="395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62993-8C9D-4103-8572-53BC39DD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90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ÁREA PARA PLAYGROUND AO VIVO</a:t>
            </a:r>
          </a:p>
        </p:txBody>
      </p:sp>
    </p:spTree>
    <p:extLst>
      <p:ext uri="{BB962C8B-B14F-4D97-AF65-F5344CB8AC3E}">
        <p14:creationId xmlns:p14="http://schemas.microsoft.com/office/powerpoint/2010/main" val="2903932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2D79B-5740-46E4-B1C9-282873F6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EC64D-E2D7-440A-956A-5A275614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BC965-343B-4E39-B3E4-3C21E70D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22B5B-C34A-4AEA-89BF-08A77E9B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A chamada em código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D369C-3005-4989-A90C-FD40D9DC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E6720-9443-48A3-87D6-E2B8C6DD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DA8B9-9F23-4E50-A250-94EF7706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A3861-D85E-4714-BD15-77B9F07E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71625"/>
            <a:ext cx="10668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B4DAE-CFA3-4EA2-9323-D4666FF6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733550"/>
            <a:ext cx="102108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POST https://api.typesafe.ai/v1/systemone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{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"state": "...",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"model": "jev-...",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"questions": [{ "type": "choice", ... }]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route(validate(answers["departamento"]))</a:t>
            </a:r>
          </a:p>
        </p:txBody>
      </p:sp>
    </p:spTree>
    <p:extLst>
      <p:ext uri="{BB962C8B-B14F-4D97-AF65-F5344CB8AC3E}">
        <p14:creationId xmlns:p14="http://schemas.microsoft.com/office/powerpoint/2010/main" val="2509822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CC710-F7C8-4B4D-B3CF-14403E61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5084B-F8FE-4C0C-832C-FDC2DAC6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BE47B-4016-4715-A0F4-C4EF7F19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3B5F1-7E86-4F67-B48E-3663B71C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 básico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1E16C-44B2-4CCF-B69F-1CBB4FC8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D5E8C-EEBB-47F8-A687-6CDFCEF6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A38C0-7E4B-4649-BFC5-9C2242FC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2888A-5ACF-47DA-9F2B-C730884C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C14CC-9120-4CC0-AF53-6C8EDD00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estado s, ação a, novo estado s’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AE983-6B91-4704-BA8E-E77DF623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0E8AF-7D9D-400B-B7C0-1CEFDA32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Sinal: recompensa do ambiente 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D7BD1-4AAA-4138-8DDB-3B4828FE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C82FB-F213-45A3-AC9D-D3B03E61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política π(a|s) busca retorno esperado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4CAD0-3A0F-4C52-A981-A810E3B1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8B15B-A27F-4F46-B5D3-B1262C6B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Saída: ação sob a política aprendida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B2728-C709-43D3-B640-381EB73D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FC45A-898C-4832-AEC5-FA9E19C6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recompensa mal definida induz atalhos</a:t>
            </a:r>
          </a:p>
        </p:txBody>
      </p:sp>
    </p:spTree>
    <p:extLst>
      <p:ext uri="{BB962C8B-B14F-4D97-AF65-F5344CB8AC3E}">
        <p14:creationId xmlns:p14="http://schemas.microsoft.com/office/powerpoint/2010/main" val="17424429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5A13A-6813-4A14-8D77-498C74A7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FF7D2-86DE-45A1-A74E-2F1D8FFA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6FC71-9656-49D9-BA1F-3BDB6D0D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2B98A-F36A-4D52-A3F0-2C23BFF7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RLHF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3B01A-8DBD-4380-ADC7-B96F4820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11BDA-AE02-47C5-8181-5A3AA61E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9EA6C-5658-4AC2-A73B-2C071E7E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D12C0-D5A0-4D28-BC63-027837E6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9CCF0-3CA8-4A29-B197-EBBD39DF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respostas alternativas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6FA66-C8B0-4819-B040-30ADF04C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3583C-D735-4FB6-BA22-88447AAC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Sinal: comparações/preferências humanas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5606D-F74B-4BA4-887F-F0A7BA18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84772-583D-4315-911D-5B9F6D41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política favorece respostas preferidas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F69E8-F5D1-46C5-8962-23560BFB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FC2E0-2E6D-4805-A97A-F893778E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Saída: resposta alinhada à preferência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9553A-1A83-45EF-8AEB-0E8405E8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6461C1-4F52-4C49-9E71-0EA04A14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preferência não mede calibração</a:t>
            </a:r>
          </a:p>
        </p:txBody>
      </p:sp>
    </p:spTree>
    <p:extLst>
      <p:ext uri="{BB962C8B-B14F-4D97-AF65-F5344CB8AC3E}">
        <p14:creationId xmlns:p14="http://schemas.microsoft.com/office/powerpoint/2010/main" val="6021129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3003DE-9F09-438B-8106-77151030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5FA62-32F6-43E6-B6FB-A2B742A8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67D27-B205-4E33-B7F5-B1024A0D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EBA42-1D1F-4B33-A737-264ED797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RLVR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785A8-802E-4674-90B4-A50ECA50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AC84D-7FD9-4173-BA29-B58E2D0F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B5716-39B0-408C-A704-4EBEE4E6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F1236-7EF1-4AAE-8AC8-12AD1A2A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998A6-41FF-4204-8E6B-FF5B62E8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tarefa com resposta verificável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BBC60-527B-4C15-8216-D7DE6126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463E8-E960-4BCF-B716-7B077302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Sinal: teste, prova ou resposta objetiva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EC724-1307-4BFA-8093-D410BD1C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D39DC-7B59-40B7-8D92-626085E2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política favorece respostas verificadas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B8CF8-1B9F-4619-8C4B-48DCE02C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97FD54-FEF7-45EF-A035-0CCF7028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Saída: resposta correta no verificador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AD00F-611D-41CF-A4C1-8CE4E56F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5528F-29EE-4538-8DFC-560D0422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acerto não calibra probabilidades</a:t>
            </a:r>
          </a:p>
        </p:txBody>
      </p:sp>
    </p:spTree>
    <p:extLst>
      <p:ext uri="{BB962C8B-B14F-4D97-AF65-F5344CB8AC3E}">
        <p14:creationId xmlns:p14="http://schemas.microsoft.com/office/powerpoint/2010/main" val="19517625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EF525-A654-4D51-BE58-A918EC02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16114-C35E-47F2-A8E6-E9D628E8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3DFA7-5C58-4051-A60D-5F00AF71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D3949-12DC-4A58-AC02-A495344E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RLCD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FE0E2-0744-4B55-946F-278418A6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EC995-B89B-4C63-BAA1-304336B0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DBD85-DBF5-40ED-82D0-9A07E7AB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A347A-4078-4ADE-9FE5-517D5142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6A57E-ECDC-4F5D-B855-205E0F6F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estados e decisões tipadas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250E9-FAAD-41D4-BD35-80061D86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6376F-7787-498B-82B3-96D13B87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Sinal: objetivo público de decisão calibrada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82F1E-C797-4266-8FF5-BB6DB689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BAFF4-DDD6-4617-880A-14F4C8C1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detalhes do treino ainda não publicados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7D229-D69D-4251-9828-BA7AD074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C00361-A236-46A4-9F5C-AD508E69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Saída: escolha + distribuição probabilística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6193A-C591-4E0D-B01E-1B5BEFA8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A6CECB-BB79-4132-A14E-E7992BED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falta teste independente no nosso domínio</a:t>
            </a:r>
          </a:p>
        </p:txBody>
      </p:sp>
    </p:spTree>
    <p:extLst>
      <p:ext uri="{BB962C8B-B14F-4D97-AF65-F5344CB8AC3E}">
        <p14:creationId xmlns:p14="http://schemas.microsoft.com/office/powerpoint/2010/main" val="3862063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C89C0-BAFF-4405-A6C3-B5087F7F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23DA8-893E-4421-87FE-0A02DACD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88CE6-9123-4502-B782-BB88D2A7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382E9-77DA-4CE2-B63A-F4A822BB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Probabilidade de 80%: como conferir?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5C64C-1BA0-4B12-BA8A-F741B1FA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2B441-AE8E-4C68-A1BB-C280648E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EB57B-06FD-4116-AA10-A5BC9CAC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7A851-3684-4226-8D2B-6AFEF3B9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621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Junte 100 decisões em que o modelo disse 80%.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475B6-4A1B-415C-A2CF-626D2A4E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527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Se acertou perto de 80, essa faixa parece calibrada.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47322B-0C20-4A8E-A041-67865362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433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Se acertou só 50, ele foi confiante demais.</a:t>
            </a:r>
          </a:p>
        </p:txBody>
      </p:sp>
    </p:spTree>
    <p:extLst>
      <p:ext uri="{BB962C8B-B14F-4D97-AF65-F5344CB8AC3E}">
        <p14:creationId xmlns:p14="http://schemas.microsoft.com/office/powerpoint/2010/main" val="10448770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ECD7E5-28F4-4A60-BC00-3E5D9D32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C74C8-DFCE-4289-9041-A95FD494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B21CC-A7F0-42EB-948D-A6802AD8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D2F9F-9538-4BBA-ABAA-0CF50FCC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Três medidas, três perguntas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843F8-6709-44A9-9EEB-A3EBF02C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8188C-D25C-4A6D-8D19-B47B72E0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F706C-4329-4D7A-BA1B-6E4437C5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5CED1-A309-4B34-9EC8-3724ED4F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D1501-F85E-4522-A53B-D3522C45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Accuracy / macro-F1: qual opção foi escolhida?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DDC49-29A1-45DD-89C7-BA36E078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EEDC2-DF2E-49B2-98DF-5E9F6E51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Brier / ECE: as probabilidades batem com a frequência?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07EDD-F6B2-4743-9545-4C5D78DB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1A9B42-D4F0-4904-8E50-0D575C60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Falsos aceites: qual erro pode iniciar uma ação perigosa?</a:t>
            </a:r>
          </a:p>
        </p:txBody>
      </p:sp>
    </p:spTree>
    <p:extLst>
      <p:ext uri="{BB962C8B-B14F-4D97-AF65-F5344CB8AC3E}">
        <p14:creationId xmlns:p14="http://schemas.microsoft.com/office/powerpoint/2010/main" val="23328672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81B25-7386-47D6-8149-DEF97622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15CE2-A6ED-4E90-A518-F4D1C4DC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35BF8-C2ED-4E25-A4F8-9A9D265B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D2E63-35BC-4019-9DC0-19615C9A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RL, RLHF, RLVR e RLCD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62FAA-61AE-4A0A-B895-B7B75E6B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7C5FD-E20F-4270-B574-F39527D9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C0B5C-3C38-44CC-9BEC-5710E9D6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19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53750" cy="3476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2571750"/>
                <a:gridCol w="3048000"/>
                <a:gridCol w="3524250"/>
              </a:tblGrid>
              <a:tr h="6953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Família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Sinal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O que busca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Limite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Recompensa ambiente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Retorno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Reward mal definida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RLHF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Preferência humana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Resposta preferida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Não garante calibração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RLVR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Verificador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Acerto verificável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Escopo do verificador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RLCD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Objetivo TypeSafe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Decisão calibrada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Faltam detalhes e testes que isolem o treino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377926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7510A-D434-43BF-AEA7-6F7A1A6F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48405-AA73-4A2C-B35F-BAD71EA7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621CA-7D56-4785-AF0F-1A1CF0E2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C3836-19B6-4672-8FAB-AE669E50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Emojis conforme a frase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9E204-B3BD-4A58-8B46-30C28DFA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7C7DC-3B29-4377-9733-554BA07B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40ABB-0E12-47A4-B587-8B1722E0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956B2-1469-400C-9EC9-F27CDF2B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F47E2-2962-46D2-86C6-5CC251EF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50E86-EAEA-4D3B-9B75-12764C65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Stefan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8DCA2-85DC-4098-90CE-2A180C73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Texto → catálogo de emojis → 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4E5E01-4DAF-4991-8585-83646EAA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https://x.com/heystefan_/status/2101369117496521042</a:t>
            </a:r>
          </a:p>
        </p:txBody>
      </p:sp>
    </p:spTree>
    <p:extLst>
      <p:ext uri="{BB962C8B-B14F-4D97-AF65-F5344CB8AC3E}">
        <p14:creationId xmlns:p14="http://schemas.microsoft.com/office/powerpoint/2010/main" val="127819191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D9502-45E0-4472-848F-DE075A92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B7BA5-4924-4595-A0C0-6EED15CF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C23DD-5E4E-4111-BADA-9A225E28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F2B75-AAE1-46E0-B483-BE585A1C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Escolher a skill antes do contexto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35D8A-6F64-4D15-A8C7-0DF7B534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90ACF-E4C1-4A14-8C7E-AF3056CB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D145B-F294-4471-A03D-73BB0B5E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A21C7-A8F8-487D-98A3-58474029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EE65D2-98C8-4C1C-B146-3B3AC950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E6109-943F-4BE1-BD27-DA77B999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Daniel Avila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8EFF2C-D152-4255-B25A-CAEE988B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Pedido → catálogo de skills → carregar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B86EAE-FFA3-43AA-BCD0-8B8C0A24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https://x.com/dani_avila7/status/2101885477158547753</a:t>
            </a:r>
          </a:p>
        </p:txBody>
      </p:sp>
    </p:spTree>
    <p:extLst>
      <p:ext uri="{BB962C8B-B14F-4D97-AF65-F5344CB8AC3E}">
        <p14:creationId xmlns:p14="http://schemas.microsoft.com/office/powerpoint/2010/main" val="64078603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A14EF-B8A1-4938-A8D4-DE743F9B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2377C-396A-460F-BA77-9265D179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91686-D623-4831-A025-E2BD1A5C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568CB-E29C-4936-8F76-20092F5E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Triagem de PR e economia de tokens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F5CE0-7F16-4FBF-84BE-C4E0646E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6CEE1-2C32-476E-8E87-4C3CC751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C7613-74F8-4E8A-A75A-934DC52C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622A6-CDA8-43D6-A87D-169C8228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A5398-8B46-4866-ADD9-249FB9A4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DAF783-3CB3-47E0-86C7-605DC8D0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PR Judge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7DD38-D914-47CE-9C03-38035F95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Diff limitado → SAFE / REVIEW / BLOCK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F7A78-E1BE-4E5A-8246-A06DC6FD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https://jevtypesafeai.com/tools/pr-judge</a:t>
            </a:r>
          </a:p>
        </p:txBody>
      </p:sp>
    </p:spTree>
    <p:extLst>
      <p:ext uri="{BB962C8B-B14F-4D97-AF65-F5344CB8AC3E}">
        <p14:creationId xmlns:p14="http://schemas.microsoft.com/office/powerpoint/2010/main" val="182330753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36C6DA-DAC1-4EB9-A18F-A03B1094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FE714-FE27-43F1-A144-37E45659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906A7-A0C5-401D-A330-27EC7F3C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53347-A06D-4099-A7DB-10C6F55D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Xadrez: Jev, Fable e Astra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94C79-4DDD-4D4A-B790-1C2D44A1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3FC1C-3760-4A52-A888-8D1EAE42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FDFA5-5283-4866-97E1-FE412D2E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91DD3-2B4E-4FFD-9DF1-DFB79212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846F8-922F-47EB-BB1C-B1A92294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9DD2A-D11D-42DE-B1CA-73F17B68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Thread pública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363610-DAB8-4DD3-9C82-EBAF0929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Blitz 5+0; Jev vence Fable no tempo; Astra dá mate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DF25C-19E1-4C17-8AC3-9E3A7A18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https://threadnavigator.com/thread/2100372930282573876/</a:t>
            </a:r>
          </a:p>
        </p:txBody>
      </p:sp>
    </p:spTree>
    <p:extLst>
      <p:ext uri="{BB962C8B-B14F-4D97-AF65-F5344CB8AC3E}">
        <p14:creationId xmlns:p14="http://schemas.microsoft.com/office/powerpoint/2010/main" val="125007820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94716-0716-4F66-A082-D8EC73E6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AF3C2-25EF-42EC-BA6B-7BE16023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C1194-CB62-409F-87E8-6765A532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2615C-48BD-438B-AA00-4182A2B7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JevPilot em simulação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FCC9F-F564-44B6-A710-EA598DE5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91F88-1C60-417E-A31D-7CA8E3E7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272A2-F0A9-4B4B-BE6F-366950F6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8311F-C0B4-43EF-B05B-38E61BD6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19211-03B0-4164-A2E1-2F79330D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42664-1120-40A0-A842-EB068145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Justin Schroeder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170104-A44F-4FDA-8A6C-28C144E4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HighwayEnv → ações fechadas → freio em código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D808D-2EE9-4409-B475-0370791B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https://x.com/jpschroeder/status/2100347770867458384</a:t>
            </a:r>
          </a:p>
        </p:txBody>
      </p:sp>
    </p:spTree>
    <p:extLst>
      <p:ext uri="{BB962C8B-B14F-4D97-AF65-F5344CB8AC3E}">
        <p14:creationId xmlns:p14="http://schemas.microsoft.com/office/powerpoint/2010/main" val="207404511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087D8-7BD6-4D4F-A78F-421F291D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4F445-D268-4887-AEA4-C35B6901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06B9B-ADC9-4F8C-909C-E02E76F4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DE11C-8355-4EC9-A90C-10A9A44A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Laya apareceu dias depois do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9D71F-933E-4ABE-B56D-5939EE36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A77DD-C1DE-4D6C-9AD4-AAAAC7F8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8217D-5180-49C9-943E-9593ABF8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54196-3A60-414F-BB21-FF5839CB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16D98-204C-4B97-920A-F349553D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476375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foi anunciado pela TypeSafe em 15/09/2026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7DEC5-F26A-4C3D-AF06-0BE664D9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9EF91-840D-4E1C-A8C1-9E61173D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81250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Laya surgiu como modelo de decisão com pesos abertos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F4834B-1581-435E-B809-8403B171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F1B2EB-6724-4D9F-B1E0-EF0D6A14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86125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Choice, Score e Noul: mesma família de perguntas tipadas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C4302-1163-4A50-9CE6-564F075A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35FF3-B4BD-4CA1-8EF7-26CE450D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91000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Laya-MLX levou a inferência local ao Apple Silicon</a:t>
            </a:r>
          </a:p>
        </p:txBody>
      </p:sp>
    </p:spTree>
    <p:extLst>
      <p:ext uri="{BB962C8B-B14F-4D97-AF65-F5344CB8AC3E}">
        <p14:creationId xmlns:p14="http://schemas.microsoft.com/office/powerpoint/2010/main" val="67689502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FD065-2238-4289-8586-BEBA274A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8BDD6-336B-4881-929C-2B891913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AFA29-63B4-4AA3-8389-34B78B25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174CD-C979-470E-8B58-50207B0C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 × Laya: o que muda?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F1239-AC9A-4B39-AED8-BD99CC8F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9F902-FFE3-4BB2-9E0F-C39A8262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33FBD-6FBF-4B66-A047-85DD1630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26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53750" cy="3981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4095750"/>
                <a:gridCol w="4191000"/>
              </a:tblGrid>
              <a:tr h="6635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Aspecto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Jev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Laya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Acesso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API remota da TypeSafe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Pesos abertos; execução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Saída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Choice / Score / Noul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Choice / Score / Noul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Latência publicada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Serviço remoto; depende da rede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MLX: 7,39–13,42 ms p50 no M3 Max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No Maestro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60 casos; 54 acertos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Ainda não medido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Conclusão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Experimento medido no projeto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Candidato a avaliar no mesmo corpus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562992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DADEAA-E296-48C5-A075-BCDBBD50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4488E-8D5C-4649-9517-FF5DDA48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20DD3-F614-486C-A972-B6C63ACE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882CE-FE0F-4F11-BCDD-340D2820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Por que surgiram tantos modelos parecidos?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70F44-FB7D-4624-9A20-7315D8BC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F3379-0AEB-4730-BDFF-F69ADA4C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CENÁRIO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8B208-3E6D-477A-8425-84734535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EB7B5-DE80-42CB-84D6-783C364D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5FDE8-C823-4880-A80C-EBB6DD14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476375"/>
            <a:ext cx="10182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mostrou uma interface clara: estado + opções + probabilidades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2B026-A9A4-4712-946B-2C20C38A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D6F81-F5DA-4B9D-853E-9A747F59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0182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Outros grupos reutilizaram encoders, pesos e benchmarks públicos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CE0F4-1950-44D2-9F0B-48E47629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4C659-4A7D-410E-B5A6-089D3EA5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0182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Cada projeto otimiza um recorte diferente: dispositivo, tarefa ou custo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09BAA-D708-4635-940F-54F3619E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DCAA6-DBA3-448A-BF57-BEF18497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276725"/>
            <a:ext cx="10182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“Mais rápido” depende de hardware, rede, cache e tamanho da entrada</a:t>
            </a:r>
          </a:p>
        </p:txBody>
      </p:sp>
    </p:spTree>
    <p:extLst>
      <p:ext uri="{BB962C8B-B14F-4D97-AF65-F5344CB8AC3E}">
        <p14:creationId xmlns:p14="http://schemas.microsoft.com/office/powerpoint/2010/main" val="69480378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3867CB-8094-4CFB-A84B-49FDB18E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9ADE9-3908-4FE0-9D39-120C7054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1D5BA-CCF3-4B84-9288-46092D55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5CFED-B817-44CB-A154-F74E0266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Julia-1: pesquisa brasileira em decisão local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D3730-E5EF-4CA8-9E57-ED839B8C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96A08-C22D-4CAF-B504-B03EFACF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CENÁRIO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45AD0-1AC8-429C-A5C7-BA0129C6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049EA-A9EB-4DE2-A381-DCD5FD31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FCF71-9956-4B6E-9538-63F026AA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390650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Supersonic Labs, do Brasil: 144,3 milhões de parâmetros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B978F-1823-4720-9704-07B9343E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05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195C4-4A85-441A-88D5-A73E66F5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0275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Base mmBERT-small; recebe estado, pergunta e 2 a 20 opções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3E450-0154-44DC-998A-B0CBBCBC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146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47DA3-5C1E-464E-9876-629556A7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9900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Roda em CPU; há exportação ONNX/WebGPU e teste em tablet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ACDA9-8CF0-4E19-8B2D-81C705B8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243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DB8B41-6D6E-4EEB-8C8B-FC243B7D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9525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73,15% em typed decisions; Jev de referência: 72,70%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AC4C9E-C7D3-471A-8AC8-66A8BD99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339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1594F-891F-4714-B858-9684937A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29150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Banking77: Julia 64%; referência Jev 87%</a:t>
            </a:r>
          </a:p>
        </p:txBody>
      </p:sp>
    </p:spTree>
    <p:extLst>
      <p:ext uri="{BB962C8B-B14F-4D97-AF65-F5344CB8AC3E}">
        <p14:creationId xmlns:p14="http://schemas.microsoft.com/office/powerpoint/2010/main" val="179079572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BC8A6-2252-4731-AA91-0006A908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8F398-DF0C-4AFA-9798-98B030EA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CF36D-031D-4306-B112-01FBC46E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DE6E7-29D4-47F7-8322-716F0CE3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CLM: a proposta de Stanford e NVIDIA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EE33C-47A4-4F62-84C9-B8E6EAE6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B8DB6-B82B-4809-9487-8DF6A673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CENÁRIO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1498B-2B84-429E-A311-09B470FC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A44A4-E07C-4E43-9EFB-A66B731E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335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7D120-B93A-4935-B9AD-833978B6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428750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Dois encoders aproximam estado e ação no espaço vetorial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4D6F4-4452-498D-BDF7-E33056E3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8D694-0458-495B-9F78-38E39F8A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76475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Ações conhecidas podem ter embeddings calculados antes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6EB91-224A-43A6-A257-C5E60E83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28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ACF41-1BB6-48CB-BE04-4FE37192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24200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Treino contrastivo; seleção por similaridade, sem gerar texto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6B2C0-63E3-43D3-A19F-20233B36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56F546-132F-4628-9DC0-DE4FE6F3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971925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O grupo relata até 9× menor latência em tarefas selecionadas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2B6F3-E951-4A94-B95B-C4E232F6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F0AC4D-837F-4317-9CC1-367947E2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819650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É um modelo de 8B com GPU; não equivale ao Julia em CPU</a:t>
            </a:r>
          </a:p>
        </p:txBody>
      </p:sp>
    </p:spTree>
    <p:extLst>
      <p:ext uri="{BB962C8B-B14F-4D97-AF65-F5344CB8AC3E}">
        <p14:creationId xmlns:p14="http://schemas.microsoft.com/office/powerpoint/2010/main" val="33304259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88B34B-7AB8-422F-8D6D-C1BF3CFE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09336-F551-4991-AEF8-6ADA6D45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E2A7D-527E-486B-8C44-80C418E6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A482B-5E29-43A6-9C17-C84DF2E7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Span-01: especialista em avaliar traces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0807D-EF51-429F-8C1F-599CD4B9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764C4-2D75-4C22-813E-0B81B8A3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CENÁRIO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DA3D4-F7D2-42B1-B0B8-2C9F5C5F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29B35-4180-4803-A727-46FD2D0B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478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09995-B846-4C5B-AFFD-07F0029F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543050"/>
            <a:ext cx="101822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Respan: modelo de 4B para detectar comportamentos em conversas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6D6B0-D928-48D3-A076-3BDE6C20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889C6-D7EF-40A9-9D01-35C5E3D2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524125"/>
            <a:ext cx="101822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Retorna probabilidades; inclui “não observável”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AF4222-27B4-40D4-ABEA-A0633847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F11CF-7A7A-4DA6-A0C3-4AAEB44B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05200"/>
            <a:ext cx="101822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F1 geral publicado: Span-01 0,843; Jev 0,715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A2F7A-D20A-41EC-9E85-E448A0EC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7E004A-AE6F-4CA8-AA34-57CC7365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86275"/>
            <a:ext cx="101822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Benchmark da própria Respan; tarefa e protocolo específicos</a:t>
            </a:r>
          </a:p>
        </p:txBody>
      </p:sp>
    </p:spTree>
    <p:extLst>
      <p:ext uri="{BB962C8B-B14F-4D97-AF65-F5344CB8AC3E}">
        <p14:creationId xmlns:p14="http://schemas.microsoft.com/office/powerpoint/2010/main" val="21363018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44208A-7275-475C-9993-594FDB9F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0A6D8-1CE9-4ACD-A6AB-A9CF9F56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99ACC-62DA-408D-81D1-6C22CCD1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E40B9-BFBD-49D5-937F-DD39D6F4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 documento por trás do post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12358-6306-46A1-9FE5-DE20067A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F6266-09CF-413E-A11F-B19852E1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 EM AGENTES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4C15C-CC1B-44AB-9506-A80EB3CF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31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9020ec390c46b1"/>
          <a:stretch xmlns:a="http://schemas.openxmlformats.org/drawingml/2006/main"/>
        </p:blipFill>
        <p:spPr>
          <a:xfrm xmlns:a="http://schemas.openxmlformats.org/drawingml/2006/main">
            <a:off x="590550" y="1751941"/>
            <a:ext cx="4667250" cy="363986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BB282-8D8C-4456-AF6E-89CEBB76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19250"/>
            <a:ext cx="576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Notas compartilhadas por Diogo Almeida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86A8D-66F7-4E9D-9823-2991A364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24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4CCBC8-60D9-465D-89A1-16477E7C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54387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Agente de código: loop com poucas ferramentas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8AE7B-C7FC-4C2D-BA7A-880C6E07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62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B7A08-3BAE-4132-8877-AB156EED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457575"/>
            <a:ext cx="54387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Pergunta central: e sem KV cache?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26AC6-9BA8-4931-97DF-AAEB25BF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005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FD5C2-8DCF-4BAE-AC52-4B3598CD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295775"/>
            <a:ext cx="54387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O texto é uma proposta; não traz benchmark do agente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5B59A-E69D-4D90-8071-85F4E2F3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578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documento público; imagem da página 2</a:t>
            </a:r>
          </a:p>
        </p:txBody>
      </p:sp>
    </p:spTree>
    <p:extLst>
      <p:ext uri="{BB962C8B-B14F-4D97-AF65-F5344CB8AC3E}">
        <p14:creationId xmlns:p14="http://schemas.microsoft.com/office/powerpoint/2010/main" val="178070884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B8122-E3A1-488A-BA61-B78F7B0E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1CE07-24F9-493C-BDA5-3CB05A3F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DBB0E-A48A-4BA4-A8E1-ED577B13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53249-D505-4185-9A6E-F0DA71DA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Por que trocar de modelo pode sair caro?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60FA2-F288-44F3-864B-7CB814A0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E63A7-CBAF-40D4-9170-3849D901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 EM AGENTES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BE54C-DD61-4E34-8592-9A5C3D52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BDB66-67D3-42B7-9B1B-7BC652CE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906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Contexto longo já carregado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C4115-9655-43BD-A93F-EC65FB48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Modelo forte  →  modelo barato  →  modelo forte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A58BE-D445-4A24-A17D-07F01118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Na volta, o modelo forte pode precisar reler o histórico.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9D2F5-2822-4362-A9C5-D28FAC2A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A pergunta do documento: qual contexto cada chamada precisa receber?</a:t>
            </a:r>
          </a:p>
        </p:txBody>
      </p:sp>
    </p:spTree>
    <p:extLst>
      <p:ext uri="{BB962C8B-B14F-4D97-AF65-F5344CB8AC3E}">
        <p14:creationId xmlns:p14="http://schemas.microsoft.com/office/powerpoint/2010/main" val="203933906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B0010-7F4E-40DB-8CCF-73EDCB87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CB5FC-D3CE-47CA-9842-5DE11AEB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32001-3DE1-4A99-9B3B-1F28AB3A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14CD7-488A-4C9D-B0DF-B11A85FE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Contexto montado para a próxima tarefa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6BCF4-C8F9-4E53-8206-FDB070F8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8A91E-94D9-457D-BC08-6E7B4826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 EM AGENTES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D6480-9B3A-4C25-82F8-D6DC80FB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33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53750" cy="37242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3952875"/>
                <a:gridCol w="3667125"/>
              </a:tblGrid>
              <a:tr h="74485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Trecho disponível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Decisão possível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Quem aplica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74485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Saída longa de ferramenta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ocultar / resumo / completo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harness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485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Instrução de uma pasta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carregar quando relevante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harness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4485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Ferramenta do catálogo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mostrar descrição / schema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harness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485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Resultado de subagente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passar só o necessário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harness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AC3D5-03A1-47F4-B512-508B6995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Jev pode estimar relevância; o código monta e valida a janela.</a:t>
            </a:r>
          </a:p>
        </p:txBody>
      </p:sp>
    </p:spTree>
    <p:extLst>
      <p:ext uri="{BB962C8B-B14F-4D97-AF65-F5344CB8AC3E}">
        <p14:creationId xmlns:p14="http://schemas.microsoft.com/office/powerpoint/2010/main" val="28204621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87E3C-CC26-4031-931A-343B7F7F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8DC8F-5D7B-456D-BBCE-51847EAB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C8840-5BF7-468B-8EDB-DD086EAE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A8715-BC7F-4FF0-BB8A-6026E219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Onde Jev pode entrar no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C4669-5507-4A8D-B9D1-B1C23954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E2E1E-5FAC-4376-8ABB-E5D629E6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 EM AGENTES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0E0FF-B404-4C56-8E2E-671599E3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F79DD-7225-478A-BB97-8AB734AB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58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PEDIDO  →  ESTADO E CANDIDATOS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05513-B2EA-46C4-9338-FC678A94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JEV: contexto, ferramenta, rota ou permissão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4D1E2-D3E4-4194-A55C-D69A0BB7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CÓDIGO: confere catálogo, política e estado atual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BF24C-E1A1-4F7A-B7D6-3B0AEE55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0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LLM / FERRAMENTA: executa  →  testes e observação</a:t>
            </a:r>
          </a:p>
        </p:txBody>
      </p:sp>
    </p:spTree>
    <p:extLst>
      <p:ext uri="{BB962C8B-B14F-4D97-AF65-F5344CB8AC3E}">
        <p14:creationId xmlns:p14="http://schemas.microsoft.com/office/powerpoint/2010/main" val="137166654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23097-56D6-4CDE-8006-60C3867E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4A3A0-F3CB-4884-9BA3-66E388B4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D57C9-ECFA-45CF-8013-9AFEE2D2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E56CD-99DB-4902-BD53-EB3E64AD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Comparar no mesmo problema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800FD-56D6-4915-9671-D35DB16C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EFB6B-E717-4AE4-8BC1-4D014062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CENÁRIO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63C3A-4F35-4D70-BD3E-DD620381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35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53750" cy="4238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4095750"/>
                <a:gridCol w="4857750"/>
              </a:tblGrid>
              <a:tr h="7064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Sistema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Onde se destaca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O que falta medir no Maestro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Jev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Decisão tipada via 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ASR real, p95 e erros críticos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Laya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Pesos abertos; execução local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Mesmo corpus e hardware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Julia-1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CPU e dispositivos comuns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pt-BR, seis classes, memória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CLM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Ações reutilizáveis e cache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GPU, opções e custo total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Span-01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Detecção de comportamento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Adequação ao comando robótico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280940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B775A-4608-4B1C-9FBF-7D5EF08A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BC79E-463D-43C7-BC47-D9E02F3C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1CA48-43DB-4094-A56A-602F5C84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BB1C0-A006-4E1E-B205-0488B746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Maestro: contexto do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3A552-FA1B-49B4-BC61-DC652439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E9672-EA9D-41E0-96ED-5E444EEE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B6864-663E-454F-B0A1-66791719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905E9-92F6-43F4-8FC7-47AAD1E4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Máquinas autônomas ainda pedem uma interface de operador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B043D-07D7-4BEA-BB79-E51D6645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AgroTurtles · AI Glasses Brasil 2026 · MVP pré-hardware</a:t>
            </a:r>
          </a:p>
        </p:txBody>
      </p:sp>
    </p:spTree>
    <p:extLst>
      <p:ext uri="{BB962C8B-B14F-4D97-AF65-F5344CB8AC3E}">
        <p14:creationId xmlns:p14="http://schemas.microsoft.com/office/powerpoint/2010/main" val="69353044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D2DD10-472A-4578-9D36-8DA2C93B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E121E-5E8C-4C19-9E54-AAD6EEFD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492A6-9BB2-4FF0-8DD3-F7E122BC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94803-20E1-48B1-A4B2-6EF10E5C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A ideia: olhar, falar, confirmar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174E5-7F35-4B97-A3A9-DD80B946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F4349-945A-42F8-9BC4-D0FE939B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B1DF6-8643-4418-82FC-52577CC0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1F767-9B96-4155-8394-5C92F677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7A070-D2F7-4DA6-AFD8-D43A4CD4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Olhar: QR/marcador ou talhão mapeado define alvo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0A207-AFCB-4CB1-81A8-16DD1F1C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8199D-4487-4FBA-8F03-36144750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Falar: comando em linguagem natural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5D0B2-3E8C-4DCA-82FD-36181832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F98617-190E-4928-94F6-4E19B9FB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Confirmar por áudio antes da ação física</a:t>
            </a:r>
          </a:p>
        </p:txBody>
      </p:sp>
    </p:spTree>
    <p:extLst>
      <p:ext uri="{BB962C8B-B14F-4D97-AF65-F5344CB8AC3E}">
        <p14:creationId xmlns:p14="http://schemas.microsoft.com/office/powerpoint/2010/main" val="122232051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63BEED-BB05-4DC0-BB43-36AEAFD7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D83AC-73A9-425A-A8E8-5E7B10D1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3DD2F-CD0C-442D-8B29-C0E162C8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01456-387B-4248-9B12-10CFD33A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Do comando ao robô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F3728-0561-4BD5-9CD1-773F0086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A27F1-0141-41C9-9248-C04D1CD6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9F5D2-BFB9-4F4C-8C86-182D5F53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E79AD-8A63-4EE3-A5C3-40B421F8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CÂMERA / VOZ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D1293-401F-46D3-958F-6751C375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0025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8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FCC931"/>
                </a:solidFill>
                <a:latin typeface="Lato"/>
                <a:ea typeface="Lato"/>
                <a:cs typeface="Lato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08607-9E7E-430A-BF77-B73E9C18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DECISÃO TIPADA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8D8A7-DDDB-445E-A164-EF9B069A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00025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8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FCC931"/>
                </a:solidFill>
                <a:latin typeface="Lato"/>
                <a:ea typeface="Lato"/>
                <a:cs typeface="Lato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AC882-9A4E-426B-95DF-6185ADFF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00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REGRAS + ESTADO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082687-6725-40C0-B41F-34DEAF72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67125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CONFIRMAÇÃO  →  COMMAND JSON  →  ROS / GAZEBO</a:t>
            </a:r>
          </a:p>
        </p:txBody>
      </p:sp>
    </p:spTree>
    <p:extLst>
      <p:ext uri="{BB962C8B-B14F-4D97-AF65-F5344CB8AC3E}">
        <p14:creationId xmlns:p14="http://schemas.microsoft.com/office/powerpoint/2010/main" val="213003628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C3A96-FAB9-4F62-833E-C2A0E855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BFA1B-B0EB-4C49-AB42-65570251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9E237-569F-44B8-80DE-F39AA898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746DF-A871-4B61-BA8C-BF2494D9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QR: captura sob demanda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9FD82-A28F-4793-9BA8-2BD35745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37399-1AFF-4121-A367-277AF7CB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CAA39-18CA-4BB1-9189-CDFFEC38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6D369-BDAA-4EBA-A894-2B71ECD0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CE98D-28B7-45F8-B846-B3047BBE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Frame temporário na memória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6F3E1-7296-4192-8721-3074E3AA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221470-CF2F-4403-8A96-4EAF8FC0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Decoder local extrai target_id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1DD39-D0DE-47BC-AA8C-962D0821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9FCCE1-9105-4075-B30B-7FA9DE81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Foto, áudio e transcrição não são persistidos por padrão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617ED-7EF9-4B74-B0A7-3F4C386E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BB3F4F-D5C8-4E65-88F9-0744C25F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 fala segue fluxo separado</a:t>
            </a:r>
          </a:p>
        </p:txBody>
      </p:sp>
    </p:spTree>
    <p:extLst>
      <p:ext uri="{BB962C8B-B14F-4D97-AF65-F5344CB8AC3E}">
        <p14:creationId xmlns:p14="http://schemas.microsoft.com/office/powerpoint/2010/main" val="185818180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5BE76B-1CA8-4CDE-A204-BFD0EAB7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3A588-D08F-4E0A-926C-E0F9F67A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B2585-09F6-430E-828E-B2DC7F36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6ABEC-471C-44BF-A22C-DFC13804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Antes de enviar uma transcrição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DFD4C-F516-46F7-A546-AFA6C8D7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D419E5-C620-4963-9939-13E79914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31A17-513F-4A96-ABD3-D4D0C527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7F471-EA16-4A7D-B9FC-3BF6CC07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D28AE-3EA4-4845-8386-0B648B3D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Consentimento de sessão no mockDebug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3F6884-7EA2-4EF0-9718-8A1F3DFF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CF37F-3A7E-4A55-A62E-55704F80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Gate no app e no proxy antes da rede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129D9-3807-4A9B-B74F-F8BF5A40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9D3D6-214F-4413-B9F1-7B04E819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Padrões evidentes: CPF/CNPJ, e-mail, telefone, URL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DC35D-A3DB-432B-BF4F-ADA3BD3B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6692C-C2D6-469B-ABED-B85A9EBA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Não é detector geral de dado pessoal nem anonimização</a:t>
            </a:r>
          </a:p>
        </p:txBody>
      </p:sp>
    </p:spTree>
    <p:extLst>
      <p:ext uri="{BB962C8B-B14F-4D97-AF65-F5344CB8AC3E}">
        <p14:creationId xmlns:p14="http://schemas.microsoft.com/office/powerpoint/2010/main" val="98635630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2B63C-0E1A-4D30-B25D-CE25842A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81B16-AD55-4027-9D6C-59215BF0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8D17D-F160-4A36-A34D-04D35223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9E6F6-C074-4F63-8ADF-BA0F494C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Seis classes Jev; missão composta fora delas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7B7E4-F0AB-423C-BCEB-1436FDD9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9A76D-CC1D-41B7-9A1A-F40376BE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5C1F1-93C1-49AA-A67C-493720B5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5C673-0CAF-40AA-B9F4-2ED36CBF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43100"/>
            <a:ext cx="10763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SPRAY  ·  DOCK  ·  UNDOCK</a:t>
            </a:r>
          </a:p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CONFIRM  ·  CANCEL  ·  UNKNOWN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8215F-A65C-46B0-A77A-BF176AA9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05275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MISSION_PREVIEW e consultas: rotas locais separadas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A86E3-C48B-48A9-8E28-28A9BFBE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43475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Missão composta: parser/executor determinísticos + confirmação por ação física</a:t>
            </a:r>
          </a:p>
        </p:txBody>
      </p:sp>
    </p:spTree>
    <p:extLst>
      <p:ext uri="{BB962C8B-B14F-4D97-AF65-F5344CB8AC3E}">
        <p14:creationId xmlns:p14="http://schemas.microsoft.com/office/powerpoint/2010/main" val="201000813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11041-EEE6-405C-81E7-03AEC171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E1848-448E-4A24-AE58-16754C17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9268C-49D7-4110-AC78-F26A4418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F9224-AAE6-4E9F-8CD9-F9C11307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 JSON que o Maestro envia ao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1E765-4914-40E5-99E4-FF779958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4F159-5CD1-4ECC-B3D0-CCDA3813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58A0C-CF62-4E0A-9F01-09AB8A89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E08FF-E511-4498-ACEE-229A38D5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0763250" cy="439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FCFB0-1E93-44DC-9E06-37A47425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28775"/>
            <a:ext cx="10306050" cy="406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Android → proxy local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{ "transcript": "&lt;fala operacional&gt;"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Proxy → TypeSafe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{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"state": "&lt;fala operacional&gt;",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"model": "jev-1.13.0",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"questions": {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"operational_intent": {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"type": "choice",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"criteria": { "SPRAY": "...", "DOCK": "...",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  "UNDOCK": "...", "CONFIRM": "...",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  "CANCEL": "...", "UNKNOWN": "..." }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}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}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9741434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BC535-F158-4C96-8CFB-1A0690A9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DBC1B-44EC-4799-AB89-ED712985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A65E9-A456-42C5-93E4-B74340D2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067E3-406A-4EC9-9668-068A5A53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Uma resposta real do nosso experimento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FD53B-5805-4308-9ADB-253A04AE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814F4-0364-4A4E-A911-D41139FE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92C19-3DF8-4443-89AD-FEEE6B92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84A00-CBF4-4EDD-AFBE-DC6BF1B3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0763250" cy="439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EA318-DF5C-4E5D-AD66-3C81E08A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28775"/>
            <a:ext cx="10306050" cy="406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recovery-045  |  esperado: CANCEL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{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"response_model": "jev-1.13.0",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"answer": {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"choice": "CONFIRM",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"probabilities": {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"SPRAY": 0.01, "DOCK": 0.01, "UNDOCK": 0.00,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"CONFIRM": 0.75, "CANCEL": 0.10, "UNKNOWN": 0.13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},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"confidence": 0.70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},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"usage": { "input_tokens": 583, "output_tokens": 70 }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140590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E4C25-6696-4B33-845B-7A34AA26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0A627-F975-42DD-A886-A4D686A0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97BD9-D4D9-4729-86E9-2D989E39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37C49-FDD7-4C5F-B965-10004517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Código real: validar ou recusar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E2AA1-054E-4CD7-96A3-F55ECD8A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179D3-63F4-4178-ADC6-6079A130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5C58A-BB35-4863-B047-6804048C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2E80A-0183-4360-942B-7D63585E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7632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03E8F-6180-4952-8C23-1521B6B6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10306050" cy="403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(choice !in SUPPORTED_LABELS ||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probabilities.keys != SUPPORTED_LABELS) return false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(probabilities.values.any { !it.isFinite() })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return false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(abs(probabilities.values.sum() - 1.0) &gt; 0.001)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return false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return if (prediction.confidence &lt; 0.40)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unknown() else prediction</a:t>
            </a:r>
          </a:p>
        </p:txBody>
      </p:sp>
    </p:spTree>
    <p:extLst>
      <p:ext uri="{BB962C8B-B14F-4D97-AF65-F5344CB8AC3E}">
        <p14:creationId xmlns:p14="http://schemas.microsoft.com/office/powerpoint/2010/main" val="23488439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F7A2A-F586-4C71-AEDD-D5494979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5B2EF-DF8D-414C-8111-2A2AD3D1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28742-8073-4C11-8624-2172733D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ED2F4-5E41-4A96-86D3-DCA98976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Comparação no corpus sintético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DA242-2A35-4D9C-BB44-2684DF88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9EDA9-E37A-4A48-9C49-08E421CE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A9F4B-9D5F-4413-9080-232F22BD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45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53750" cy="3581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810000"/>
                <a:gridCol w="3571875"/>
                <a:gridCol w="3571875"/>
              </a:tblGrid>
              <a:tr h="7162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Métrica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Jev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Local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Acerto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54/60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48/60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Macro-F1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0,9010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0,8026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p95 no host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2.100,575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0,293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ECE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0,0787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0,0810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63AC3-E792-4C1A-9AB6-3CCA6EEA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Uma rodada · 60 falas sintéticas · custo Jev US$ 0,001472394</a:t>
            </a:r>
          </a:p>
        </p:txBody>
      </p:sp>
    </p:spTree>
    <p:extLst>
      <p:ext uri="{BB962C8B-B14F-4D97-AF65-F5344CB8AC3E}">
        <p14:creationId xmlns:p14="http://schemas.microsoft.com/office/powerpoint/2010/main" val="108048126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5952C-8F24-448D-B8F9-30DC7400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07B1C-28F5-463E-9D4C-2314F263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7FAE9-853A-48A9-9D58-2B5AC395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C4CEF-6A63-4A85-A24C-761EAADC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Um erro crítico manteve o experimento em HOLD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84BCD-08C2-4246-A9EB-96ED4CF4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9DE78-E8F5-4AE0-B154-4024BA74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25427-9FBB-46B6-B1F7-D539598F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42E44-2EC0-432F-AE51-056D43FA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CANCEL → CONFIRM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67B35-7F09-4F1B-BC93-D1EFFEC8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Probabilidade da escolha: 0,75. Melhor média não basta para uso operacional.</a:t>
            </a:r>
          </a:p>
        </p:txBody>
      </p:sp>
    </p:spTree>
    <p:extLst>
      <p:ext uri="{BB962C8B-B14F-4D97-AF65-F5344CB8AC3E}">
        <p14:creationId xmlns:p14="http://schemas.microsoft.com/office/powerpoint/2010/main" val="8672399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AEF20-D2D1-4EBC-A4BC-36061B00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975E9-3D59-43EE-BE11-1FB45674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3A192-EBC2-4850-89ED-2656F49A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C7693-7CE3-4D35-8000-6CAEF0A3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Demo: Maestro + Jev + Gazebo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62710-0278-4DED-9BF5-9213E56D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409B3-96AE-47F1-84F5-E99856CD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DF037-7663-4840-8DFD-A13D64C6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4F7D6-64F8-49DC-84C0-D50FA1D7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3F73E-E20E-458C-8713-1B1A79D2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5F7F0-B597-4519-85A9-358DA9E2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Demonstração local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8CD45-B2E5-46E3-805D-997B79D2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Android → Jev → confirmação → robô simulado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40782-758D-4B69-9A2F-D961BB51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vídeo próprio a inserir</a:t>
            </a:r>
          </a:p>
        </p:txBody>
      </p:sp>
    </p:spTree>
    <p:extLst>
      <p:ext uri="{BB962C8B-B14F-4D97-AF65-F5344CB8AC3E}">
        <p14:creationId xmlns:p14="http://schemas.microsoft.com/office/powerpoint/2010/main" val="200554762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6191E1-F020-44A3-A17C-589455B5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E9431-E2BE-41E0-A4F0-C6E52F0D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5E5F1-8EEA-43C4-A034-465F2CB8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E49F1-E8EC-4F07-97CB-A027EFA3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Reserva de demonstração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2ECA0-8BE4-4799-BCA7-D64A8926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9934F-44C4-4022-B893-32F2AF7B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9C28E-31F3-44AB-8429-F523D1BD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ECE25-5DC2-4174-AE1F-7271BF5A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D6FA45-0AA2-49C4-9621-42EF4162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CF71F-CE00-4C5A-A013-63B18FD3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Fallback offline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AE08BB-7A3E-4A5E-8689-BA2CD6B6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Fixture mock local; não executa o robô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646A2-0BFC-47A5-BDF4-A012FC06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results/offline-demo</a:t>
            </a:r>
          </a:p>
        </p:txBody>
      </p:sp>
    </p:spTree>
    <p:extLst>
      <p:ext uri="{BB962C8B-B14F-4D97-AF65-F5344CB8AC3E}">
        <p14:creationId xmlns:p14="http://schemas.microsoft.com/office/powerpoint/2010/main" val="57462492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43AE6D-FA50-4C93-AA3F-01BA5938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D48E3-B1E6-4308-AE68-5315FFCE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44E54-DA7A-4C69-B162-9EE82F51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3B71A-E63D-4544-BE54-5ED7DBF7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Conclusão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15D13-035A-4D82-A5E6-34709922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6FEED-D31A-47D3-BF54-D0FAC032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E344A-8534-4D3A-AD54-54544730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F3007-6FED-45B3-8811-F8F5D5B5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CFDC6-98DD-4BA3-95DF-7E2F21B1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é uma hipótese útil de classificação tipada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8A98A-8004-4387-BBC9-80C0EB05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5A9EB-8237-45E6-918F-CB50873C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RLCD pede avaliação reproduzível de calibração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347C6-4BA7-405C-9DB0-0F9036E8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2DA80-1BA6-43AA-99D1-3C720413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No Maestro, alvo, estado e confirmação ficam fora do modelo</a:t>
            </a:r>
          </a:p>
        </p:txBody>
      </p:sp>
    </p:spTree>
    <p:extLst>
      <p:ext uri="{BB962C8B-B14F-4D97-AF65-F5344CB8AC3E}">
        <p14:creationId xmlns:p14="http://schemas.microsoft.com/office/powerpoint/2010/main" val="187347518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B00A8-E272-4A9B-BC1F-8B880059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2580F-5211-401B-B821-DA707341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13606-EF57-4363-84FC-A7AAF7A3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6E0AF-8EEC-4EAD-9609-7D9D456D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Para discutir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B00E3-F5CE-49B5-9259-B40CA92B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E4BB3-B18B-4C1A-9F59-6ADE6CA4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00D2F-535D-43BA-A489-637F9452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3405D-68F1-4DD4-B41E-F2D04267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8F437-3CCC-4FA3-BD55-0C4E22F8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Como isolar o efeito do treino chamado RLCD?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B5765-C381-48C7-9700-FF99B7F6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ED970-BFC5-4FFC-AF2F-9D8C1B2D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Que teste com ASR real reabriria o HOLD?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60F7E-C03B-4CB2-88D5-73A338A6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267C31-28D5-4734-ABDE-FF296DEE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Quanto custa um falso aceite diante do robô?</a:t>
            </a:r>
          </a:p>
        </p:txBody>
      </p:sp>
    </p:spTree>
    <p:extLst>
      <p:ext uri="{BB962C8B-B14F-4D97-AF65-F5344CB8AC3E}">
        <p14:creationId xmlns:p14="http://schemas.microsoft.com/office/powerpoint/2010/main" val="173405704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A9F35-BBA6-498E-824B-0EC7CAB4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B4F35-771A-4F5A-B2EB-64252580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30228-7C80-471D-8ED4-49BBEC35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E93B9-CCE5-4F37-A3F7-E1EB7216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Obrigado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3B778-5D40-45DA-9C4D-367A7FD0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571C8-91A4-415B-A44D-0EE1AAFF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56E34-0E45-46D8-8C86-A47CFCCF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339DA-6EBE-4EC7-907F-0B4AE05C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Obrigado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2133E-D1B2-4EA4-BF79-A14B08FD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Jev · Reinforcement Learning · Maestro Agrícola</a:t>
            </a:r>
          </a:p>
        </p:txBody>
      </p:sp>
    </p:spTree>
    <p:extLst>
      <p:ext uri="{BB962C8B-B14F-4D97-AF65-F5344CB8AC3E}">
        <p14:creationId xmlns:p14="http://schemas.microsoft.com/office/powerpoint/2010/main" val="18192731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2026-09-27T02:59:03.0300000Z</dcterms:created>
  <dcterms:modified xsi:type="dcterms:W3CDTF">2026-09-27T02:59:03.0300000Z</dcterms:modified>
</coreProperties>
</file>