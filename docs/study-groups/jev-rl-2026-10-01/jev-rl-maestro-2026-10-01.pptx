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a29d741bf4359" /><Relationship Type="http://schemas.openxmlformats.org/officeDocument/2006/relationships/extended-properties" Target="/docProps/app.xml" Id="R074a2e830bed4011" /><Relationship Type="http://schemas.openxmlformats.org/officeDocument/2006/relationships/officeDocument" Target="/ppt/presentation.xml" Id="R5ade579fb747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0ee3de8a045f9"/>
  </p:sldMasterIdLst>
  <p:notesMasterIdLst>
    <p:notesMasterId xmlns:r="http://schemas.openxmlformats.org/officeDocument/2006/relationships" r:id="Rb0e03a3527574791"/>
  </p:notesMasterIdLst>
  <p:sldIdLst>
    <p:sldId xmlns:r="http://schemas.openxmlformats.org/officeDocument/2006/relationships" id="256" r:id="Rce568f5485414354"/>
    <p:sldId xmlns:r="http://schemas.openxmlformats.org/officeDocument/2006/relationships" id="257" r:id="R162d4ab366fb41e2"/>
    <p:sldId xmlns:r="http://schemas.openxmlformats.org/officeDocument/2006/relationships" id="258" r:id="Re5ac4bdce1a24f11"/>
    <p:sldId xmlns:r="http://schemas.openxmlformats.org/officeDocument/2006/relationships" id="259" r:id="R877dad68c1914649"/>
    <p:sldId xmlns:r="http://schemas.openxmlformats.org/officeDocument/2006/relationships" id="260" r:id="R5b0fcf1440434c32"/>
    <p:sldId xmlns:r="http://schemas.openxmlformats.org/officeDocument/2006/relationships" id="261" r:id="R37f58e22749e4483"/>
    <p:sldId xmlns:r="http://schemas.openxmlformats.org/officeDocument/2006/relationships" id="262" r:id="R19df22225c024b9e"/>
    <p:sldId xmlns:r="http://schemas.openxmlformats.org/officeDocument/2006/relationships" id="263" r:id="R1dac386e009d4723"/>
    <p:sldId xmlns:r="http://schemas.openxmlformats.org/officeDocument/2006/relationships" id="264" r:id="R5dc186dfe69f4af7"/>
    <p:sldId xmlns:r="http://schemas.openxmlformats.org/officeDocument/2006/relationships" id="265" r:id="R64e1187eab7143de"/>
    <p:sldId xmlns:r="http://schemas.openxmlformats.org/officeDocument/2006/relationships" id="266" r:id="Re8ac87e73576409d"/>
    <p:sldId xmlns:r="http://schemas.openxmlformats.org/officeDocument/2006/relationships" id="267" r:id="R2a0dcbbb5de54bfd"/>
    <p:sldId xmlns:r="http://schemas.openxmlformats.org/officeDocument/2006/relationships" id="268" r:id="R9853eba4fb81485c"/>
    <p:sldId xmlns:r="http://schemas.openxmlformats.org/officeDocument/2006/relationships" id="269" r:id="R84e7fe4bb25d4f69"/>
    <p:sldId xmlns:r="http://schemas.openxmlformats.org/officeDocument/2006/relationships" id="270" r:id="Rddfc38f297c842e9"/>
    <p:sldId xmlns:r="http://schemas.openxmlformats.org/officeDocument/2006/relationships" id="271" r:id="Rd932616bcfa44732"/>
    <p:sldId xmlns:r="http://schemas.openxmlformats.org/officeDocument/2006/relationships" id="272" r:id="R4c6c262b138f44e7"/>
    <p:sldId xmlns:r="http://schemas.openxmlformats.org/officeDocument/2006/relationships" id="273" r:id="R99c0276a9f4e4e73"/>
    <p:sldId xmlns:r="http://schemas.openxmlformats.org/officeDocument/2006/relationships" id="274" r:id="R18ad4188ab4d4318"/>
    <p:sldId xmlns:r="http://schemas.openxmlformats.org/officeDocument/2006/relationships" id="275" r:id="R6d3a5de2808749f8"/>
    <p:sldId xmlns:r="http://schemas.openxmlformats.org/officeDocument/2006/relationships" id="276" r:id="R009c83d8bfe54389"/>
    <p:sldId xmlns:r="http://schemas.openxmlformats.org/officeDocument/2006/relationships" id="277" r:id="R0b93f06f04064c54"/>
    <p:sldId xmlns:r="http://schemas.openxmlformats.org/officeDocument/2006/relationships" id="278" r:id="Rd6835acba2b8446a"/>
    <p:sldId xmlns:r="http://schemas.openxmlformats.org/officeDocument/2006/relationships" id="279" r:id="R4f93b9019ee74b8e"/>
    <p:sldId xmlns:r="http://schemas.openxmlformats.org/officeDocument/2006/relationships" id="280" r:id="R2890aec2b44a489c"/>
    <p:sldId xmlns:r="http://schemas.openxmlformats.org/officeDocument/2006/relationships" id="281" r:id="R66b4fec81ea24da6"/>
    <p:sldId xmlns:r="http://schemas.openxmlformats.org/officeDocument/2006/relationships" id="282" r:id="R8b86d08ba2d44625"/>
    <p:sldId xmlns:r="http://schemas.openxmlformats.org/officeDocument/2006/relationships" id="283" r:id="Ra1f638d903d74c11"/>
    <p:sldId xmlns:r="http://schemas.openxmlformats.org/officeDocument/2006/relationships" id="284" r:id="R96912f928d0f4d80"/>
    <p:sldId xmlns:r="http://schemas.openxmlformats.org/officeDocument/2006/relationships" id="285" r:id="Rdf67847b4209479b"/>
    <p:sldId xmlns:r="http://schemas.openxmlformats.org/officeDocument/2006/relationships" id="286" r:id="R97adfc0c2cac4f13"/>
    <p:sldId xmlns:r="http://schemas.openxmlformats.org/officeDocument/2006/relationships" id="287" r:id="R39ef411e057d42b1"/>
    <p:sldId xmlns:r="http://schemas.openxmlformats.org/officeDocument/2006/relationships" id="288" r:id="R9d311aaadd52499b"/>
    <p:sldId xmlns:r="http://schemas.openxmlformats.org/officeDocument/2006/relationships" id="289" r:id="R6e251c1d25de438d"/>
    <p:sldId xmlns:r="http://schemas.openxmlformats.org/officeDocument/2006/relationships" id="290" r:id="Rf649ca18e96d49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81c5801ab480e" /><Relationship Type="http://schemas.openxmlformats.org/officeDocument/2006/relationships/slideMaster" Target="/ppt/slideMasters/slideMaster1.xml" Id="Ra4e0ee3de8a045f9" /><Relationship Type="http://schemas.openxmlformats.org/officeDocument/2006/relationships/notesMaster" Target="/ppt/notesMasters/notesMaster1.xml" Id="Rb0e03a3527574791" /><Relationship Type="http://schemas.openxmlformats.org/officeDocument/2006/relationships/presProps" Target="/ppt/presProps.xml" Id="Racd86c695b1a485a" /><Relationship Type="http://schemas.openxmlformats.org/officeDocument/2006/relationships/tableStyles" Target="/ppt/tableStyles.xml" Id="R08f9e801a3264c0d" /><Relationship Type="http://schemas.openxmlformats.org/officeDocument/2006/relationships/slide" Target="/ppt/slides/slide1.xml" Id="Rce568f5485414354" /><Relationship Type="http://schemas.openxmlformats.org/officeDocument/2006/relationships/slide" Target="/ppt/slides/slide2.xml" Id="R162d4ab366fb41e2" /><Relationship Type="http://schemas.openxmlformats.org/officeDocument/2006/relationships/slide" Target="/ppt/slides/slide3.xml" Id="Re5ac4bdce1a24f11" /><Relationship Type="http://schemas.openxmlformats.org/officeDocument/2006/relationships/slide" Target="/ppt/slides/slide4.xml" Id="R877dad68c1914649" /><Relationship Type="http://schemas.openxmlformats.org/officeDocument/2006/relationships/slide" Target="/ppt/slides/slide5.xml" Id="R5b0fcf1440434c32" /><Relationship Type="http://schemas.openxmlformats.org/officeDocument/2006/relationships/slide" Target="/ppt/slides/slide6.xml" Id="R37f58e22749e4483" /><Relationship Type="http://schemas.openxmlformats.org/officeDocument/2006/relationships/slide" Target="/ppt/slides/slide7.xml" Id="R19df22225c024b9e" /><Relationship Type="http://schemas.openxmlformats.org/officeDocument/2006/relationships/slide" Target="/ppt/slides/slide8.xml" Id="R1dac386e009d4723" /><Relationship Type="http://schemas.openxmlformats.org/officeDocument/2006/relationships/slide" Target="/ppt/slides/slide9.xml" Id="R5dc186dfe69f4af7" /><Relationship Type="http://schemas.openxmlformats.org/officeDocument/2006/relationships/slide" Target="/ppt/slides/slide10.xml" Id="R64e1187eab7143de" /><Relationship Type="http://schemas.openxmlformats.org/officeDocument/2006/relationships/slide" Target="/ppt/slides/slide11.xml" Id="Re8ac87e73576409d" /><Relationship Type="http://schemas.openxmlformats.org/officeDocument/2006/relationships/slide" Target="/ppt/slides/slide12.xml" Id="R2a0dcbbb5de54bfd" /><Relationship Type="http://schemas.openxmlformats.org/officeDocument/2006/relationships/slide" Target="/ppt/slides/slide13.xml" Id="R9853eba4fb81485c" /><Relationship Type="http://schemas.openxmlformats.org/officeDocument/2006/relationships/slide" Target="/ppt/slides/slide14.xml" Id="R84e7fe4bb25d4f69" /><Relationship Type="http://schemas.openxmlformats.org/officeDocument/2006/relationships/slide" Target="/ppt/slides/slide15.xml" Id="Rddfc38f297c842e9" /><Relationship Type="http://schemas.openxmlformats.org/officeDocument/2006/relationships/slide" Target="/ppt/slides/slide16.xml" Id="Rd932616bcfa44732" /><Relationship Type="http://schemas.openxmlformats.org/officeDocument/2006/relationships/slide" Target="/ppt/slides/slide17.xml" Id="R4c6c262b138f44e7" /><Relationship Type="http://schemas.openxmlformats.org/officeDocument/2006/relationships/slide" Target="/ppt/slides/slide18.xml" Id="R99c0276a9f4e4e73" /><Relationship Type="http://schemas.openxmlformats.org/officeDocument/2006/relationships/slide" Target="/ppt/slides/slide19.xml" Id="R18ad4188ab4d4318" /><Relationship Type="http://schemas.openxmlformats.org/officeDocument/2006/relationships/slide" Target="/ppt/slides/slide20.xml" Id="R6d3a5de2808749f8" /><Relationship Type="http://schemas.openxmlformats.org/officeDocument/2006/relationships/slide" Target="/ppt/slides/slide21.xml" Id="R009c83d8bfe54389" /><Relationship Type="http://schemas.openxmlformats.org/officeDocument/2006/relationships/slide" Target="/ppt/slides/slide22.xml" Id="R0b93f06f04064c54" /><Relationship Type="http://schemas.openxmlformats.org/officeDocument/2006/relationships/slide" Target="/ppt/slides/slide23.xml" Id="Rd6835acba2b8446a" /><Relationship Type="http://schemas.openxmlformats.org/officeDocument/2006/relationships/slide" Target="/ppt/slides/slide24.xml" Id="R4f93b9019ee74b8e" /><Relationship Type="http://schemas.openxmlformats.org/officeDocument/2006/relationships/slide" Target="/ppt/slides/slide25.xml" Id="R2890aec2b44a489c" /><Relationship Type="http://schemas.openxmlformats.org/officeDocument/2006/relationships/slide" Target="/ppt/slides/slide26.xml" Id="R66b4fec81ea24da6" /><Relationship Type="http://schemas.openxmlformats.org/officeDocument/2006/relationships/slide" Target="/ppt/slides/slide27.xml" Id="R8b86d08ba2d44625" /><Relationship Type="http://schemas.openxmlformats.org/officeDocument/2006/relationships/slide" Target="/ppt/slides/slide28.xml" Id="Ra1f638d903d74c11" /><Relationship Type="http://schemas.openxmlformats.org/officeDocument/2006/relationships/slide" Target="/ppt/slides/slide29.xml" Id="R96912f928d0f4d80" /><Relationship Type="http://schemas.openxmlformats.org/officeDocument/2006/relationships/slide" Target="/ppt/slides/slide30.xml" Id="Rdf67847b4209479b" /><Relationship Type="http://schemas.openxmlformats.org/officeDocument/2006/relationships/slide" Target="/ppt/slides/slide31.xml" Id="R97adfc0c2cac4f13" /><Relationship Type="http://schemas.openxmlformats.org/officeDocument/2006/relationships/slide" Target="/ppt/slides/slide32.xml" Id="R39ef411e057d42b1" /><Relationship Type="http://schemas.openxmlformats.org/officeDocument/2006/relationships/slide" Target="/ppt/slides/slide33.xml" Id="R9d311aaadd52499b" /><Relationship Type="http://schemas.openxmlformats.org/officeDocument/2006/relationships/slide" Target="/ppt/slides/slide34.xml" Id="R6e251c1d25de438d" /><Relationship Type="http://schemas.openxmlformats.org/officeDocument/2006/relationships/slide" Target="/ppt/slides/slide35.xml" Id="Rf649ca18e96d49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662bce7a2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f4425742654f2f" /><Relationship Type="http://schemas.openxmlformats.org/officeDocument/2006/relationships/notesMaster" Target="/ppt/notesMasters/notesMaster1.xml" Id="R982dd63a0c924c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cafd75537f4952" /><Relationship Type="http://schemas.openxmlformats.org/officeDocument/2006/relationships/notesMaster" Target="/ppt/notesMasters/notesMaster1.xml" Id="R0e2e5be7af0e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0caf414d24451b" /><Relationship Type="http://schemas.openxmlformats.org/officeDocument/2006/relationships/notesMaster" Target="/ppt/notesMasters/notesMaster1.xml" Id="Rb2bc6d8e116345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c5cf04e0ec4b62" /><Relationship Type="http://schemas.openxmlformats.org/officeDocument/2006/relationships/notesMaster" Target="/ppt/notesMasters/notesMaster1.xml" Id="R0466a17d14c6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0093a25ccd4912" /><Relationship Type="http://schemas.openxmlformats.org/officeDocument/2006/relationships/notesMaster" Target="/ppt/notesMasters/notesMaster1.xml" Id="R34fffb98630345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b8576d8ba64d8b" /><Relationship Type="http://schemas.openxmlformats.org/officeDocument/2006/relationships/notesMaster" Target="/ppt/notesMasters/notesMaster1.xml" Id="R6982fa5a001b4a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c225b82e424046" /><Relationship Type="http://schemas.openxmlformats.org/officeDocument/2006/relationships/notesMaster" Target="/ppt/notesMasters/notesMaster1.xml" Id="R84e2a92ccd274e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bcd09914ec4a20" /><Relationship Type="http://schemas.openxmlformats.org/officeDocument/2006/relationships/notesMaster" Target="/ppt/notesMasters/notesMaster1.xml" Id="Re9090b48d2fa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a1ca547f2a463a" /><Relationship Type="http://schemas.openxmlformats.org/officeDocument/2006/relationships/notesMaster" Target="/ppt/notesMasters/notesMaster1.xml" Id="R54214b10275243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80682cf2794c4f" /><Relationship Type="http://schemas.openxmlformats.org/officeDocument/2006/relationships/notesMaster" Target="/ppt/notesMasters/notesMaster1.xml" Id="R0460259dcb1342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43c41c5f714f40" /><Relationship Type="http://schemas.openxmlformats.org/officeDocument/2006/relationships/notesMaster" Target="/ppt/notesMasters/notesMaster1.xml" Id="Ra13e1f55a77b43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16f82d13d4420b" /><Relationship Type="http://schemas.openxmlformats.org/officeDocument/2006/relationships/notesMaster" Target="/ppt/notesMasters/notesMaster1.xml" Id="R5f0b90f087bc47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4a3ab4c25042c5" /><Relationship Type="http://schemas.openxmlformats.org/officeDocument/2006/relationships/notesMaster" Target="/ppt/notesMasters/notesMaster1.xml" Id="Rf3f8b2e991134a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e80ab8c1804e5c" /><Relationship Type="http://schemas.openxmlformats.org/officeDocument/2006/relationships/notesMaster" Target="/ppt/notesMasters/notesMaster1.xml" Id="Rc8c984c2babc46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1da96b31344fe4" /><Relationship Type="http://schemas.openxmlformats.org/officeDocument/2006/relationships/notesMaster" Target="/ppt/notesMasters/notesMaster1.xml" Id="Rf001f1b6f20446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47f9cffe2c4488" /><Relationship Type="http://schemas.openxmlformats.org/officeDocument/2006/relationships/notesMaster" Target="/ppt/notesMasters/notesMaster1.xml" Id="R8ac53c8f4a9944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3de1bdae6841eb" /><Relationship Type="http://schemas.openxmlformats.org/officeDocument/2006/relationships/notesMaster" Target="/ppt/notesMasters/notesMaster1.xml" Id="Rd06a4630dbcc42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e3a907236648bd" /><Relationship Type="http://schemas.openxmlformats.org/officeDocument/2006/relationships/notesMaster" Target="/ppt/notesMasters/notesMaster1.xml" Id="R6634f9f8c1d44e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9e4cdca2b94ae1" /><Relationship Type="http://schemas.openxmlformats.org/officeDocument/2006/relationships/notesMaster" Target="/ppt/notesMasters/notesMaster1.xml" Id="Rdd38c775124b40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314d99118046eb" /><Relationship Type="http://schemas.openxmlformats.org/officeDocument/2006/relationships/notesMaster" Target="/ppt/notesMasters/notesMaster1.xml" Id="Rc922412f8dbb4b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4571b7696b4c9f" /><Relationship Type="http://schemas.openxmlformats.org/officeDocument/2006/relationships/notesMaster" Target="/ppt/notesMasters/notesMaster1.xml" Id="R95d9bde416264a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9ebb945f7646d2" /><Relationship Type="http://schemas.openxmlformats.org/officeDocument/2006/relationships/notesMaster" Target="/ppt/notesMasters/notesMaster1.xml" Id="R6ac33896689241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5d27249ce64831" /><Relationship Type="http://schemas.openxmlformats.org/officeDocument/2006/relationships/notesMaster" Target="/ppt/notesMasters/notesMaster1.xml" Id="Rddd428f8915f4b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3c6e000bbc48f7" /><Relationship Type="http://schemas.openxmlformats.org/officeDocument/2006/relationships/notesMaster" Target="/ppt/notesMasters/notesMaster1.xml" Id="Ra1c0ff4c1cb545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054c0baa8c4ec2" /><Relationship Type="http://schemas.openxmlformats.org/officeDocument/2006/relationships/notesMaster" Target="/ppt/notesMasters/notesMaster1.xml" Id="R74c27d82463940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0c698fda7f4f69" /><Relationship Type="http://schemas.openxmlformats.org/officeDocument/2006/relationships/notesMaster" Target="/ppt/notesMasters/notesMaster1.xml" Id="R70ed2f8cb9754d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7e26bba72f4105" /><Relationship Type="http://schemas.openxmlformats.org/officeDocument/2006/relationships/notesMaster" Target="/ppt/notesMasters/notesMaster1.xml" Id="Ra6c2acf60f8f464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63da4bbb7f46d2" /><Relationship Type="http://schemas.openxmlformats.org/officeDocument/2006/relationships/notesMaster" Target="/ppt/notesMasters/notesMaster1.xml" Id="Rca3882577076419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a3951d0f1194369" /><Relationship Type="http://schemas.openxmlformats.org/officeDocument/2006/relationships/notesMaster" Target="/ppt/notesMasters/notesMaster1.xml" Id="Ra0c4fed735ab46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ab1dc5a6864b4f" /><Relationship Type="http://schemas.openxmlformats.org/officeDocument/2006/relationships/notesMaster" Target="/ppt/notesMasters/notesMaster1.xml" Id="R1144419ed3cb40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812d7570d44c4c" /><Relationship Type="http://schemas.openxmlformats.org/officeDocument/2006/relationships/notesMaster" Target="/ppt/notesMasters/notesMaster1.xml" Id="Rd985593642c14b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a4b236f9174394" /><Relationship Type="http://schemas.openxmlformats.org/officeDocument/2006/relationships/notesMaster" Target="/ppt/notesMasters/notesMaster1.xml" Id="R5fe43943b4014b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60169f21ad4d55" /><Relationship Type="http://schemas.openxmlformats.org/officeDocument/2006/relationships/notesMaster" Target="/ppt/notesMasters/notesMaster1.xml" Id="R981ef9ccd0fa4ae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21e6674e8984ec9" /><Relationship Type="http://schemas.openxmlformats.org/officeDocument/2006/relationships/notesMaster" Target="/ppt/notesMasters/notesMaster1.xml" Id="R9d24e3ea0740450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a6e85829374553" /><Relationship Type="http://schemas.openxmlformats.org/officeDocument/2006/relationships/notesMaster" Target="/ppt/notesMasters/notesMaster1.xml" Id="R3e30a7aeb3254a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uma tarefa de decisão pequena e ambígua. Primeiro Jev e RLCD; só depois Maestro.</a:t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genérico de triagem: suporte técnico, financeiro, comercial ou revisão humana. O software aplica a regra de encaminhamento.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if clássico executa condição escrita em código. Jev estima qual alternativa de um catálogo fechado se ajusta ao estado. A aplicação decide limiar, revisão humana e efeito permitido.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Primeiro System One Model público da TypeSafe. Diogo Almeida relata trabalho na OpenAI com seguimento de instruções; página da equipe o apresenta como coinventor de RLHF/InstructGPT. Origem não prova desempenho.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https://typesafe.ai/team  |  https://typesafe.ai/blog/introducing-system-one-models-and-jev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Mesmo state alimenta perguntas. Choice retorna choice, probabilities e confidence. O campo confidence resume concentração da distribuição e não é a probabilidade da opção escolhida.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https://docs.typesafe.ai/primitives/choice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Choice seleciona opção de catálogo. Noul responde pergunta binária. Score escolhe posição em escala ordenada. Perguntas podem compartilhar state, mas perguntas extras adicionam tokens de entrada.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https://docs.typesafe.ai/introduction/quickstart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um foco central. Jev não gera um parágrafo token a token. A API contabilizou 69 a 71 output_tokens por chamada na fixture JEV-41R. O fornecedor anuncia preço zero para output tokens, não zero tokens. Há input, rede e custo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https://typesafe.ai/blog/introducing-system-one-models-and-jev  |  results/jev-final-recovery-fixture.json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Cifras de velocidade/custo divulgadas pela TypeSafe são de seus próprios workflows e possivelmente estão na ponta alta. Comparação justa fixa entrada, qualidade exigida, custo, latência ponta a ponta e política de falha.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https://typesafe.ai/blog/introducing-system-one-models-and-jev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Inserir print da documentação oficial da TypeSafe (Choice, Noul/Score ou quickstart). Manter URL visível se possível. Esta área foi deixada livre de conteúdo de propósito. Fonte: https://docs.typesafe.ai/introduction/quickstart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Playground autenticado. Colar apenas frase sintética no state. Definir question id departamento, type Choice, instructions e quatro critérios. Perguntar previsão da sala. Ler resultado exibido, sem prometer escolha/probabilidade fixa.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https://console.typesafe.ai/  |  https://docs.typesafe.ai/introduction/quickstart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captura ou navegador do Playground. Antes de executar, perguntar à sala qual resultado espera. Depois ler choice, probabilities e confidence sem antecipar número. Não projetar chave ou dados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forma do request é state, model, questions. POST /v1/systemone ou client.system_one(...) devolve answers. Código deve conferir a resposta e aplicar política. jev-latest é didático; benchmark reproduzível fixa versão.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https://docs.typesafe.ai/introduction/quickstart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 s, ação a, recompensa r, próximo estado s’. Política pi(a|s) busca maximizar retorno esperado. RL é família de métodos; siglas seguintes diferem pelo sinal de qualidade e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Humanos comparam respostas. Essas preferências treinam um sinal/reward model em um roteiro clássico; a política é ajustada. Há variantes. Preferência não implica probabilidade calibrada.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https://docs.typesafe.ai/introduction/machine-learning-primer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Exemplos: problema de matemática ou teste executável. O resultado verificável fornece sinal. Acerto em tarefa verificável não garante, por si, calibração de probabilidades.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https://docs.typesafe.ai/introduction/machine-learning-primer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TypeSafe chama o método de Reinforcement Learning for Calibrated Decisions. Objetivo divulgado: decisões e probabilidades de boa qualidade. Receita pública não traz recompensa, dados, arquitetura, algoritmo e ablações suficientes para reconstruir ou atribuir causalidade.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https://typesafe.ai/blog/introducing-system-one-models-and-jev  |  https://docs.typesafe.ai/introduction/machine-learning-primer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100 decisões comparáveis são anunciadas com 0,8, esperamos cerca de 80 acertos. Um caso individual com 0,8 pode estar errado. Confidence do Jev não é idêntica à probabilidade da opção vencedora.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Brier multiclasses avalia distribuição. Top-label ECE compara confiança média e acerto por faixas. Usar holdout congelado, replicação e estratos de segurança. Não assumir que Brier/ECE compõem a recompensa interna do RLCD.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https://docs.typesafe.ai/introduction/machine-learning-primer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Casos de terceiros. Tamara Tran usa pontuações para manter/truncar/descartar contexto; o código faz a seleção. Daniel Avila escolhe uma skill antes de carregar mais contexto. Medir falso descarte e chamada extra; permitir nenhuma skill.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https://x.com/tamarajtran/status/2100694549362553153  |  https://x.com/dani_avila7/status/2101885477158547753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JevPilot é HighwayEnv com estado e ações fechadas, não carro real. PR triage de terceiro trabalha com diff limitado, não lê repo inteiro nem roda testes. Alegação de ~300ms/$0.00003 é da demo, não benchmark independente. Video Stefan e post Luiz não sustentam claim sem conferência.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https://x.com/jpschroeder/status/2100347770867458384  |  docs/study-groups/jev-rl-2026-10-01/external-case-assessment.md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 de terceiros: blitz 5+0, uma chamada por lance, sem busca. Jev venceu Fable 5.1 no tempo, apesar de Fable ter +16 de material e uma segunda dama no lance 29. Astra deu mate em 18 com 2:27 restante. Não inferir ranking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docs/study-groups/jev-rl-2026-10-01/external-case-assessment.md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Saída tipada não garante acerto. Laya mostra implementação local possível, mas benchmarks são de tarefa curta no M3 Max e não comparativos pareados com Jev nem Android. laya-mlx reporta medianas 7,39–13,42 ms sem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https://github.com/mizorewww/laya-mlx  |  https://x.com/mizorewww/status/2101473552956555427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Transição explícita: até aqui falei de Jev. Agora apresento o Maestro e sua fronteira de segurança.</a:t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Maestro hands-free: fala solicita ação; câmera sob demanda lê QR local ou talhão mapeado resolve alvo; estado/regras determinísticas; confirmação por áudio; Command JSON versionado; bridge ROS 2; robô no Gazebo. Não declarar hardware real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docs/privacy-data-flow.md  |  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Primeira menção das seis labels do Maestro. SPRAY, DOCK, UNDOCK, CONFIRM, CANCEL, UNKNOWN. SPRAY não implica docking. Classificador acerta intent, mas alvo e confirmação são separados. Se câmera vê plot-03 e fala pede plot-01, resultado é AMBIGUOUS sem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docs/study-groups/jev-rl-2026-10-01/choice-contract.md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Inserir print de JevIntentClassifier e/ou fronteira do proxy. Destacar que Jev substitui somente classificação em seis rótulos; Qwen permanece no UNKNOWN. Não incluir segredos em captura.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Execução usa local OU Jev; não há votação. Jev não vê foto, áudio, Command, WebSocket, ROS, estado do robô nem target. UNKNOWN continua LanguageRouter -&gt; QwenDomainAssistant. Utilidade potencial: menos regras linguísticas para catálogo fechado. Novas funções ainda exigem contrato, estado, segurança, corpus e testes.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AGENTS.md  |  docs/tasks/jev-experimental-decision.md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falas sintéticas pareadas, uma rodada. Local 48/60, Jev 54/60. Macro-F1 0,8026 vs 0,9010. Unsafe accepts 3 vs 1. ECE 0,0810 vs 0,0787, insuficiente para generalização. Medição do harness, não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results/jev-final-recovery-presentation.md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classificou CANCEL como CONFIRM com probabilidade 0,75 para a escolha. Aceitações inseguras 1 vs 3 no local. O erro é crítico em controle físico; decisão documentada HOLD. Não confundir p=0,75 com campo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results/jev-final-recovery-presentation.md  |  docs/tasks/jev-experimental-decision.md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p95 remoto 2100,575 ms; local 0,293 ms neste host. 60 chamadas remotas custaram US$0,001472394. Fixture registra 69–71 output_tokens por chamada; preço zero anunciado para saída. Não extrapolar para Android ou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results/jev-final-recovery-presentation.md  |  results/jev-final-recovery-fixture.json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Câmera: frame sob demanda, QR processado localmente em memória, target_id. Fala padrão: transcrição curta em memória, classificador local. Local não é detector geral de CPF. No mockDebug remoto: consentimento de sessão e bloqueio app/proxy para CPF/CNPJ, email, telefone, URL, texto longo/fora de escopo. Teste com CPF sintético. Não é anonimização nem LGPD integral.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docs/privacy-data-flow.md  |  docs/tasks/jev-remote-privacy-gate.md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Inserir vídeo conferido da jornada Android/MockDeviceKit -&gt; proxy Jev -&gt; confirmação -&gt; Command JSON -&gt; Gazebo. Dizer se é execução ao vivo ou gravação. Não afirmar hardware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Inserir vídeo de reserva. Se não houver vídeo, usar as três capturas offline em results/offline-demo e falar: fixture mock local, não executa robô, não prova chamada Jev remota nem ASR.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Jev oferece interface de decisão tipada e distribuição de probabilidades. RLCD tem objetivo divulgado, sem receita pública suficiente para atribuição causal. No Maestro, Jev melhorou média do corpus, mas com erro CANCEL -&gt; CONFIRM. Segurança depende de alvo, estado, confirmação e testes próprios. Próximo passo: medição melhor.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docs/tasks/jev-experimental-decision.md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debate de cinco minutos. Perguntas: qual reward/ablação para RLCD? Como montar holdout com ASR real e privacidade? Que custo importa: tokens, rede, p95, energia ou erro? O que manteria HOLD com macro-F1 maior?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 integral: /mnt/hddw/Users/felip/Documents/GitHub/maestro-agricola/docs/study-groups/jev-rl-2026-10-01/presentation-speech.md</a:t>
            </a:r>
          </a:p>
          <a:p xmlns:a="http://schemas.openxmlformats.org/drawingml/2006/main">
            <a:r>
              <a:t>Roteiro canônico: /mnt/hddw/Users/felip/Documents/GitHub/maestro-agricola/docs/study-groups/jev-rl-2026-10-01/presentation-script.md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5e012b49b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f187adb9443e9" /><Relationship Type="http://schemas.openxmlformats.org/officeDocument/2006/relationships/slideLayout" Target="/ppt/slideLayouts/slideLayout1.xml" Id="R0a7db85be706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7db85be706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2520e80ba4f05" /><Relationship Type="http://schemas.openxmlformats.org/officeDocument/2006/relationships/notesSlide" Target="/ppt/notesSlides/notesSlide1.xml" Id="R7bf3ee23714a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cd422afeb4acf" /><Relationship Type="http://schemas.openxmlformats.org/officeDocument/2006/relationships/notesSlide" Target="/ppt/notesSlides/notesSlide2.xml" Id="R8da075685d3e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05618f9674b92" /><Relationship Type="http://schemas.openxmlformats.org/officeDocument/2006/relationships/notesSlide" Target="/ppt/notesSlides/notesSlide3.xml" Id="R163e6544739442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86fee50fc4ebd" /><Relationship Type="http://schemas.openxmlformats.org/officeDocument/2006/relationships/notesSlide" Target="/ppt/notesSlides/notesSlide4.xml" Id="Rd89f0e6fc7b24c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a11466cba469b" /><Relationship Type="http://schemas.openxmlformats.org/officeDocument/2006/relationships/notesSlide" Target="/ppt/notesSlides/notesSlide5.xml" Id="R32725c73ff6640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e83a0277c4abf" /><Relationship Type="http://schemas.openxmlformats.org/officeDocument/2006/relationships/notesSlide" Target="/ppt/notesSlides/notesSlide6.xml" Id="R7a74d3b12a9245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735dad8b941fd" /><Relationship Type="http://schemas.openxmlformats.org/officeDocument/2006/relationships/notesSlide" Target="/ppt/notesSlides/notesSlide7.xml" Id="R2cf0336eb0e64b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f4ef33c94c92" /><Relationship Type="http://schemas.openxmlformats.org/officeDocument/2006/relationships/notesSlide" Target="/ppt/notesSlides/notesSlide8.xml" Id="Rf35d3402c5d34a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2982ee7c4675" /><Relationship Type="http://schemas.openxmlformats.org/officeDocument/2006/relationships/notesSlide" Target="/ppt/notesSlides/notesSlide9.xml" Id="Rea331dc97e60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1f5953e0b4739" /><Relationship Type="http://schemas.openxmlformats.org/officeDocument/2006/relationships/notesSlide" Target="/ppt/notesSlides/notesSlide10.xml" Id="R3ba295ad9d3041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563fbdf714181" /><Relationship Type="http://schemas.openxmlformats.org/officeDocument/2006/relationships/notesSlide" Target="/ppt/notesSlides/notesSlide11.xml" Id="Rdfcc96fbf53748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8de6a3713483c" /><Relationship Type="http://schemas.openxmlformats.org/officeDocument/2006/relationships/notesSlide" Target="/ppt/notesSlides/notesSlide12.xml" Id="R46b150505fea4f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0dd1203ba4099" /><Relationship Type="http://schemas.openxmlformats.org/officeDocument/2006/relationships/notesSlide" Target="/ppt/notesSlides/notesSlide13.xml" Id="R74ffc6abde134b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143a5cc64af0" /><Relationship Type="http://schemas.openxmlformats.org/officeDocument/2006/relationships/notesSlide" Target="/ppt/notesSlides/notesSlide14.xml" Id="Re0df3d2f963046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5e59786e44cb1" /><Relationship Type="http://schemas.openxmlformats.org/officeDocument/2006/relationships/notesSlide" Target="/ppt/notesSlides/notesSlide15.xml" Id="R0d686f69da144b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9e3e7cf474736" /><Relationship Type="http://schemas.openxmlformats.org/officeDocument/2006/relationships/notesSlide" Target="/ppt/notesSlides/notesSlide16.xml" Id="R2788b339fc5444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b2c28e4a34132" /><Relationship Type="http://schemas.openxmlformats.org/officeDocument/2006/relationships/notesSlide" Target="/ppt/notesSlides/notesSlide17.xml" Id="Re1724dce4be24a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bdf7a3812469f" /><Relationship Type="http://schemas.openxmlformats.org/officeDocument/2006/relationships/notesSlide" Target="/ppt/notesSlides/notesSlide18.xml" Id="R3832f40ab9164e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4d6b50548452f" /><Relationship Type="http://schemas.openxmlformats.org/officeDocument/2006/relationships/notesSlide" Target="/ppt/notesSlides/notesSlide19.xml" Id="Re49b2862906443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57e269af94a80" /><Relationship Type="http://schemas.openxmlformats.org/officeDocument/2006/relationships/notesSlide" Target="/ppt/notesSlides/notesSlide20.xml" Id="R8640768e2dec4d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bcfc5c4354272" /><Relationship Type="http://schemas.openxmlformats.org/officeDocument/2006/relationships/notesSlide" Target="/ppt/notesSlides/notesSlide21.xml" Id="R8edc827a16b240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3e99fdc7f44a3" /><Relationship Type="http://schemas.openxmlformats.org/officeDocument/2006/relationships/notesSlide" Target="/ppt/notesSlides/notesSlide22.xml" Id="R7b2014e0c5ea44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cdeddee3c40b2" /><Relationship Type="http://schemas.openxmlformats.org/officeDocument/2006/relationships/notesSlide" Target="/ppt/notesSlides/notesSlide23.xml" Id="Ra65a5fa4477e40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69ec95674505" /><Relationship Type="http://schemas.openxmlformats.org/officeDocument/2006/relationships/notesSlide" Target="/ppt/notesSlides/notesSlide24.xml" Id="R53f90592515e42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337b7325b44fb" /><Relationship Type="http://schemas.openxmlformats.org/officeDocument/2006/relationships/notesSlide" Target="/ppt/notesSlides/notesSlide25.xml" Id="Rc7162645768d4d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a181dc30d4d05" /><Relationship Type="http://schemas.openxmlformats.org/officeDocument/2006/relationships/notesSlide" Target="/ppt/notesSlides/notesSlide26.xml" Id="R0d655ce821e340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d15240028459a" /><Relationship Type="http://schemas.openxmlformats.org/officeDocument/2006/relationships/notesSlide" Target="/ppt/notesSlides/notesSlide27.xml" Id="Re858eb0fb35940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f2e2c58644a3e" /><Relationship Type="http://schemas.openxmlformats.org/officeDocument/2006/relationships/notesSlide" Target="/ppt/notesSlides/notesSlide28.xml" Id="R7db2c174e7014a7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932668fcc43ca" /><Relationship Type="http://schemas.openxmlformats.org/officeDocument/2006/relationships/notesSlide" Target="/ppt/notesSlides/notesSlide29.xml" Id="Rada0e6000a8346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b330ab204edd" /><Relationship Type="http://schemas.openxmlformats.org/officeDocument/2006/relationships/notesSlide" Target="/ppt/notesSlides/notesSlide30.xml" Id="Rbbe00065a47447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6659b30ba44dc" /><Relationship Type="http://schemas.openxmlformats.org/officeDocument/2006/relationships/notesSlide" Target="/ppt/notesSlides/notesSlide31.xml" Id="Ra7a98d60a454464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4db3096e94f3b" /><Relationship Type="http://schemas.openxmlformats.org/officeDocument/2006/relationships/notesSlide" Target="/ppt/notesSlides/notesSlide32.xml" Id="R8a4ddbe9b4f04e8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2cf5b78b5458b" /><Relationship Type="http://schemas.openxmlformats.org/officeDocument/2006/relationships/notesSlide" Target="/ppt/notesSlides/notesSlide33.xml" Id="R49e1cd4206f04fc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0ebffa2ae4a29" /><Relationship Type="http://schemas.openxmlformats.org/officeDocument/2006/relationships/notesSlide" Target="/ppt/notesSlides/notesSlide34.xml" Id="Rfdcdc540d14344a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5c8e92de14de1" /><Relationship Type="http://schemas.openxmlformats.org/officeDocument/2006/relationships/notesSlide" Target="/ppt/notesSlides/notesSlide35.xml" Id="Rc735e7a4becd4e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776B5-E8CE-4F97-8E8F-1A0464F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1848-F962-4023-B3C9-03BF73B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7E510-A5B6-46E3-84FA-F7E8E361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3825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8005C-69B6-4131-A45E-93EE4E12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4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GRUPO DE ESTUDOS  /  REINFORCEMENT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F813D-89D1-44AF-B4D9-0A8CB91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57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Jev, RLCD e decisões</a:t>
            </a:r>
          </a:p>
          <a:p xmlns:a="http://schemas.openxmlformats.org/drawingml/2006/main">
            <a:pPr algn="l">
              <a:defRPr sz="5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que cabem num 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C8C9C-251E-4A34-B596-99D4A32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Do conceito à avaliação no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1C33A-4570-4F14-97C6-FF3D5E3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01 OUT 2026</a:t>
            </a:r>
          </a:p>
        </p:txBody>
      </p:sp>
    </p:spTree>
    <p:extLst>
      <p:ext uri="{BB962C8B-B14F-4D97-AF65-F5344CB8AC3E}">
        <p14:creationId xmlns:p14="http://schemas.microsoft.com/office/powerpoint/2010/main" val="1759695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0EC73-1107-4C0B-830F-CBBD3E9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7411E-6E1D-4520-9781-5EBD054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A1C5D-3EC9-42E8-862D-C3A5421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1B905-0BA7-4FF8-A863-4B691B9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32548-2B8B-4048-B133-FD6A5ECA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Uma decisão pequena, repetida milhares de vezes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98E03-98A7-429F-8A07-083B694D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B895C-C8ED-4304-8336-24FCCAD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4B694-A165-4AB2-8978-AF69909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5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CHAMADO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29518-C76D-4667-846E-F49BF0B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914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78"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58CDC"/>
                </a:solidFill>
                <a:latin typeface="Lato"/>
                <a:ea typeface="Lato"/>
                <a:cs typeface="Lato"/>
              </a:defRPr>
            </a:pPr>
            <a:r>
              <a:rPr sz="7350" b="1">
                <a:solidFill>
                  <a:srgbClr val="F58CDC"/>
                </a:solidFill>
                <a:latin typeface="Lato"/>
                <a:ea typeface="Lato"/>
                <a:cs typeface="Lato"/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C17FF-70DE-4A48-934D-8E5C2785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7221B"/>
                </a:solidFill>
                <a:latin typeface="Lato"/>
                <a:ea typeface="Lato"/>
                <a:cs typeface="Lato"/>
              </a:rPr>
              <a:t>“Minha integração de pagamentos falha há três dias.”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08BCA-9ECE-4400-A4E8-2F2DBC6F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7221B"/>
                </a:solidFill>
                <a:latin typeface="Lato"/>
                <a:ea typeface="Lato"/>
                <a:cs typeface="Lato"/>
              </a:rPr>
              <a:t>“Estou perdendo vendas e preciso de ajuda hoje.”</a:t>
            </a:r>
          </a:p>
        </p:txBody>
      </p:sp>
    </p:spTree>
    <p:extLst>
      <p:ext uri="{BB962C8B-B14F-4D97-AF65-F5344CB8AC3E}">
        <p14:creationId xmlns:p14="http://schemas.microsoft.com/office/powerpoint/2010/main" val="2052609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49CC2-DAE8-48D5-9466-BDFEFE6C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E558C-9D10-4844-A1FE-0AFB0ECC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00CAC-B99A-4249-ADDA-A97262F4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CONCEITO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33848-2CFE-4C2E-8576-64AAF918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8412D-FF30-4F81-984E-F694952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A metáfora do “if com IA”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93006-E7A7-4AC6-AF8E-3C5472F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67F75-1689-4FD4-8728-1C757B2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6A25B-9C0C-4E72-ADEC-09C4D2F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IF CLÁSSICO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30617-5DCD-4A02-80A6-6DDD9C8E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condição escrita</a:t>
            </a:r>
          </a:p>
          <a:p xmlns:a="http://schemas.openxmlformats.org/drawingml/2006/main">
            <a:pPr algn="l">
              <a:defRPr sz="2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pela equipe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D6731-D4A3-469A-9207-89B72B9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JEV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BE0B6-E07F-4C2D-9036-4CF5476C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003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alternativa estimada</a:t>
            </a:r>
          </a:p>
          <a:p xmlns:a="http://schemas.openxmlformats.org/drawingml/2006/main">
            <a:pPr algn="l">
              <a:defRPr sz="2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por modelo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DE256-AC3B-4E06-913F-59BEF78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71503-2BB1-499D-A095-89385D4E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720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09261F"/>
                </a:solidFill>
                <a:latin typeface="Lato"/>
                <a:ea typeface="Lato"/>
                <a:cs typeface="Lato"/>
              </a:rPr>
              <a:t>Política e execução continuam no código da aplicação</a:t>
            </a:r>
          </a:p>
        </p:txBody>
      </p:sp>
    </p:spTree>
    <p:extLst>
      <p:ext uri="{BB962C8B-B14F-4D97-AF65-F5344CB8AC3E}">
        <p14:creationId xmlns:p14="http://schemas.microsoft.com/office/powerpoint/2010/main" val="14230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109FF-3BBF-406A-8F82-50D3F6C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6B2BE-8207-4E22-8B8F-BB84EBB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64F23-966B-4C04-85E8-1EFD86A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ORIGEM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F43B0-5DE4-4D68-8B62-1287C4B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A69E9-B91D-430D-B3BE-7873E39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TypeSafe apresenta Jev como modelo para decisões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3F1B5-524E-4EC1-AC1A-DED2774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6697-C9CA-46CC-958F-7877E63C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DDBA1-CD95-40AA-8F15-FBA18B83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9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TYPE SAFE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38B9C-7361-40EF-A3D0-8EF801F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66"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8850" b="1">
                <a:solidFill>
                  <a:srgbClr val="09261F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C034D-DF03-4003-9B87-901CD8C5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Diogo Almeida</a:t>
            </a:r>
          </a:p>
          <a:p xmlns:a="http://schemas.openxmlformats.org/drawingml/2006/main">
            <a:pPr algn="l">
              <a:defRPr sz="27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trabalhou na OpenAI com instruction following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336FC-86EC-41F2-9082-028EB813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46C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46C"/>
                </a:solidFill>
                <a:latin typeface="Lato"/>
                <a:ea typeface="Lato"/>
                <a:cs typeface="Lato"/>
              </a:rPr>
              <a:t>“System One” é uma proposta de produto, não uma equivalência cognitiva demonstrada.</a:t>
            </a:r>
          </a:p>
        </p:txBody>
      </p:sp>
    </p:spTree>
    <p:extLst>
      <p:ext uri="{BB962C8B-B14F-4D97-AF65-F5344CB8AC3E}">
        <p14:creationId xmlns:p14="http://schemas.microsoft.com/office/powerpoint/2010/main" val="1485234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E1D14-210C-4A2C-95D8-63031F74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24FA7-CB8A-49EB-BA6D-A9F417C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880BF-2A0A-4E13-9187-67570D01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E9A60-5E29-4324-8892-604C587F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C35F7-4092-4509-A645-C4137B94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Choice devolve um catálogo fechado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68687-7700-48F9-A172-B6DAAED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775E7-EB00-47D0-B267-054FDC93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CC6AE-2623-44BA-910F-C0F213F9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PERGUNTA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55A6E-E3BD-480C-AB6D-049C39E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07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Qual equipe recebe este chamado?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28B26-5997-4BEA-997C-F9F7D42D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600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09261F"/>
                </a:solidFill>
                <a:latin typeface="Lato"/>
                <a:ea typeface="Lato"/>
                <a:cs typeface="Lato"/>
              </a:rPr>
              <a:t>técnico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9A9A6-0306-49CB-A4B1-5E7B035E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43325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p(técnico)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5F874-011D-4F0C-8760-2CA6923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00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09261F"/>
                </a:solidFill>
                <a:latin typeface="Lato"/>
                <a:ea typeface="Lato"/>
                <a:cs typeface="Lato"/>
              </a:rPr>
              <a:t>financeiro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8F46C-784A-427C-AAC9-9C2640A5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C5BB6-F6D0-467C-82A3-358F1D4F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600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09261F"/>
                </a:solidFill>
                <a:latin typeface="Lato"/>
                <a:ea typeface="Lato"/>
                <a:cs typeface="Lato"/>
              </a:rPr>
              <a:t>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CC904-F0D3-4969-A084-198FFCD8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91075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D01AA-25DF-48AB-8F7C-63BE791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600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09261F"/>
                </a:solidFill>
                <a:latin typeface="Lato"/>
                <a:ea typeface="Lato"/>
                <a:cs typeface="Lato"/>
              </a:rPr>
              <a:t>revisão humana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F6E3E-0CAA-456C-A8A1-7C6E15D2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6944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6DB18-50E4-4ED1-A7C9-83AD043F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6BB4-699B-4364-8095-C61A4D9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B8584-ECD3-4BCA-B473-A8E6C617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PRIMITIVAS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ED59-1E1D-4A09-B4A7-6BD68D67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9D564-C53E-4696-978B-78D50964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Choice, Noul e Score respondem perguntas diferentes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33342-3932-4F99-9BCB-F29C6D01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449F9-2668-41CA-AFA4-8D5B73F1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201ED-B0F0-49A0-A566-169DDED5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D48DF-4587-4C11-9324-F8D65534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Qual equipe?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DDB49-6137-420F-841E-E94A6E1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47925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técnico / financeiro / comercial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0B376-0E90-4A68-9DEA-C5E35EAD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48126-7D14-4A90-99FC-51A6FCC9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NOUL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877FF-E18F-402E-9366-6347C514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Há urgência explícita?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4EAD7-A9AC-4AE8-904A-371D993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sim / não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FF9B2-AE27-45DF-B6A1-E47D2E91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8F802-1A09-47F2-87B6-0BD7FCB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33128-2928-493E-B3B9-AB1BD8C5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Quanto há de frustração?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2706A-091E-4944-8AC7-6653146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33975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baixo  …  alto</a:t>
            </a:r>
          </a:p>
        </p:txBody>
      </p:sp>
    </p:spTree>
    <p:extLst>
      <p:ext uri="{BB962C8B-B14F-4D97-AF65-F5344CB8AC3E}">
        <p14:creationId xmlns:p14="http://schemas.microsoft.com/office/powerpoint/2010/main" val="2095238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029AE-3BD4-4737-BBED-4F3C9253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20C9C-3AD8-43B9-B5A0-6F90840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B940E-E19A-49BD-A01C-A52EF04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A0346-2D6A-4456-84D1-92DBD5BE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CB88F-2AA5-4BAE-95FC-6F7232D4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Tokens de saída: uso e cobrança são coisas diferentes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43332-D8AD-4B47-A677-7952A616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1CDC9-5B25-4420-8359-7858A71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332B-B799-40DB-9CC4-77BB0DD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NA NOSSA FIXTURE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AF598-F331-4699-89DF-2B1E850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7800" b="1">
                <a:solidFill>
                  <a:srgbClr val="09261F"/>
                </a:solidFill>
                <a:latin typeface="Lato"/>
                <a:ea typeface="Lato"/>
                <a:cs typeface="Lato"/>
              </a:rPr>
              <a:t>69–71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4875D-1922-459C-8610-4148CAAD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17221B"/>
                </a:solidFill>
                <a:latin typeface="Lato"/>
                <a:ea typeface="Lato"/>
                <a:cs typeface="Lato"/>
              </a:rPr>
              <a:t>output_tokens por chamada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07A2A-85B7-41F5-B47B-169995C2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50B48-9381-4BE0-A5E1-138E3F0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71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ANÚNCIO DA TYPESAFE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67899-C420-4004-8BC0-45C18501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9555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58CDC"/>
                </a:solidFill>
                <a:latin typeface="Lato"/>
                <a:ea typeface="Lato"/>
                <a:cs typeface="Lato"/>
              </a:defRPr>
            </a:pPr>
            <a:r>
              <a:rPr sz="7800" b="1">
                <a:solidFill>
                  <a:srgbClr val="F58CDC"/>
                </a:solidFill>
                <a:latin typeface="Lato"/>
                <a:ea typeface="Lato"/>
                <a:cs typeface="Lato"/>
              </a:rPr>
              <a:t>US$ 0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81CFD-8571-43A3-B18D-2694473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4619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17221B"/>
                </a:solidFill>
                <a:latin typeface="Lato"/>
                <a:ea typeface="Lato"/>
                <a:cs typeface="Lato"/>
              </a:rPr>
              <a:t>cobrados por tokens de saída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93F66-77C2-4178-90FC-514A0CF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Saída curta ≠ chamada gratuita</a:t>
            </a:r>
          </a:p>
        </p:txBody>
      </p:sp>
    </p:spTree>
    <p:extLst>
      <p:ext uri="{BB962C8B-B14F-4D97-AF65-F5344CB8AC3E}">
        <p14:creationId xmlns:p14="http://schemas.microsoft.com/office/powerpoint/2010/main" val="1378971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5A82D-6731-446F-B839-E3DAF8B6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4273D-FDC5-406C-A771-87324C87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B4011-77FC-4CE2-BE71-E400FFF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COMPARAÇÃO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59AF3-B297-4922-8816-17BFFBEC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72696-7335-43C3-8E9D-20375DB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Compare Jev e LLM na mesma tarefa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C3961-F44D-481B-AF2A-1DB792F8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B66A8-1328-48D4-B11A-F5EB9DE1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FA00A-8C25-42DB-821E-EB92D3D2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LLM GENERATIVO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2CEC5-93D8-4778-A66C-CEF1891F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texto aberto</a:t>
            </a:r>
          </a:p>
          <a:p xmlns:a="http://schemas.openxmlformats.org/drawingml/2006/main">
            <a:pPr algn="l">
              <a:defRPr sz="29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validar schema depois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06170-8F56-41D0-8121-3C5561E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JEV /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B706B-F47B-4835-9024-36F1755C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uma escolha permitida</a:t>
            </a:r>
          </a:p>
          <a:p xmlns:a="http://schemas.openxmlformats.org/drawingml/2006/main">
            <a:pPr algn="l">
              <a:defRPr sz="29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validar política depois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D0A0A-4C11-4873-A7D8-1D54A73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8829A-0B9F-4927-984B-1552C3C3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09261F"/>
                </a:solidFill>
                <a:latin typeface="Lato"/>
                <a:ea typeface="Lato"/>
                <a:cs typeface="Lato"/>
              </a:rPr>
              <a:t>Entrada  ·  qualidade  ·  p95  ·  custo  ·  risco do erro</a:t>
            </a:r>
          </a:p>
        </p:txBody>
      </p:sp>
    </p:spTree>
    <p:extLst>
      <p:ext uri="{BB962C8B-B14F-4D97-AF65-F5344CB8AC3E}">
        <p14:creationId xmlns:p14="http://schemas.microsoft.com/office/powerpoint/2010/main" val="504766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666E8-AE1F-4C9B-B438-8C2D8196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2817D-B2CB-4806-9EED-07E1EEB9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96E67-D00C-4DE0-804B-C4FFB0E6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CAPTURA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0EDF4-9F2E-4F94-8600-3DDDFE2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B7453-C880-4A40-97F1-2BD2FDEB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Documentação do Jev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85C84-0653-4D8E-B4A6-8F8E2CA9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A0436-DED0-4A46-A2AE-7A4352A4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454-8621-448C-B7C9-ED2A68E5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C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A0CD4-1BC1-40C5-8E34-94F9410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ÁREA LIVRE PARA INSERIR PRINT DA DOCUMENTAÇÃO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B8E49-7B0D-4E59-B148-886C50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334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17238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EE01B-18D6-4736-9AA2-BB0CBE3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C3DEB-F8BE-4901-8F91-8DB22E86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393C7-D55B-4DA6-84A6-E553D0D6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PLAYGROUND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7C2C1-2184-46F8-A404-49F02C6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22823-2BBD-406B-85A9-59C264C5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Um chamado de suporte no Playground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CE010-C6BC-4907-9F11-37DE595B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684A3-6EEB-4EE3-8332-67AE05CB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2CB89-8480-4D1D-B43B-AAA81327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25713-6E91-42F9-A84B-F6CDEE2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17221B"/>
                </a:solidFill>
                <a:latin typeface="Lato"/>
                <a:ea typeface="Lato"/>
                <a:cs typeface="Lato"/>
              </a:rPr>
              <a:t>“Minha integração de pagamentos falha há três dias.</a:t>
            </a:r>
          </a:p>
          <a:p xmlns:a="http://schemas.openxmlformats.org/drawingml/2006/main">
            <a:pPr algn="l">
              <a:defRPr sz="2250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17221B"/>
                </a:solidFill>
                <a:latin typeface="Lato"/>
                <a:ea typeface="Lato"/>
                <a:cs typeface="Lato"/>
              </a:rPr>
              <a:t>Estou perdendo vendas e preciso de ajuda hoje.”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A82F0-793C-4BBD-B223-B205108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QUESTION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AB9FD-1D8C-42D9-8F31-6250B24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550" b="1">
                <a:solidFill>
                  <a:srgbClr val="17221B"/>
                </a:solidFill>
                <a:latin typeface="Liberation Mono"/>
                <a:ea typeface="Liberation Mono"/>
                <a:cs typeface="Liberation Mono"/>
              </a:rPr>
              <a:t>departamento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3BD1D-1F19-4B13-912A-40B19AC0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CRITERIA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64ECA-BD77-42EF-BFD2-949C0C9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5286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21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221B"/>
                </a:solidFill>
                <a:latin typeface="Liberation Mono"/>
                <a:ea typeface="Liberation Mono"/>
                <a:cs typeface="Liberation Mono"/>
              </a:rPr>
              <a:t>técnico   financeiro</a:t>
            </a:r>
          </a:p>
          <a:p xmlns:a="http://schemas.openxmlformats.org/drawingml/2006/main">
            <a:pPr algn="l">
              <a:defRPr sz="1875" b="0">
                <a:solidFill>
                  <a:srgbClr val="17221B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7221B"/>
                </a:solidFill>
                <a:latin typeface="Liberation Mono"/>
                <a:ea typeface="Liberation Mono"/>
                <a:cs typeface="Liberation Mono"/>
              </a:rPr>
              <a:t>comercial   revisão humana</a:t>
            </a:r>
          </a:p>
        </p:txBody>
      </p:sp>
    </p:spTree>
    <p:extLst>
      <p:ext uri="{BB962C8B-B14F-4D97-AF65-F5344CB8AC3E}">
        <p14:creationId xmlns:p14="http://schemas.microsoft.com/office/powerpoint/2010/main" val="697846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0EDDA-519E-48E8-AC6F-F3DA5CE2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81F5E-9EBB-4AAC-8F8B-1B44E4F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8E843-8AFE-46C2-BE9E-63331FD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CAPTURA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B569E-7D0C-4179-942E-51C112C6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48F0C-2DE6-40C7-9889-6564D76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Playground ao vivo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8C6C3-2CD8-48C5-9074-56642CC0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DFFEA-1EEC-43E4-9F1F-FF9BD10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ED769-5C22-4AF9-9934-C1DEF177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C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BEDC7-1690-42F3-A023-B82E12A3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ÁREA LIVRE PARA INSERIR TESTE NO PLAYGROUND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DB640-FE1C-4F12-A33B-3BB61C1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334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51661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BE9C9-0C14-43E0-8FBE-AB36E1E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25424-A567-484B-BFB5-CACA361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768E4-CE56-4B43-AB70-5FC5255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/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CD50C-EB9A-47E6-9914-F7BEAA86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FEA91-8995-45E6-921D-C023DE12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O Playground vira uma chamada de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AB4F8-0F12-46F2-A799-606393C8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096E8-2416-4DC7-A011-513E740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4490-0480-482B-A860-2DA1F88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7165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"state": "Minha integração de pagamentos falha...",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"model": "jev-latest",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"questions": {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  "departamento": {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    "type": "choice",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    "instructions": "Qual equipe recebe o chamado?",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    "criteria": {"tecnico": "...", "financeiro": "...",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                 "comercial": "...", "revisao_humana": "..."}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  }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  }</a:t>
            </a:r>
          </a:p>
          <a:p xmlns:a="http://schemas.openxmlformats.org/drawingml/2006/main">
            <a:pPr algn="l">
              <a:def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0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2440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FEFE2-821B-45E2-A469-4424C59F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0D2C4-72F0-4AD3-87B4-63E2D8DA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REINFORCEMENT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0D105-CC4E-4A1E-8B7F-8E880E9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7C2CB-E730-457D-9F00-F392540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O ciclo de 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B2D0-E83A-41FD-ABB4-31631895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721EC-2173-4002-8461-F2E5C5FC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6704-9201-4F65-B4D7-FF8447F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2385A-4583-4581-A924-8F93D08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CC58D-52EE-4E9B-A407-FDE575C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71825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557"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375" b="0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8B8FC-BC70-4C3E-8FF7-35D9CB5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POLÍTICA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B326A-DB86-4EA3-BA68-46322A8B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86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π(a|s)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01926-3754-41E9-B037-1B21CEBB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71825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557"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375" b="0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6ACC0-D6C5-4F7D-BE15-740A8EEF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560C2-4392-4CF4-BAEF-3EE36A93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86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4E287-A324-4B5B-BF67-598B3BE7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71825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557"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375" b="0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6E2C5-9C2D-47D0-968C-9FD6B474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RECOMPENSA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9EDE1-2D7A-49F7-BD6A-2D6FE838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860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94F92-207B-4126-AF4D-AA4B605A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C5CEC0"/>
                </a:solidFill>
                <a:latin typeface="Lato"/>
                <a:ea typeface="Lato"/>
                <a:cs typeface="Lato"/>
              </a:rPr>
              <a:t>O treino altera a política para aumentar retorno esperado</a:t>
            </a:r>
          </a:p>
        </p:txBody>
      </p:sp>
    </p:spTree>
    <p:extLst>
      <p:ext uri="{BB962C8B-B14F-4D97-AF65-F5344CB8AC3E}">
        <p14:creationId xmlns:p14="http://schemas.microsoft.com/office/powerpoint/2010/main" val="4598851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7BDFF-ECD0-48B3-94BC-7E6002C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CEB6C-8E31-40FD-832F-38719BD6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RL / PREFERÊNCIAS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782C8-BA68-4CC8-A609-DA8FEEA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651BD-B1CA-4DAC-A75B-7C4E096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RLHF usa preferência humana como sinal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86409-D565-42C5-99AD-F98D32D8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4305C-B921-4D9F-8728-90CC5E5E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6145B-0459-4A73-86FD-33B54318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F4F2E9"/>
                </a:solidFill>
                <a:latin typeface="Lato"/>
                <a:ea typeface="Lato"/>
                <a:cs typeface="Lato"/>
              </a:rPr>
              <a:t>Pessoas comparam respostas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7E715-EA74-48A2-8CF3-54C81DF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F4F2E9"/>
                </a:solidFill>
                <a:latin typeface="Lato"/>
                <a:ea typeface="Lato"/>
                <a:cs typeface="Lato"/>
              </a:rPr>
              <a:t>Um sinal aprendido aproxima a preferência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50A42-3BD1-4941-9CBF-E7C84CDF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F4F2E9"/>
                </a:solidFill>
                <a:latin typeface="Lato"/>
                <a:ea typeface="Lato"/>
                <a:cs typeface="Lato"/>
              </a:rPr>
              <a:t>A política favorece respostas preferidas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167AF-9EF5-49C1-95C2-A1455B2E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Preferível para humanos ≠ 80% de acerto quando declara 0,8</a:t>
            </a:r>
          </a:p>
        </p:txBody>
      </p:sp>
    </p:spTree>
    <p:extLst>
      <p:ext uri="{BB962C8B-B14F-4D97-AF65-F5344CB8AC3E}">
        <p14:creationId xmlns:p14="http://schemas.microsoft.com/office/powerpoint/2010/main" val="9424035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50813-CEF1-4BD1-AC15-B88C67F7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FC24-E46A-4E50-9A10-AF77DCA1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RL / VERIFICAÇÃO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24834-78DA-4227-9574-EC5917E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BD17E-FBD9-4B9F-9A9B-C0A4AF90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RLVR usa um verificador da tarefa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34DC-96F0-4A34-B62B-80987802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E0B88-CE8D-4CE3-93B5-BDCFE7B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43219-EB01-46D6-B89C-42690373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EXEMPLOS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9624F-C882-46D3-B4EC-AD221C1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resultado matemático</a:t>
            </a:r>
          </a:p>
          <a:p xmlns:a="http://schemas.openxmlformats.org/drawingml/2006/main">
            <a:pPr algn="l">
              <a:defRPr sz="33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3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teste executável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59494-0585-4B42-875C-111E07F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4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53361-883D-4A1C-8248-B4DDEEC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OBJETIVO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C3F29-426C-46C4-AD37-FA594D80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acertar segundo um</a:t>
            </a:r>
          </a:p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critério verificável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E2DA9-350A-414B-988D-E86D6F63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C5CEC0"/>
                </a:solidFill>
                <a:latin typeface="Lato"/>
                <a:ea typeface="Lato"/>
                <a:cs typeface="Lato"/>
              </a:rPr>
              <a:t>Verificação de resposta e calibração são avaliações distintas</a:t>
            </a:r>
          </a:p>
        </p:txBody>
      </p:sp>
    </p:spTree>
    <p:extLst>
      <p:ext uri="{BB962C8B-B14F-4D97-AF65-F5344CB8AC3E}">
        <p14:creationId xmlns:p14="http://schemas.microsoft.com/office/powerpoint/2010/main" val="207875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588F1-26E5-4EC8-84DB-DDD54B1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FC09-114D-421B-AAE7-F545E5DF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RLCD /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63BD8-E9F4-4963-BC76-A252D41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B2142-13C8-48AD-A7C9-335BB203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RLCD: decisões com probabilidades calibradas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FCF72-601F-4E4A-AB60-F96939AB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6B5F-E8A6-4D18-87B8-DB70CC6A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55433-39C6-4125-932B-8EACA85D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99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0,8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F553E-F6D0-4BA9-A985-5DD3E68E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6572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significa aproximadamente 80 acertos</a:t>
            </a:r>
          </a:p>
          <a:p xmlns:a="http://schemas.openxmlformats.org/drawingml/2006/main">
            <a:pPr algn="l">
              <a:defRPr sz="322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em 100 casos comparáveis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387A0-9558-4A23-8FC6-AF27BC24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C5CEC0"/>
                </a:solidFill>
                <a:latin typeface="Lato"/>
                <a:ea typeface="Lato"/>
                <a:cs typeface="Lato"/>
              </a:rPr>
              <a:t>Objetivo público claro. Receita de treino ainda insuficiente para reprodução.</a:t>
            </a:r>
          </a:p>
        </p:txBody>
      </p:sp>
    </p:spTree>
    <p:extLst>
      <p:ext uri="{BB962C8B-B14F-4D97-AF65-F5344CB8AC3E}">
        <p14:creationId xmlns:p14="http://schemas.microsoft.com/office/powerpoint/2010/main" val="17988777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FFEC2-3A2D-4E9D-81EC-EB1A56F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2F89E-77DE-4207-BD61-EDB80640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RLCD / CALIBRAÇÃO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38746-659A-4803-A95C-A1552BC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AD84A-ADF6-4C6F-A37C-8A97537A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Calibração é propriedade de grupos de previsões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C0FA4-63B3-49E6-B05B-19757A4E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D0A53-8177-4625-AE12-8577C2C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0EACA-3FF3-498E-952C-15870A25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100 PREVISÕES A 0,8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AE3CE-417A-47FC-A899-25C17711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90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90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≈ 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AD55F-5F2F-4B40-AD14-E62CCF3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acertos esperados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23893-7CDF-478E-AF33-B08CB004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FFA2F-BAA7-4BEA-AFEE-F1103EB1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Um único erro com 0,8</a:t>
            </a:r>
          </a:p>
          <a:p xmlns:a="http://schemas.openxmlformats.org/drawingml/2006/main">
            <a:pPr algn="l">
              <a:defRPr sz="322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continua possível</a:t>
            </a:r>
          </a:p>
        </p:txBody>
      </p:sp>
    </p:spTree>
    <p:extLst>
      <p:ext uri="{BB962C8B-B14F-4D97-AF65-F5344CB8AC3E}">
        <p14:creationId xmlns:p14="http://schemas.microsoft.com/office/powerpoint/2010/main" val="13844054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0F08D-FAFF-401B-AE85-1A6C0EE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13C3A-26F3-4217-874E-63D9D530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RLCD / AVALIAÇÃO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0FEAF-FEB0-4D5B-BCC7-19555172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15AB3-3A13-492F-BC6F-13122E45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A promessa precisa de holdout e custos de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6998D-6DA2-4078-99C7-323C5962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544E5-48A3-4412-9106-738B9A8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A2C23-83F3-4C63-9DC3-46D5B69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ACERTO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2BE8A-2694-4281-9893-221E8E3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9547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Classe escolhida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38339-F594-417C-93AF-57FC40AA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ABFEA-6DAB-43A2-A760-2D123BB2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BRIER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68A1E-C060-4C93-BB07-6D6B3DEB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4797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Distribuição inteira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BB2B1-4D83-4548-AD4B-74FBD978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40501-2869-4F93-B8DA-B3E06751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ECE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D2C8D-E642-460D-A8F2-BDE9947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0047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Frequência por faixa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A1FFE-96D3-4A96-AE82-B596CB30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CBE07-1BA1-416B-8FF5-7A19F14D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SEGURANÇA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1BA0D-2C2F-4147-AB2B-4DC09969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5297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Falso aceite crítico</a:t>
            </a:r>
          </a:p>
        </p:txBody>
      </p:sp>
    </p:spTree>
    <p:extLst>
      <p:ext uri="{BB962C8B-B14F-4D97-AF65-F5344CB8AC3E}">
        <p14:creationId xmlns:p14="http://schemas.microsoft.com/office/powerpoint/2010/main" val="9272543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3FF72-7E1C-4CF9-AC5A-3BF1EED7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39DDB-EDF8-4E28-8ADD-468C194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2371E-5F16-4227-BDFD-9F2978CB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EXEMPLOS EXTERNOS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93389-2171-4C70-A1D3-E5840F57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A2561-44C3-490B-ACFE-80185C45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Jev em compaction e seleção de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7DEB-0F10-4872-9CDC-9EDF00E1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72D0-F1CD-4361-B9D8-8E298648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5CF1D-F434-48F4-862E-7E2CFDC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COMPACTION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C50D-1D98-4475-A153-C09536E5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40005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manter</a:t>
            </a:r>
          </a:p>
          <a:p xmlns:a="http://schemas.openxmlformats.org/drawingml/2006/main">
            <a:pPr algn="l">
              <a:defRPr sz="3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truncar</a:t>
            </a:r>
          </a:p>
          <a:p xmlns:a="http://schemas.openxmlformats.org/drawingml/2006/main">
            <a:pPr algn="l">
              <a:defRPr sz="3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descartar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33E50-C944-4B38-A93E-2146895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F3892-088D-4C0E-A12F-1776EBA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55670-2DB6-47F4-BA66-8F332B72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62225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carregar uma</a:t>
            </a:r>
          </a:p>
          <a:p xmlns:a="http://schemas.openxmlformats.org/drawingml/2006/main">
            <a:pPr algn="l">
              <a:defRPr sz="3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ou nenhuma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5CEDB-A2CB-472F-BD70-93EF618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09261F"/>
                </a:solidFill>
                <a:latin typeface="Lato"/>
                <a:ea typeface="Lato"/>
                <a:cs typeface="Lato"/>
              </a:rPr>
              <a:t>A decisão é curta. O sistema executa a consequência.</a:t>
            </a:r>
          </a:p>
        </p:txBody>
      </p:sp>
    </p:spTree>
    <p:extLst>
      <p:ext uri="{BB962C8B-B14F-4D97-AF65-F5344CB8AC3E}">
        <p14:creationId xmlns:p14="http://schemas.microsoft.com/office/powerpoint/2010/main" val="4903526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C0845-0711-4C29-BF7D-681023C8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D1502-7512-4827-ABAA-28141548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05F93-9D33-4D51-BFA0-F3E2B499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EXEMPLOS EXTERNOS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CD985-2034-40EF-AAA2-B6A8C7D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4E646-3DF9-4A73-B076-795D318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Simulação e triagem de PR têm limites claros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39F23-A3D7-4FED-9E55-3E7C7E3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07D91-20E6-407D-9924-F98BEBA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A98FD-5E31-4543-9DD2-6129818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JEVPILOT / HIGHWAYENV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A4B87-E211-4E01-AA96-BC3934F8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estado fechado + ações permitidas</a:t>
            </a:r>
          </a:p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simulação, sem câmera de carro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65B16-952C-4DFD-878C-91EE68EA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49D8B-E990-4A08-972F-379B455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TRIAGEM DE 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49991-A62B-4982-8BBD-847FF04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diff limitado + decisão curta</a:t>
            </a:r>
          </a:p>
          <a:p xmlns:a="http://schemas.openxmlformats.org/drawingml/2006/main">
            <a:pPr algn="l">
              <a:defRPr sz="25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não substitui testes nem revisão</a:t>
            </a:r>
          </a:p>
        </p:txBody>
      </p:sp>
    </p:spTree>
    <p:extLst>
      <p:ext uri="{BB962C8B-B14F-4D97-AF65-F5344CB8AC3E}">
        <p14:creationId xmlns:p14="http://schemas.microsoft.com/office/powerpoint/2010/main" val="14205662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4E497-4547-49BB-9DC0-D3907BB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F7F34-8A70-42C6-9EA7-66E28C4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AC7C2-5453-45DC-A942-BA132173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XADREZ /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BF5DE-D14D-46B1-85B6-2CFBDB00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DC60-5E2B-4DCC-9194-D70E717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Relógio e busca mudam a leitura do xadrez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19C21-6F74-43BD-9A4F-F3808152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5021B-F728-4408-AFE4-92596F23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75B28-05EA-479F-B92A-D2A4E8B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CONTRA FABLE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DFB56-0FFD-4D21-BDF9-E9803495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6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tempo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1FD3E-5B74-4BF4-BE22-0B12F429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7221B"/>
                </a:solidFill>
                <a:latin typeface="Lato"/>
                <a:ea typeface="Lato"/>
                <a:cs typeface="Lato"/>
              </a:rPr>
              <a:t>Jev venceu no relógio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742C0-1666-4358-B1D0-BF23C69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955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9094F-355E-4E0F-8547-3DEBBAC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CONTRA ASTRA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DCDA3-C333-4DEC-B822-B4ABB71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19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6225" b="1">
                <a:solidFill>
                  <a:srgbClr val="17221B"/>
                </a:solidFill>
                <a:latin typeface="Lato"/>
                <a:ea typeface="Lato"/>
                <a:cs typeface="Lato"/>
              </a:rPr>
              <a:t>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78FFE-1560-4E0B-A683-60C4ACAB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7221B"/>
                </a:solidFill>
                <a:latin typeface="Lato"/>
                <a:ea typeface="Lato"/>
                <a:cs typeface="Lato"/>
              </a:rPr>
              <a:t>em 18 lances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C1C39-6B96-4D8F-AD2B-27CCCF69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09261F"/>
                </a:solidFill>
                <a:latin typeface="Lato"/>
                <a:ea typeface="Lato"/>
                <a:cs typeface="Lato"/>
              </a:rPr>
              <a:t>Uma partida não mede força geral em xadrez</a:t>
            </a:r>
          </a:p>
        </p:txBody>
      </p:sp>
    </p:spTree>
    <p:extLst>
      <p:ext uri="{BB962C8B-B14F-4D97-AF65-F5344CB8AC3E}">
        <p14:creationId xmlns:p14="http://schemas.microsoft.com/office/powerpoint/2010/main" val="17010939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51E02-7BE6-4C8D-B993-9A88B45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8F9F5-6F8C-4BB4-90CF-22863B0C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BBAC3-EE6E-4834-BBFC-792FB90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LIMITES / ALTERNATIVA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AE3ED-53FA-414E-B5F8-D8BBB558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33096-8014-4AAC-90B5-F4D8E312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Laya: alternativa local, comparação ainda aberta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B5B7E-98EE-4694-B74E-C26247F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EAD7B-7486-49E2-9B58-C4E1305D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E8314-3F55-4712-82DF-0EFD727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58CDC"/>
                </a:solidFill>
                <a:latin typeface="Liberation Mono"/>
                <a:ea typeface="Liberation Mono"/>
                <a:cs typeface="Liberation Mono"/>
              </a:rPr>
              <a:t>LAYA-MLX / PESOS ABERTOS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06A31-3C77-405E-B40B-F0F4DDD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9261F"/>
                </a:solidFill>
                <a:latin typeface="Lato"/>
                <a:ea typeface="Lato"/>
                <a:cs typeface="Lato"/>
              </a:defRPr>
            </a:pPr>
            <a:r>
              <a:rPr sz="5850" b="1">
                <a:solidFill>
                  <a:srgbClr val="09261F"/>
                </a:solidFill>
                <a:latin typeface="Lato"/>
                <a:ea typeface="Lato"/>
                <a:cs typeface="Lato"/>
              </a:rPr>
              <a:t>7,39–13,42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70CA-3DCC-4792-8A73-C0B48D3A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4807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7221B"/>
                </a:solidFill>
                <a:latin typeface="Lato"/>
                <a:ea typeface="Lato"/>
                <a:cs typeface="Lato"/>
              </a:rPr>
              <a:t>medianas para uma pergunta curta no M3 Max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00B32-2D48-4D35-B285-01220A7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C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98C1D-C67F-48EA-BE1F-65E4F773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863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6746C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66746C"/>
                </a:solidFill>
                <a:latin typeface="Lato"/>
                <a:ea typeface="Lato"/>
                <a:cs typeface="Lato"/>
              </a:rPr>
              <a:t>Sem tempo de carga. Sem comparação pareada com Jev ou Android.</a:t>
            </a:r>
          </a:p>
        </p:txBody>
      </p:sp>
    </p:spTree>
    <p:extLst>
      <p:ext uri="{BB962C8B-B14F-4D97-AF65-F5344CB8AC3E}">
        <p14:creationId xmlns:p14="http://schemas.microsoft.com/office/powerpoint/2010/main" val="10824465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BD65C-C5A4-4BAE-A60C-8B093D78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C5E78-E1C5-4686-A065-5613BFE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SEGUNDA PARTE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5F44E-693A-48A5-9470-099BB372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Agora, o Maestro Agrícola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8AE5B-8558-4698-9641-5C80DB0A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8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A pergunta: Jev ajuda uma etapa real deste sistema?</a:t>
            </a:r>
          </a:p>
        </p:txBody>
      </p:sp>
    </p:spTree>
    <p:extLst>
      <p:ext uri="{BB962C8B-B14F-4D97-AF65-F5344CB8AC3E}">
        <p14:creationId xmlns:p14="http://schemas.microsoft.com/office/powerpoint/2010/main" val="14082252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D7FC6-8E77-4534-B406-860B57C4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FC437-F0C1-4FD9-824F-0F9DAF3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FLUXO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1A1A1-A340-4349-92AD-52D52FAE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8907E-B99E-4D22-8A98-BCC9443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Da fala ao robô há regras e confirmação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E083B-A5FC-4A2C-8465-D4579AB7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2CECA-E9AC-402D-BEC3-D2479A50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76149-3B70-4EF6-A6D3-87A8DF0C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24050"/>
            <a:ext cx="71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AC99-74D8-4132-83C5-B4B9A0B2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FALA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9282E-8324-4F26-9F1D-1561EDB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2887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FF4AE-FBC1-4C27-93A2-6F1078F3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62225"/>
            <a:ext cx="71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8A5CB-1CEF-44B5-86C6-A6963DBB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E6059-F24B-4EBE-A4C3-26475873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67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A8089-79DC-4D01-9194-FEF0D83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71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8BFCE-A104-49A0-990B-33C7FDEF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0400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28B81-5E83-4BE2-9555-77EA0444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052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F6406-7B26-4330-9424-5CA3896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38575"/>
            <a:ext cx="71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F822D-A80E-432E-A11F-9C91AC0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CONFIRMAÇÃO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67B16-5864-434A-AE26-CC207CF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434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85FD7-3739-4F17-B9F4-D0CCA504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76750"/>
            <a:ext cx="71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50960-CD9E-421D-BECA-91B2650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COMMAND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57289-B006-4F37-A9C9-D1E0D3F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8157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E9856-7581-4CBA-BE51-583611E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14925"/>
            <a:ext cx="71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2025" b="0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49F13-53EE-4285-8932-EFD5E8F2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1492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ROS / GAZEBO</a:t>
            </a:r>
          </a:p>
        </p:txBody>
      </p:sp>
    </p:spTree>
    <p:extLst>
      <p:ext uri="{BB962C8B-B14F-4D97-AF65-F5344CB8AC3E}">
        <p14:creationId xmlns:p14="http://schemas.microsoft.com/office/powerpoint/2010/main" val="11201079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59DBF-258C-40ED-A7A6-30B768A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C05C2-5F4C-4FEC-B0A4-8E943769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CONTRATO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D7948-2F44-4984-873D-77CEFEE2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B9ECE-31AD-4255-B0D2-B44BA4F4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Choice escolhe entre seis intents operacionais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D4627-DC02-4725-B303-2BC0C952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1ECCB-E4EA-4FB8-9802-DC387313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CE1D-BBA0-4D5A-A5AC-566F6BD0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D18E-01AA-4CE1-B8F3-ACAD1FC4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05025"/>
            <a:ext cx="302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SPRAY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593E1-A03D-4EC9-AC56-35B6E5A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8E3A4-2D8F-4235-8170-D979F1EB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05025"/>
            <a:ext cx="302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DOCK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81668-15E0-48E4-9D09-DB81F14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53DEC-53E7-48BA-A299-E991273D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05025"/>
            <a:ext cx="302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UNDOCK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DD02F-2418-4258-8767-47347886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C2B4D-67C3-4195-A4B0-02DB53A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33775"/>
            <a:ext cx="302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CONFIRM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9F8EB-D9D3-4920-9BAA-54D733E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7F0BD-69E6-4C0F-A809-278455AA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533775"/>
            <a:ext cx="302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CANCEL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09E11-4C39-4F84-9865-5E03574C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296DA-AB2D-4041-8C1D-78AF70D5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33775"/>
            <a:ext cx="302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UNKNOWN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D80EE-EC74-42DB-8006-40E5A61D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C5CEC0"/>
                </a:solidFill>
                <a:latin typeface="Lato"/>
                <a:ea typeface="Lato"/>
                <a:cs typeface="Lato"/>
              </a:rPr>
              <a:t>QR / alvo e confirmação continuam fora do classificador</a:t>
            </a:r>
          </a:p>
        </p:txBody>
      </p:sp>
    </p:spTree>
    <p:extLst>
      <p:ext uri="{BB962C8B-B14F-4D97-AF65-F5344CB8AC3E}">
        <p14:creationId xmlns:p14="http://schemas.microsoft.com/office/powerpoint/2010/main" val="11810170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05F05-9D6B-479A-B0FE-C06F562E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CD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89BA9-AE25-4057-88C3-4D11C81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9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CC0C1-0F71-45FA-AE9C-3A1599BE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CAPTURA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96C0D-4975-46E6-A428-7B1D6A05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09261F"/>
                </a:solidFill>
                <a:latin typeface="Liberation Mono"/>
                <a:ea typeface="Liberation Mono"/>
                <a:cs typeface="Liberation Mono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71546-650E-4A85-90CE-C1680579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21B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7221B"/>
                </a:solidFill>
                <a:latin typeface="Lato"/>
                <a:ea typeface="Lato"/>
                <a:cs typeface="Lato"/>
              </a:rPr>
              <a:t>Código Jev no Maestro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24F56-CB1A-438E-A240-C1116576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7157E-759E-4D46-817C-ADDC0ACF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66210-1A59-4195-A0EB-48578702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8C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0868D-B9BA-4E76-AA81-0CDF8F69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66746C"/>
                </a:solidFill>
                <a:latin typeface="Liberation Mono"/>
                <a:ea typeface="Liberation Mono"/>
                <a:cs typeface="Liberation Mono"/>
              </a:rPr>
              <a:t>ÁREA LIVRE PARA INSERIR PRINT DO CÓDIGO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82B57-BBB3-4FCC-85EC-8E158D08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334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876023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8D908-036F-4F24-8615-8C638EE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D9C4B-9909-42AC-9E82-07888A9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HIPÓTESE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480C4-5D81-4EA4-A87F-E536BCE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E6D54-EE9C-473E-B8A5-D24D1F2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Jev substitui apenas o classificador de fala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F77A7-F42D-4690-B867-B90C8154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DB046-56C1-4432-8EE6-FB22F90B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BE668-412F-4EDA-A999-7630F35D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6D830-81DD-4BC3-9712-9F8B81F1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3150" b="1">
                <a:solidFill>
                  <a:srgbClr val="F4F2E9"/>
                </a:solidFill>
                <a:latin typeface="Liberation Mono"/>
                <a:ea typeface="Liberation Mono"/>
                <a:cs typeface="Liberation Mono"/>
              </a:rPr>
              <a:t>LocalIntentClassifier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8FC29-F9EE-4051-85E8-AA9ECAE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5F6B9-290A-42F5-A1B6-2089223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EXPERIMENTO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0E25E-4D2C-45DB-BF84-782891CB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2E9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3150" b="1">
                <a:solidFill>
                  <a:srgbClr val="F4F2E9"/>
                </a:solidFill>
                <a:latin typeface="Liberation Mono"/>
                <a:ea typeface="Liberation Mono"/>
                <a:cs typeface="Liberation Mono"/>
              </a:rPr>
              <a:t>JevIntentClassifier</a:t>
            </a:r>
          </a:p>
        </p:txBody>
      </p:sp>
    </p:spTree>
    <p:extLst>
      <p:ext uri="{BB962C8B-B14F-4D97-AF65-F5344CB8AC3E}">
        <p14:creationId xmlns:p14="http://schemas.microsoft.com/office/powerpoint/2010/main" val="10108962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8CBD8-982B-4EE8-AFBF-E5BCEC0C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665E8-D6E0-4826-8FA6-9FA86C4A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EE522-B407-4FB2-9C4A-69EEC22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856FA-5658-495B-8823-C46CECE1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No corpus sintético, Jev acertou mais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D38B2-0094-4942-A81A-D7902863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C0092-EC97-4204-9C9C-6BE13B07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06033-F19E-4E1B-9E5A-17E820E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240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CC6C0-FB56-457F-BB7B-CBAC3964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336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72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70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48 /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A1915-9A60-49CF-8041-411EAE8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338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macro-F1  0,8026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38724-3581-42D4-9078-70549A53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C0E69-3C6C-4587-B773-74F9DB58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240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JEV REMOTO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DF2E3-2842-4FB2-A4F0-A4DA06D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336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72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705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54 / 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C8977-5A2C-4B5A-BA1E-DF7F727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338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macro-F1  0,9010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4FDDC-8AC6-4F97-BD78-B72192EE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863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n = 60  ·  uma rodada  ·  falas sintéticas</a:t>
            </a:r>
          </a:p>
        </p:txBody>
      </p:sp>
    </p:spTree>
    <p:extLst>
      <p:ext uri="{BB962C8B-B14F-4D97-AF65-F5344CB8AC3E}">
        <p14:creationId xmlns:p14="http://schemas.microsoft.com/office/powerpoint/2010/main" val="11861197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6FFCD-ABEE-40BE-A8CE-B7FB847F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1DEAE-27BC-4A34-B565-39D73005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07965-8536-430C-A625-A9AC4FC5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F63D0-6DB5-45A7-8142-7BBE1D03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Um erro crítico manteve a decisão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E0ACC-208E-4547-840E-AC1B71C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86BC-C6FA-410D-A965-53800612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C978A-EE4F-48B8-A920-0EEAFD58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CASO RECOVERY-045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B2D02-DF4F-4173-95EF-9317AD50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4905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607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CANCEL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0E5E7-7AD9-447F-A822-25052B2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C25335"/>
                </a:solidFill>
                <a:latin typeface="Lato"/>
                <a:ea typeface="Lato"/>
                <a:cs typeface="Lato"/>
              </a:defRPr>
            </a:pPr>
            <a:r>
              <a:rPr sz="4050" b="0">
                <a:solidFill>
                  <a:srgbClr val="C25335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E3F6F-6BB2-49A1-A072-58EA6F26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71750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607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CONFIRM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3A8CA-032F-486D-A72A-ABA8D4D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probabilidade da escolha: 0,75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E168F-2BED-4DC8-85DD-D13C0034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339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07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Decisão de adoção: HOLD</a:t>
            </a:r>
          </a:p>
        </p:txBody>
      </p:sp>
    </p:spTree>
    <p:extLst>
      <p:ext uri="{BB962C8B-B14F-4D97-AF65-F5344CB8AC3E}">
        <p14:creationId xmlns:p14="http://schemas.microsoft.com/office/powerpoint/2010/main" val="609108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34AAF-F853-4DFD-B7F8-B07DDF1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642E1-2A85-4917-83F5-67622E9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CUSTO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F49E6-A4A2-49B9-B29C-F3772052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FAB5F-0D3B-462E-80C9-BD0FF28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O p95 remoto foi 2,1 s neste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CAD1C-7A7B-4647-85DD-6668412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40D5B-A92F-4B86-A7FC-E417A88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4B676-C47C-4885-B473-1003F909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LATÊNCIA P95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C535E-8C32-455C-B214-24BB2F5D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81"/>
          </a:bodyPr>
          <a:lstStyle xmlns:a="http://schemas.openxmlformats.org/drawingml/2006/main"/>
          <a:p xmlns:a="http://schemas.openxmlformats.org/drawingml/2006/main">
            <a:pPr algn="l">
              <a:defRPr sz="802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802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2,1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1026B-348F-44B5-8C92-BA1D2E1B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C5CEC0"/>
                </a:solidFill>
                <a:latin typeface="Lato"/>
                <a:ea typeface="Lato"/>
                <a:cs typeface="Lato"/>
              </a:rPr>
              <a:t>Jev remoto  /  host de teste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01876-AFCC-48BB-A4DF-FB8B449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1BCD4-2759-4DA3-B479-4A24425F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09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CUSTO DAS 60 CHAMADAS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187E3-76A3-4C32-9D5C-CB4AE431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765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43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US$ 0,00147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5BE0C-234C-4E72-9D90-C160A3AD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862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C5CEC0"/>
                </a:solidFill>
                <a:latin typeface="Lato"/>
                <a:ea typeface="Lato"/>
                <a:cs typeface="Lato"/>
              </a:rPr>
              <a:t>69–71 output_tokens por chamada</a:t>
            </a:r>
          </a:p>
        </p:txBody>
      </p:sp>
    </p:spTree>
    <p:extLst>
      <p:ext uri="{BB962C8B-B14F-4D97-AF65-F5344CB8AC3E}">
        <p14:creationId xmlns:p14="http://schemas.microsoft.com/office/powerpoint/2010/main" val="15880059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960DF-3498-4FAF-BB40-7CA6DD34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B5F8B-FF2E-4726-BA51-D5338154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MAESTRO / PRIVACIDADE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876B9-FF4F-416D-8950-7651B33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B137C-A7B3-4B35-B2A3-61E92CD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O gate remoto bloqueia padrões antes da rede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D9A32-5A83-47C1-B2D2-2A12101F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77770-36B2-43D1-BF8E-C34C106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84140-4A70-4769-BE4E-E9FF3B81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CÂMERA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FEF86-4CCC-4D16-A0E8-03DC8DEF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475" b="1">
                <a:solidFill>
                  <a:srgbClr val="F4F2E9"/>
                </a:solidFill>
                <a:latin typeface="Lato"/>
                <a:ea typeface="Lato"/>
                <a:cs typeface="Lato"/>
              </a:rPr>
              <a:t>frame local → QR → target_id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E07E7-6B05-48F6-AC3F-6A860C54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432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4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A31CC-137D-45A1-9C94-0FB4ADEB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FALA REMOTA (MOCKDEBUG)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4C5CF-5EA0-4AB7-A036-E691911E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671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padrões evidentes bloqueados antes do Jev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E8627-9ED4-4D13-8029-63934BB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673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5CEC0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C5CEC0"/>
                </a:solidFill>
                <a:latin typeface="Lato"/>
                <a:ea typeface="Lato"/>
                <a:cs typeface="Lato"/>
              </a:rPr>
              <a:t>Barreira preventiva; não detecta todo dado pessoal</a:t>
            </a:r>
          </a:p>
        </p:txBody>
      </p:sp>
    </p:spTree>
    <p:extLst>
      <p:ext uri="{BB962C8B-B14F-4D97-AF65-F5344CB8AC3E}">
        <p14:creationId xmlns:p14="http://schemas.microsoft.com/office/powerpoint/2010/main" val="13594145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A7479-99F1-4773-A8C4-477543D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D912D-39D6-45F3-99BD-824F69A4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VÍDEO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D0C97-5ED2-456B-8F05-A18911F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DA95C-7F49-4ECC-9B13-9A222D63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Vídeo da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41609-55BC-449C-9EC0-A7AAA3EF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BF397-14E9-4112-A8EC-EC87ACE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9647E-00BF-491A-A433-38D6C2A3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CC93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7D421-5F3C-457B-928B-575D9FA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ÁREA LIVRE PARA INSERIR VÍDEO MAESTRO + JEV + GAZEBO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27D31-4478-4DD6-AEDC-E980C44E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334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543326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84FA7-E482-455A-98C8-2D11A6F2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868A5-DCB5-4713-ACAE-85697D0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VÍDEO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FD6C6-D486-4F82-87B8-BE5F354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CC924-1EBF-401A-AAC8-5FD0BF3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Reserva da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18D4A-B425-4FF0-A8C8-3224BC79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8D5C9-87B3-4262-9C65-291301C8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3AC16-686C-4B56-AD83-2F2D64EA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CC93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E70FE-9EBD-4D07-B265-0D3DF2C5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00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ÁREA LIVRE PARA INSERIR VÍDEO DE RESERVA OU CAPTURAS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40B5E-817E-4E91-BB6D-4F14E07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0334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378296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8535B-D080-48CC-9E2A-7EE13E5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D3107-437B-4716-9F3E-FB3A4601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1769C-D6CD-40F9-A8E3-556C25D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6F74B-C89B-41B1-92B4-F2B59F8D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A média melhorou; a adoção ficou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18D47-FB80-444E-B2B5-14CFDEF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FE334-FFA4-48D5-8EB5-64C3800B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CB93F-EAF2-4F4F-B5C5-040E2477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7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52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21DB-EBA2-47F4-AEE2-81584C8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F4F2E9"/>
                </a:solidFill>
                <a:latin typeface="Lato"/>
                <a:ea typeface="Lato"/>
                <a:cs typeface="Lato"/>
              </a:rPr>
              <a:t>decisão fechada e probabilidades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DFF8F-176D-440A-841A-CC0BE7D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7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52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RLCD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CAD64-F728-45DA-9EC6-02E5790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F4F2E9"/>
                </a:solidFill>
                <a:latin typeface="Lato"/>
                <a:ea typeface="Lato"/>
                <a:cs typeface="Lato"/>
              </a:rPr>
              <a:t>hipótese técnica a avaliar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F50DC-C560-407C-8C10-15DCDC1A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7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3525" b="1">
                <a:solidFill>
                  <a:srgbClr val="FCC931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C30A2-4781-4AF2-BE75-03529448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0075"/>
            <a:ext cx="809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700" b="0">
                <a:solidFill>
                  <a:srgbClr val="F4F2E9"/>
                </a:solidFill>
                <a:latin typeface="Lato"/>
                <a:ea typeface="Lato"/>
                <a:cs typeface="Lato"/>
              </a:rPr>
              <a:t>gates antes do robô</a:t>
            </a:r>
          </a:p>
        </p:txBody>
      </p:sp>
    </p:spTree>
    <p:extLst>
      <p:ext uri="{BB962C8B-B14F-4D97-AF65-F5344CB8AC3E}">
        <p14:creationId xmlns:p14="http://schemas.microsoft.com/office/powerpoint/2010/main" val="17400343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9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B91F4-1E9F-4E09-A393-22DC731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4E4CD-3D69-490D-957E-6FE022C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1">
                <a:solidFill>
                  <a:srgbClr val="94B85F"/>
                </a:solidFill>
                <a:latin typeface="Liberation Mono"/>
                <a:ea typeface="Liberation Mono"/>
                <a:cs typeface="Liberation Mono"/>
              </a:rPr>
              <a:t>DEBATE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A02AC-33EF-4D45-912F-FB9E42F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75" b="1">
                <a:solidFill>
                  <a:srgbClr val="FCC931"/>
                </a:solidFill>
                <a:latin typeface="Liberation Mono"/>
                <a:ea typeface="Liberation Mono"/>
                <a:cs typeface="Liberation Mono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646EB-1A83-40BF-8FFD-BD83ED0D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F4F2E9"/>
                </a:solidFill>
                <a:latin typeface="Lato"/>
                <a:ea typeface="Lato"/>
                <a:cs typeface="Lato"/>
              </a:rPr>
              <a:t>Que evidência mudaria o HOLD?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396AD-C250-40A3-9165-A336C573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579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4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FD8DC-125C-4A49-B8EC-27CA4E26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714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050" b="0">
                <a:solidFill>
                  <a:srgbClr val="C5CEC0"/>
                </a:solidFill>
                <a:latin typeface="Liberation Mono"/>
                <a:ea typeface="Liberation Mono"/>
                <a:cs typeface="Liberation Mono"/>
              </a:rPr>
              <a:t>JEV  /  RLCD  /  MAESTRO AGRÍCOLA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7349D-052D-4E29-AA57-38E0C90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43125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F4F2E9"/>
                </a:solidFill>
                <a:latin typeface="Lato"/>
                <a:ea typeface="Lato"/>
                <a:cs typeface="Lato"/>
              </a:rPr>
              <a:t>Qual recompensa e que ablações testariam RLCD?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60D66-0406-4731-A3EE-AF555A8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F4F2E9"/>
                </a:solidFill>
                <a:latin typeface="Lato"/>
                <a:ea typeface="Lato"/>
                <a:cs typeface="Lato"/>
              </a:rPr>
              <a:t>Como montar holdout de ASR real sem expor pessoas?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1DE82-49A4-4786-8968-87A49398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4F2E9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F4F2E9"/>
                </a:solidFill>
                <a:latin typeface="Lato"/>
                <a:ea typeface="Lato"/>
                <a:cs typeface="Lato"/>
              </a:rPr>
              <a:t>Qual custo pesa mais: latência, rede ou erro crítico?</a:t>
            </a:r>
          </a:p>
        </p:txBody>
      </p:sp>
    </p:spTree>
    <p:extLst>
      <p:ext uri="{BB962C8B-B14F-4D97-AF65-F5344CB8AC3E}">
        <p14:creationId xmlns:p14="http://schemas.microsoft.com/office/powerpoint/2010/main" val="1487154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2026-09-26T17:01:28.1830000Z</dcterms:created>
  <dcterms:modified xsi:type="dcterms:W3CDTF">2026-09-26T17:01:28.1830000Z</dcterms:modified>
</coreProperties>
</file>