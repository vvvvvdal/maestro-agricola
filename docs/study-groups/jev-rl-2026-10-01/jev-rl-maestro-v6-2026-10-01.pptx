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699d419911412d" /><Relationship Type="http://schemas.openxmlformats.org/officeDocument/2006/relationships/extended-properties" Target="/docProps/app.xml" Id="Rf16911bdb05d4f4b" /><Relationship Type="http://schemas.openxmlformats.org/officeDocument/2006/relationships/officeDocument" Target="/ppt/presentation.xml" Id="R792784b4b3704f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b8e6cf67fc421b"/>
  </p:sldMasterIdLst>
  <p:notesMasterIdLst>
    <p:notesMasterId xmlns:r="http://schemas.openxmlformats.org/officeDocument/2006/relationships" r:id="Rd70038fc80c04ba4"/>
  </p:notesMasterIdLst>
  <p:sldIdLst>
    <p:sldId xmlns:r="http://schemas.openxmlformats.org/officeDocument/2006/relationships" id="256" r:id="Ra99c9f29a444458f"/>
    <p:sldId xmlns:r="http://schemas.openxmlformats.org/officeDocument/2006/relationships" id="257" r:id="Rc77fd40bd51b4683"/>
    <p:sldId xmlns:r="http://schemas.openxmlformats.org/officeDocument/2006/relationships" id="258" r:id="R4d187b1e2c824c40"/>
    <p:sldId xmlns:r="http://schemas.openxmlformats.org/officeDocument/2006/relationships" id="259" r:id="R6611d54a8ae74388"/>
    <p:sldId xmlns:r="http://schemas.openxmlformats.org/officeDocument/2006/relationships" id="260" r:id="R1d59294e4ad748b2"/>
    <p:sldId xmlns:r="http://schemas.openxmlformats.org/officeDocument/2006/relationships" id="261" r:id="R70e3979461c8475b"/>
    <p:sldId xmlns:r="http://schemas.openxmlformats.org/officeDocument/2006/relationships" id="262" r:id="Rd2b293e2cbe047bc"/>
    <p:sldId xmlns:r="http://schemas.openxmlformats.org/officeDocument/2006/relationships" id="263" r:id="R710b3d6cacfb4076"/>
    <p:sldId xmlns:r="http://schemas.openxmlformats.org/officeDocument/2006/relationships" id="264" r:id="Rd39bca6d771f4762"/>
    <p:sldId xmlns:r="http://schemas.openxmlformats.org/officeDocument/2006/relationships" id="265" r:id="R102ef0ac07a24625"/>
    <p:sldId xmlns:r="http://schemas.openxmlformats.org/officeDocument/2006/relationships" id="266" r:id="R860ab2c32c3746e6"/>
    <p:sldId xmlns:r="http://schemas.openxmlformats.org/officeDocument/2006/relationships" id="267" r:id="Rb4da45c61c474637"/>
    <p:sldId xmlns:r="http://schemas.openxmlformats.org/officeDocument/2006/relationships" id="268" r:id="R7c15b4a3b05441cb"/>
    <p:sldId xmlns:r="http://schemas.openxmlformats.org/officeDocument/2006/relationships" id="269" r:id="Rc7b3d799b68d44e9"/>
    <p:sldId xmlns:r="http://schemas.openxmlformats.org/officeDocument/2006/relationships" id="270" r:id="Rccb521d1509d45ce"/>
    <p:sldId xmlns:r="http://schemas.openxmlformats.org/officeDocument/2006/relationships" id="271" r:id="R8167ce639aed4d0f"/>
    <p:sldId xmlns:r="http://schemas.openxmlformats.org/officeDocument/2006/relationships" id="272" r:id="Rcccbd9d711ab44d2"/>
    <p:sldId xmlns:r="http://schemas.openxmlformats.org/officeDocument/2006/relationships" id="273" r:id="R6652a880ebe44cc2"/>
    <p:sldId xmlns:r="http://schemas.openxmlformats.org/officeDocument/2006/relationships" id="274" r:id="Rd9c13982747c4f4c"/>
    <p:sldId xmlns:r="http://schemas.openxmlformats.org/officeDocument/2006/relationships" id="275" r:id="Rbb7c40ec914f491c"/>
    <p:sldId xmlns:r="http://schemas.openxmlformats.org/officeDocument/2006/relationships" id="276" r:id="R21283660d1c74566"/>
    <p:sldId xmlns:r="http://schemas.openxmlformats.org/officeDocument/2006/relationships" id="277" r:id="Rb541d30a652e4bf5"/>
    <p:sldId xmlns:r="http://schemas.openxmlformats.org/officeDocument/2006/relationships" id="278" r:id="R2da640eaeb2d4e3b"/>
    <p:sldId xmlns:r="http://schemas.openxmlformats.org/officeDocument/2006/relationships" id="279" r:id="R97067b47b3554f5d"/>
    <p:sldId xmlns:r="http://schemas.openxmlformats.org/officeDocument/2006/relationships" id="280" r:id="R7cd6bd5433b64b4f"/>
    <p:sldId xmlns:r="http://schemas.openxmlformats.org/officeDocument/2006/relationships" id="281" r:id="Rcef9adb5d7034660"/>
    <p:sldId xmlns:r="http://schemas.openxmlformats.org/officeDocument/2006/relationships" id="282" r:id="R05f4d36d502b4788"/>
    <p:sldId xmlns:r="http://schemas.openxmlformats.org/officeDocument/2006/relationships" id="283" r:id="R0c423cd0f5804d03"/>
    <p:sldId xmlns:r="http://schemas.openxmlformats.org/officeDocument/2006/relationships" id="284" r:id="R195fb2678b6f4fba"/>
    <p:sldId xmlns:r="http://schemas.openxmlformats.org/officeDocument/2006/relationships" id="285" r:id="Rcd531c3979ed4708"/>
    <p:sldId xmlns:r="http://schemas.openxmlformats.org/officeDocument/2006/relationships" id="286" r:id="R67eb5bebe78b4bfe"/>
    <p:sldId xmlns:r="http://schemas.openxmlformats.org/officeDocument/2006/relationships" id="287" r:id="R3d3d18a1f6e14745"/>
    <p:sldId xmlns:r="http://schemas.openxmlformats.org/officeDocument/2006/relationships" id="288" r:id="R1a871f0549204314"/>
    <p:sldId xmlns:r="http://schemas.openxmlformats.org/officeDocument/2006/relationships" id="289" r:id="R5856b044e5eb40d8"/>
    <p:sldId xmlns:r="http://schemas.openxmlformats.org/officeDocument/2006/relationships" id="290" r:id="R6544730e22a041fe"/>
    <p:sldId xmlns:r="http://schemas.openxmlformats.org/officeDocument/2006/relationships" id="291" r:id="R9e5cafe246504bdd"/>
    <p:sldId xmlns:r="http://schemas.openxmlformats.org/officeDocument/2006/relationships" id="292" r:id="Rccebb04d9a0a4a83"/>
    <p:sldId xmlns:r="http://schemas.openxmlformats.org/officeDocument/2006/relationships" id="293" r:id="R23c62bcc64f74c5e"/>
    <p:sldId xmlns:r="http://schemas.openxmlformats.org/officeDocument/2006/relationships" id="294" r:id="R67795764c3414f9b"/>
    <p:sldId xmlns:r="http://schemas.openxmlformats.org/officeDocument/2006/relationships" id="295" r:id="R10ad1f162d8b4ead"/>
    <p:sldId xmlns:r="http://schemas.openxmlformats.org/officeDocument/2006/relationships" id="296" r:id="R5f785d7fffdf415d"/>
    <p:sldId xmlns:r="http://schemas.openxmlformats.org/officeDocument/2006/relationships" id="297" r:id="R265ed1ee08354c79"/>
    <p:sldId xmlns:r="http://schemas.openxmlformats.org/officeDocument/2006/relationships" id="298" r:id="Rf59a05aed6944332"/>
    <p:sldId xmlns:r="http://schemas.openxmlformats.org/officeDocument/2006/relationships" id="299" r:id="R40ff0c0129c3478a"/>
    <p:sldId xmlns:r="http://schemas.openxmlformats.org/officeDocument/2006/relationships" id="300" r:id="R5e23ffec013d4285"/>
    <p:sldId xmlns:r="http://schemas.openxmlformats.org/officeDocument/2006/relationships" id="301" r:id="R337cfc4883ed4581"/>
    <p:sldId xmlns:r="http://schemas.openxmlformats.org/officeDocument/2006/relationships" id="302" r:id="Rad19ce147cc84062"/>
    <p:sldId xmlns:r="http://schemas.openxmlformats.org/officeDocument/2006/relationships" id="303" r:id="R8dc70782ec534a92"/>
    <p:sldId xmlns:r="http://schemas.openxmlformats.org/officeDocument/2006/relationships" id="304" r:id="R4fb5286a094b401a"/>
    <p:sldId xmlns:r="http://schemas.openxmlformats.org/officeDocument/2006/relationships" id="305" r:id="R03c72ce4b39a4a19"/>
    <p:sldId xmlns:r="http://schemas.openxmlformats.org/officeDocument/2006/relationships" id="306" r:id="R1df6c280ec4e4ad8"/>
    <p:sldId xmlns:r="http://schemas.openxmlformats.org/officeDocument/2006/relationships" id="307" r:id="R78ddb205565c4e2e"/>
    <p:sldId xmlns:r="http://schemas.openxmlformats.org/officeDocument/2006/relationships" id="308" r:id="Rd6d52047841f4d4d"/>
    <p:sldId xmlns:r="http://schemas.openxmlformats.org/officeDocument/2006/relationships" id="309" r:id="Raad68c4b780d44aa"/>
    <p:sldId xmlns:r="http://schemas.openxmlformats.org/officeDocument/2006/relationships" id="310" r:id="R5cba2fbe369243b5"/>
    <p:sldId xmlns:r="http://schemas.openxmlformats.org/officeDocument/2006/relationships" id="311" r:id="R180bd44be5ff42a2"/>
    <p:sldId xmlns:r="http://schemas.openxmlformats.org/officeDocument/2006/relationships" id="312" r:id="Rd5bcdeb19ee34b60"/>
    <p:sldId xmlns:r="http://schemas.openxmlformats.org/officeDocument/2006/relationships" id="313" r:id="R046d076063404e42"/>
    <p:sldId xmlns:r="http://schemas.openxmlformats.org/officeDocument/2006/relationships" id="314" r:id="R964fc2367dcf4e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9016aa9b0b4f00" /><Relationship Type="http://schemas.openxmlformats.org/officeDocument/2006/relationships/slideMaster" Target="/ppt/slideMasters/slideMaster1.xml" Id="R01b8e6cf67fc421b" /><Relationship Type="http://schemas.openxmlformats.org/officeDocument/2006/relationships/notesMaster" Target="/ppt/notesMasters/notesMaster1.xml" Id="Rd70038fc80c04ba4" /><Relationship Type="http://schemas.openxmlformats.org/officeDocument/2006/relationships/presProps" Target="/ppt/presProps.xml" Id="R6378bd35738d4381" /><Relationship Type="http://schemas.openxmlformats.org/officeDocument/2006/relationships/tableStyles" Target="/ppt/tableStyles.xml" Id="R24ae73c341054c77" /><Relationship Type="http://schemas.openxmlformats.org/officeDocument/2006/relationships/slide" Target="/ppt/slides/slide1.xml" Id="Ra99c9f29a444458f" /><Relationship Type="http://schemas.openxmlformats.org/officeDocument/2006/relationships/slide" Target="/ppt/slides/slide2.xml" Id="Rc77fd40bd51b4683" /><Relationship Type="http://schemas.openxmlformats.org/officeDocument/2006/relationships/slide" Target="/ppt/slides/slide3.xml" Id="R4d187b1e2c824c40" /><Relationship Type="http://schemas.openxmlformats.org/officeDocument/2006/relationships/slide" Target="/ppt/slides/slide4.xml" Id="R6611d54a8ae74388" /><Relationship Type="http://schemas.openxmlformats.org/officeDocument/2006/relationships/slide" Target="/ppt/slides/slide5.xml" Id="R1d59294e4ad748b2" /><Relationship Type="http://schemas.openxmlformats.org/officeDocument/2006/relationships/slide" Target="/ppt/slides/slide6.xml" Id="R70e3979461c8475b" /><Relationship Type="http://schemas.openxmlformats.org/officeDocument/2006/relationships/slide" Target="/ppt/slides/slide7.xml" Id="Rd2b293e2cbe047bc" /><Relationship Type="http://schemas.openxmlformats.org/officeDocument/2006/relationships/slide" Target="/ppt/slides/slide8.xml" Id="R710b3d6cacfb4076" /><Relationship Type="http://schemas.openxmlformats.org/officeDocument/2006/relationships/slide" Target="/ppt/slides/slide9.xml" Id="Rd39bca6d771f4762" /><Relationship Type="http://schemas.openxmlformats.org/officeDocument/2006/relationships/slide" Target="/ppt/slides/slide10.xml" Id="R102ef0ac07a24625" /><Relationship Type="http://schemas.openxmlformats.org/officeDocument/2006/relationships/slide" Target="/ppt/slides/slide11.xml" Id="R860ab2c32c3746e6" /><Relationship Type="http://schemas.openxmlformats.org/officeDocument/2006/relationships/slide" Target="/ppt/slides/slide12.xml" Id="Rb4da45c61c474637" /><Relationship Type="http://schemas.openxmlformats.org/officeDocument/2006/relationships/slide" Target="/ppt/slides/slide13.xml" Id="R7c15b4a3b05441cb" /><Relationship Type="http://schemas.openxmlformats.org/officeDocument/2006/relationships/slide" Target="/ppt/slides/slide14.xml" Id="Rc7b3d799b68d44e9" /><Relationship Type="http://schemas.openxmlformats.org/officeDocument/2006/relationships/slide" Target="/ppt/slides/slide15.xml" Id="Rccb521d1509d45ce" /><Relationship Type="http://schemas.openxmlformats.org/officeDocument/2006/relationships/slide" Target="/ppt/slides/slide16.xml" Id="R8167ce639aed4d0f" /><Relationship Type="http://schemas.openxmlformats.org/officeDocument/2006/relationships/slide" Target="/ppt/slides/slide17.xml" Id="Rcccbd9d711ab44d2" /><Relationship Type="http://schemas.openxmlformats.org/officeDocument/2006/relationships/slide" Target="/ppt/slides/slide18.xml" Id="R6652a880ebe44cc2" /><Relationship Type="http://schemas.openxmlformats.org/officeDocument/2006/relationships/slide" Target="/ppt/slides/slide19.xml" Id="Rd9c13982747c4f4c" /><Relationship Type="http://schemas.openxmlformats.org/officeDocument/2006/relationships/slide" Target="/ppt/slides/slide20.xml" Id="Rbb7c40ec914f491c" /><Relationship Type="http://schemas.openxmlformats.org/officeDocument/2006/relationships/slide" Target="/ppt/slides/slide21.xml" Id="R21283660d1c74566" /><Relationship Type="http://schemas.openxmlformats.org/officeDocument/2006/relationships/slide" Target="/ppt/slides/slide22.xml" Id="Rb541d30a652e4bf5" /><Relationship Type="http://schemas.openxmlformats.org/officeDocument/2006/relationships/slide" Target="/ppt/slides/slide23.xml" Id="R2da640eaeb2d4e3b" /><Relationship Type="http://schemas.openxmlformats.org/officeDocument/2006/relationships/slide" Target="/ppt/slides/slide24.xml" Id="R97067b47b3554f5d" /><Relationship Type="http://schemas.openxmlformats.org/officeDocument/2006/relationships/slide" Target="/ppt/slides/slide25.xml" Id="R7cd6bd5433b64b4f" /><Relationship Type="http://schemas.openxmlformats.org/officeDocument/2006/relationships/slide" Target="/ppt/slides/slide26.xml" Id="Rcef9adb5d7034660" /><Relationship Type="http://schemas.openxmlformats.org/officeDocument/2006/relationships/slide" Target="/ppt/slides/slide27.xml" Id="R05f4d36d502b4788" /><Relationship Type="http://schemas.openxmlformats.org/officeDocument/2006/relationships/slide" Target="/ppt/slides/slide28.xml" Id="R0c423cd0f5804d03" /><Relationship Type="http://schemas.openxmlformats.org/officeDocument/2006/relationships/slide" Target="/ppt/slides/slide29.xml" Id="R195fb2678b6f4fba" /><Relationship Type="http://schemas.openxmlformats.org/officeDocument/2006/relationships/slide" Target="/ppt/slides/slide30.xml" Id="Rcd531c3979ed4708" /><Relationship Type="http://schemas.openxmlformats.org/officeDocument/2006/relationships/slide" Target="/ppt/slides/slide31.xml" Id="R67eb5bebe78b4bfe" /><Relationship Type="http://schemas.openxmlformats.org/officeDocument/2006/relationships/slide" Target="/ppt/slides/slide32.xml" Id="R3d3d18a1f6e14745" /><Relationship Type="http://schemas.openxmlformats.org/officeDocument/2006/relationships/slide" Target="/ppt/slides/slide33.xml" Id="R1a871f0549204314" /><Relationship Type="http://schemas.openxmlformats.org/officeDocument/2006/relationships/slide" Target="/ppt/slides/slide34.xml" Id="R5856b044e5eb40d8" /><Relationship Type="http://schemas.openxmlformats.org/officeDocument/2006/relationships/slide" Target="/ppt/slides/slide35.xml" Id="R6544730e22a041fe" /><Relationship Type="http://schemas.openxmlformats.org/officeDocument/2006/relationships/slide" Target="/ppt/slides/slide36.xml" Id="R9e5cafe246504bdd" /><Relationship Type="http://schemas.openxmlformats.org/officeDocument/2006/relationships/slide" Target="/ppt/slides/slide37.xml" Id="Rccebb04d9a0a4a83" /><Relationship Type="http://schemas.openxmlformats.org/officeDocument/2006/relationships/slide" Target="/ppt/slides/slide38.xml" Id="R23c62bcc64f74c5e" /><Relationship Type="http://schemas.openxmlformats.org/officeDocument/2006/relationships/slide" Target="/ppt/slides/slide39.xml" Id="R67795764c3414f9b" /><Relationship Type="http://schemas.openxmlformats.org/officeDocument/2006/relationships/slide" Target="/ppt/slides/slide40.xml" Id="R10ad1f162d8b4ead" /><Relationship Type="http://schemas.openxmlformats.org/officeDocument/2006/relationships/slide" Target="/ppt/slides/slide41.xml" Id="R5f785d7fffdf415d" /><Relationship Type="http://schemas.openxmlformats.org/officeDocument/2006/relationships/slide" Target="/ppt/slides/slide42.xml" Id="R265ed1ee08354c79" /><Relationship Type="http://schemas.openxmlformats.org/officeDocument/2006/relationships/slide" Target="/ppt/slides/slide43.xml" Id="Rf59a05aed6944332" /><Relationship Type="http://schemas.openxmlformats.org/officeDocument/2006/relationships/slide" Target="/ppt/slides/slide44.xml" Id="R40ff0c0129c3478a" /><Relationship Type="http://schemas.openxmlformats.org/officeDocument/2006/relationships/slide" Target="/ppt/slides/slide45.xml" Id="R5e23ffec013d4285" /><Relationship Type="http://schemas.openxmlformats.org/officeDocument/2006/relationships/slide" Target="/ppt/slides/slide46.xml" Id="R337cfc4883ed4581" /><Relationship Type="http://schemas.openxmlformats.org/officeDocument/2006/relationships/slide" Target="/ppt/slides/slide47.xml" Id="Rad19ce147cc84062" /><Relationship Type="http://schemas.openxmlformats.org/officeDocument/2006/relationships/slide" Target="/ppt/slides/slide48.xml" Id="R8dc70782ec534a92" /><Relationship Type="http://schemas.openxmlformats.org/officeDocument/2006/relationships/slide" Target="/ppt/slides/slide49.xml" Id="R4fb5286a094b401a" /><Relationship Type="http://schemas.openxmlformats.org/officeDocument/2006/relationships/slide" Target="/ppt/slides/slide50.xml" Id="R03c72ce4b39a4a19" /><Relationship Type="http://schemas.openxmlformats.org/officeDocument/2006/relationships/slide" Target="/ppt/slides/slide51.xml" Id="R1df6c280ec4e4ad8" /><Relationship Type="http://schemas.openxmlformats.org/officeDocument/2006/relationships/slide" Target="/ppt/slides/slide52.xml" Id="R78ddb205565c4e2e" /><Relationship Type="http://schemas.openxmlformats.org/officeDocument/2006/relationships/slide" Target="/ppt/slides/slide53.xml" Id="Rd6d52047841f4d4d" /><Relationship Type="http://schemas.openxmlformats.org/officeDocument/2006/relationships/slide" Target="/ppt/slides/slide54.xml" Id="Raad68c4b780d44aa" /><Relationship Type="http://schemas.openxmlformats.org/officeDocument/2006/relationships/slide" Target="/ppt/slides/slide55.xml" Id="R5cba2fbe369243b5" /><Relationship Type="http://schemas.openxmlformats.org/officeDocument/2006/relationships/slide" Target="/ppt/slides/slide56.xml" Id="R180bd44be5ff42a2" /><Relationship Type="http://schemas.openxmlformats.org/officeDocument/2006/relationships/slide" Target="/ppt/slides/slide57.xml" Id="Rd5bcdeb19ee34b60" /><Relationship Type="http://schemas.openxmlformats.org/officeDocument/2006/relationships/slide" Target="/ppt/slides/slide58.xml" Id="R046d076063404e42" /><Relationship Type="http://schemas.openxmlformats.org/officeDocument/2006/relationships/slide" Target="/ppt/slides/slide59.xml" Id="R964fc2367dcf4e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e7c3f98a6e42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28c2fe47634378" /><Relationship Type="http://schemas.openxmlformats.org/officeDocument/2006/relationships/notesMaster" Target="/ppt/notesMasters/notesMaster1.xml" Id="Rb2ebcb2049df44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3d1a462e23479d" /><Relationship Type="http://schemas.openxmlformats.org/officeDocument/2006/relationships/notesMaster" Target="/ppt/notesMasters/notesMaster1.xml" Id="Rb228d3c8cd8643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cdccd3ba044df9" /><Relationship Type="http://schemas.openxmlformats.org/officeDocument/2006/relationships/notesMaster" Target="/ppt/notesMasters/notesMaster1.xml" Id="R953dbbcab6dd47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35ff85c8384092" /><Relationship Type="http://schemas.openxmlformats.org/officeDocument/2006/relationships/notesMaster" Target="/ppt/notesMasters/notesMaster1.xml" Id="Rfad4972161fb43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e6f3a5f78a4c16" /><Relationship Type="http://schemas.openxmlformats.org/officeDocument/2006/relationships/notesMaster" Target="/ppt/notesMasters/notesMaster1.xml" Id="R481ec49c2a5c4e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da37265e2c4801" /><Relationship Type="http://schemas.openxmlformats.org/officeDocument/2006/relationships/notesMaster" Target="/ppt/notesMasters/notesMaster1.xml" Id="R75bb3d07d9fb45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b69e5f0a0e458b" /><Relationship Type="http://schemas.openxmlformats.org/officeDocument/2006/relationships/notesMaster" Target="/ppt/notesMasters/notesMaster1.xml" Id="R88c36fbe6dfc42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66d3b64b8d48bc" /><Relationship Type="http://schemas.openxmlformats.org/officeDocument/2006/relationships/notesMaster" Target="/ppt/notesMasters/notesMaster1.xml" Id="R6738c9d3764842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4c8091c02b436b" /><Relationship Type="http://schemas.openxmlformats.org/officeDocument/2006/relationships/notesMaster" Target="/ppt/notesMasters/notesMaster1.xml" Id="R79d8c42eee4042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94584f30374d8c" /><Relationship Type="http://schemas.openxmlformats.org/officeDocument/2006/relationships/notesMaster" Target="/ppt/notesMasters/notesMaster1.xml" Id="R2cbe85aa685448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e20a50681d4751" /><Relationship Type="http://schemas.openxmlformats.org/officeDocument/2006/relationships/notesMaster" Target="/ppt/notesMasters/notesMaster1.xml" Id="Rcae9f57e00cc4a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368e551ef44427a" /><Relationship Type="http://schemas.openxmlformats.org/officeDocument/2006/relationships/notesMaster" Target="/ppt/notesMasters/notesMaster1.xml" Id="R0a90566f9b6c43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6a35369e0043ae" /><Relationship Type="http://schemas.openxmlformats.org/officeDocument/2006/relationships/notesMaster" Target="/ppt/notesMasters/notesMaster1.xml" Id="R625716d87c3643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3bccb2b6289446e" /><Relationship Type="http://schemas.openxmlformats.org/officeDocument/2006/relationships/notesMaster" Target="/ppt/notesMasters/notesMaster1.xml" Id="R0219feeb536941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7cc977cf954185" /><Relationship Type="http://schemas.openxmlformats.org/officeDocument/2006/relationships/notesMaster" Target="/ppt/notesMasters/notesMaster1.xml" Id="Rf1c59300da9543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bd24f41de14431" /><Relationship Type="http://schemas.openxmlformats.org/officeDocument/2006/relationships/notesMaster" Target="/ppt/notesMasters/notesMaster1.xml" Id="R8f606fc018a64e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15c65d00244968" /><Relationship Type="http://schemas.openxmlformats.org/officeDocument/2006/relationships/notesMaster" Target="/ppt/notesMasters/notesMaster1.xml" Id="R6526ab08d03c44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d279e36b9324e64" /><Relationship Type="http://schemas.openxmlformats.org/officeDocument/2006/relationships/notesMaster" Target="/ppt/notesMasters/notesMaster1.xml" Id="Rc1b752ed77de472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0afa8ca94446cc" /><Relationship Type="http://schemas.openxmlformats.org/officeDocument/2006/relationships/notesMaster" Target="/ppt/notesMasters/notesMaster1.xml" Id="R800721aa7da548e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fa51ba6604f4e59" /><Relationship Type="http://schemas.openxmlformats.org/officeDocument/2006/relationships/notesMaster" Target="/ppt/notesMasters/notesMaster1.xml" Id="Rc9dab2be4d264b2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c15b78058904f5d" /><Relationship Type="http://schemas.openxmlformats.org/officeDocument/2006/relationships/notesMaster" Target="/ppt/notesMasters/notesMaster1.xml" Id="Rf58951cad7f5462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874cf382a3d426d" /><Relationship Type="http://schemas.openxmlformats.org/officeDocument/2006/relationships/notesMaster" Target="/ppt/notesMasters/notesMaster1.xml" Id="Rfb31e4cd63484e4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2273e4b71cc4411" /><Relationship Type="http://schemas.openxmlformats.org/officeDocument/2006/relationships/notesMaster" Target="/ppt/notesMasters/notesMaster1.xml" Id="R613eaf010f7c4b8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1c722ecad6f45bc" /><Relationship Type="http://schemas.openxmlformats.org/officeDocument/2006/relationships/notesMaster" Target="/ppt/notesMasters/notesMaster1.xml" Id="Rca55695767c944a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ff5238fd1ed4ee5" /><Relationship Type="http://schemas.openxmlformats.org/officeDocument/2006/relationships/notesMaster" Target="/ppt/notesMasters/notesMaster1.xml" Id="R2963c149cea947a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c9fc6169ea544b4" /><Relationship Type="http://schemas.openxmlformats.org/officeDocument/2006/relationships/notesMaster" Target="/ppt/notesMasters/notesMaster1.xml" Id="R8f0487f4a3c24e6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30d6f00ac7946bc" /><Relationship Type="http://schemas.openxmlformats.org/officeDocument/2006/relationships/notesMaster" Target="/ppt/notesMasters/notesMaster1.xml" Id="R29f6a66bfb804d1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a9c6c2ee46b437b" /><Relationship Type="http://schemas.openxmlformats.org/officeDocument/2006/relationships/notesMaster" Target="/ppt/notesMasters/notesMaster1.xml" Id="R585963f5f98d466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334b44923d344a8" /><Relationship Type="http://schemas.openxmlformats.org/officeDocument/2006/relationships/notesMaster" Target="/ppt/notesMasters/notesMaster1.xml" Id="R420bc578036747d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8bf9aa77c464e35" /><Relationship Type="http://schemas.openxmlformats.org/officeDocument/2006/relationships/notesMaster" Target="/ppt/notesMasters/notesMaster1.xml" Id="R8c70640de85546e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2ad22810a594601" /><Relationship Type="http://schemas.openxmlformats.org/officeDocument/2006/relationships/notesMaster" Target="/ppt/notesMasters/notesMaster1.xml" Id="Rb46102aa5aa9487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838ebbbe4394a87" /><Relationship Type="http://schemas.openxmlformats.org/officeDocument/2006/relationships/notesMaster" Target="/ppt/notesMasters/notesMaster1.xml" Id="R5245afce2ce1468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cbf6e460536438c" /><Relationship Type="http://schemas.openxmlformats.org/officeDocument/2006/relationships/notesMaster" Target="/ppt/notesMasters/notesMaster1.xml" Id="R3d39c785723b45e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6ca1a9002da41d2" /><Relationship Type="http://schemas.openxmlformats.org/officeDocument/2006/relationships/notesMaster" Target="/ppt/notesMasters/notesMaster1.xml" Id="Ra14512583a2c438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2208742130e4311" /><Relationship Type="http://schemas.openxmlformats.org/officeDocument/2006/relationships/notesMaster" Target="/ppt/notesMasters/notesMaster1.xml" Id="Rc7d0a1a9e41143e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36ffd69714145db" /><Relationship Type="http://schemas.openxmlformats.org/officeDocument/2006/relationships/notesMaster" Target="/ppt/notesMasters/notesMaster1.xml" Id="Rc514c50d92e042e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8af3ff2da1749ab" /><Relationship Type="http://schemas.openxmlformats.org/officeDocument/2006/relationships/notesMaster" Target="/ppt/notesMasters/notesMaster1.xml" Id="Rd5b6efee073f403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b9b737b23474c51" /><Relationship Type="http://schemas.openxmlformats.org/officeDocument/2006/relationships/notesMaster" Target="/ppt/notesMasters/notesMaster1.xml" Id="Rcfd293e41b6e4f4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881aa14843248c9" /><Relationship Type="http://schemas.openxmlformats.org/officeDocument/2006/relationships/notesMaster" Target="/ppt/notesMasters/notesMaster1.xml" Id="Re28a6235620a47e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ad1422f803d40f3" /><Relationship Type="http://schemas.openxmlformats.org/officeDocument/2006/relationships/notesMaster" Target="/ppt/notesMasters/notesMaster1.xml" Id="Re38d3d25369a43a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7cb772edf17448f" /><Relationship Type="http://schemas.openxmlformats.org/officeDocument/2006/relationships/notesMaster" Target="/ppt/notesMasters/notesMaster1.xml" Id="R62eaa4c5416346c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fbe682d6f8c456b" /><Relationship Type="http://schemas.openxmlformats.org/officeDocument/2006/relationships/notesMaster" Target="/ppt/notesMasters/notesMaster1.xml" Id="R9a431dd79db5452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50e669858905411a" /><Relationship Type="http://schemas.openxmlformats.org/officeDocument/2006/relationships/notesMaster" Target="/ppt/notesMasters/notesMaster1.xml" Id="R66dbec6a9d2149f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05c89505bfe4514" /><Relationship Type="http://schemas.openxmlformats.org/officeDocument/2006/relationships/notesMaster" Target="/ppt/notesMasters/notesMaster1.xml" Id="Ra7b86a7189274c8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a50a8e730564bf2" /><Relationship Type="http://schemas.openxmlformats.org/officeDocument/2006/relationships/notesMaster" Target="/ppt/notesMasters/notesMaster1.xml" Id="R9d03961059fa4f3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62e9e9f340e4ef1" /><Relationship Type="http://schemas.openxmlformats.org/officeDocument/2006/relationships/notesMaster" Target="/ppt/notesMasters/notesMaster1.xml" Id="R6d1bc3c1ed8d4f8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9f4da155f024f5d" /><Relationship Type="http://schemas.openxmlformats.org/officeDocument/2006/relationships/notesMaster" Target="/ppt/notesMasters/notesMaster1.xml" Id="R9bd09f06d6b646f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678065fd54d4102" /><Relationship Type="http://schemas.openxmlformats.org/officeDocument/2006/relationships/notesMaster" Target="/ppt/notesMasters/notesMaster1.xml" Id="Rdbfcfa733491494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857ca63976a48b1" /><Relationship Type="http://schemas.openxmlformats.org/officeDocument/2006/relationships/notesMaster" Target="/ppt/notesMasters/notesMaster1.xml" Id="Rb7aaf70ae85d4426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cbd81a0ae64437d" /><Relationship Type="http://schemas.openxmlformats.org/officeDocument/2006/relationships/notesMaster" Target="/ppt/notesMasters/notesMaster1.xml" Id="R19b1afcc3777403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0c6f9aa04474df2" /><Relationship Type="http://schemas.openxmlformats.org/officeDocument/2006/relationships/notesMaster" Target="/ppt/notesMasters/notesMaster1.xml" Id="R4d11b400cdd24bb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22afe2ba09c46b0" /><Relationship Type="http://schemas.openxmlformats.org/officeDocument/2006/relationships/notesMaster" Target="/ppt/notesMasters/notesMaster1.xml" Id="Re95c44eb6e1a47d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ce0c38da3b447b4" /><Relationship Type="http://schemas.openxmlformats.org/officeDocument/2006/relationships/notesMaster" Target="/ppt/notesMasters/notesMaster1.xml" Id="R0e2937cc49be4e8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b48d1aac23a4216" /><Relationship Type="http://schemas.openxmlformats.org/officeDocument/2006/relationships/notesMaster" Target="/ppt/notesMasters/notesMaster1.xml" Id="R328d9963fbf64070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fa0cb8ac7aa442f0" /><Relationship Type="http://schemas.openxmlformats.org/officeDocument/2006/relationships/notesMaster" Target="/ppt/notesMasters/notesMaster1.xml" Id="Rc60750a655f749a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435ec9d4f0e470c" /><Relationship Type="http://schemas.openxmlformats.org/officeDocument/2006/relationships/notesMaster" Target="/ppt/notesMasters/notesMaster1.xml" Id="R214993e58fe242af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95ca8542f004c42" /><Relationship Type="http://schemas.openxmlformats.org/officeDocument/2006/relationships/notesMaster" Target="/ppt/notesMasters/notesMaster1.xml" Id="Ra00cf68cc7b8469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3882d76780154c6d" /><Relationship Type="http://schemas.openxmlformats.org/officeDocument/2006/relationships/notesMaster" Target="/ppt/notesMasters/notesMaster1.xml" Id="R9357a79eeaa44cf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9f9d9a1c4af34974" /><Relationship Type="http://schemas.openxmlformats.org/officeDocument/2006/relationships/notesMaster" Target="/ppt/notesMasters/notesMaster1.xml" Id="R0f8cf003d0c94d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a pergunta central: quando uma decisão probabilística tipada ajuda uma interface robótica?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One é categoria e nome de produto da TypeSafe, inspirada em Kahneman. Fonte: https://typesafe.ai/blog/introducing-system-one-models-and-jev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sintético. Separar conversa da decisão de roteamento.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Noul não deve substituir verificação de idade real. Exemplo conceitual de interpretação de texto; resposta numérica não é chamada real. Fonte: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https://docs.typesafe.ai/primitives/choice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https://docs.typesafe.ai/primitives/choice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https://docs.typesafe.ai/primitives/noul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https://docs.typesafe.ai/primitives/score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afirmar zero tokens nem chamada gratuita. Fonte: TypeSafe pricing e results do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Multiplicadores promocionais não são medidas do Maestro.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com JSON mode também pode emitir estrutura; teste desempenho, custo e formato na mesma tarefa.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da documentação oficial de Choice, capturado em 26 set. 2026. Fonte: https://docs.typesafe.ai/primitives/choice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Executar no site ao vivo; não pré-fixar a resposta.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Reserva para demo autenticada. Fallback: request/response publicados no quick start.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Pseudocódigo baseado no quick start; a sintaxe precisa ser ajustada ao SDK/API em uso. Fonte: https://docs.typesafe.ai/introduction/quickstart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Esquema didático: entrada → sinal → ajuste → saída → limite.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https://docs.typesafe.ai/introduction/machine-learning-primer — objetivo público do RLCD; procedimento de treino não descrito em detalhe.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https://docs.typesafe.ai/introduction/machine-learning-primer — calibração é uma propriedade estatística avaliada em muitos casos.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documentação TypeSafe para a alegação; métricas e desenho de avaliação propostos nesta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Exemplo didático: não são 100 casos do Maestro. Calibração se verifica em grupos; uma previsão individual ainda pode errar.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ECE, apresentar bins com tamanho n; amostra pequena limita inferência.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RLCD é descrição pública do fornecedor, não prova de superioridade. https://docs.typesafe.ai/introduction/machine-learning-primer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https://x.com/heystefan_/status/2101369117496521042.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https://x.com/dani_avila7/status/2101885477158547753.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https://jevtypesafeai.com/tools/pr-judge.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https://threadnavigator.com/thread/2100372930282573876/.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Vídeo original para inserir: https://x.com/jpschroeder/status/2100347770867458384. Explicar entrada, catálogo e código após escolha. Demos não são benchmark controlado.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https://typesafe.ai/blog/introducing-system-one-models-and-jev https://github.com/NandhaKishorM/laya https://github.com/mizorewww/laya-mlx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Números vêm de ambientes diferentes e não são benchmark pareado. Fonte: https://github.com/NandhaKishorM/laya https://github.com/mizorewww/laya-mlx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inferida das fontes primárias: TypeSafe, Laya, Julia-1, CLM e Span-01. Lançamentos próximos não provam que treinaram modelos completos após Jev.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oficiais: https://supersoniclabs.ia.br/ e https://supersoniclabs.ia.br/julia-1/ e https://huggingface.co/SupersonicLabs/Julia-1 . São números publicados pela própria equipe. Referência Jev reaproveitada, não nova rodada pareada. pt-BR e intenção do Maestro não foram avaliados.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Autores incluem Stanford e NVIDIA, conforme README/paper. Até 9× é alegação dos autores em tarefas selecionadas. O post no X diz até 13×; usar o README atualizado como fonte principal. https://github.com/Contrastive-LM/CLM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crítica do tweet usa multiplicação como provocação; a comparação verificável é detecção de comportamento, não aritmética geral. Fonte: https://www.respan.ai/blog/introducing-span-1 e https://www.respan.ai/docs/documentation/span-01/concept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Documento original: https://docs.google.com/document/d/1G61uUB0FifUnmmrPzFQojZ3KpczYKmXGpgEXDJ2l_Zg/edit . O Google Doc exporta como PDF de 12 páginas. Diogo compartilhou o Google Doc em https://x.com/CompleteSkeptic/status/2101894250401271876 . O post de N01ennn fala em PDF de 11 páginas; a autoria da síntese não foi verificada. A imagem é do documento público, não do PDF do post.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documento traz uma conta ilustrativa sobre roteamento e reprocessamento do contexto. Não usar a conta como benchmark medido. KV cache armazena representações de prefixos já processados; trocar de modelo não compartilha automaticamente esse cache. Fonte: Google Doc público, seção Thing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documento propõe Noul por bloco e, futuramente, Score para níveis de detalhe. Também propõe instruções condicionais e descoberta progressiva de ferramentas. São ideias, não sistema entregue. Fonte: Google Doc público, seções Meta-attention, First-principled version of Skills/MCP/Tool calling, Conditional system messages.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Síntese baseada nas seções Permissions/Approval, MCP/Tool calling, Meta-attention e Routing + Sub-agents do Google Doc público. Jev não recebe autoridade irrestrita; o harness deve validar decisões e efeitos. O post de N01ennn é um resumo secundário: https://x.com/N01ennn/status/2103818303642689696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Tabela de adequação, não ranking universal. Fontes oficiais: TypeSafe, Laya GitHub, Supersonic Labs, CLM GitHub, Respan docs.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 docs/pitch/storyboard.md. Não apresentar mock como hardware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Adaptado do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Pipeline resumido; DAT/MockDeviceKit, Android, TargetResolver, WebSocket e ROS.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docs/privacy-data-flow.md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classificador local não é detector geral de CPF. Fonte: RemoteTranscriptGate.kt, tools/jev_local_proxy.py e docs/tasks/jev-remote-privacy-gate.md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JevIntentClassifier.kt, MainActivity.kt, docs/tasks/mission-preview-contract.md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real, primeira metade do dicionário CRITERIA: tools/jev_local_proxy.py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real, segunda metade do dicionário CRITERIA: tools/jev_local_proxy.py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 real: tools/jev_local_proxy.py, função request_payload.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Resposta sanitizada real da fixture results/jev-final-recovery-fixture.json, caso recovery-045. confidence 0.70 é diferente de probabilities[choice] 0.75. O formato mostrado omite latência e custo da fixture.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Trecho editado para projeção, fiel à lógica de JevIntentClassifier.kt. O guard de CANCEL explícito está desligado por padrão.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docs/study-groups/jev-rl-2026-10-01/results/jev-final-recovery-presentation.md. ECE não prova calibração geral.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docs/tasks/jev-experimental-decision.md. Não atribuir o erro à rota de missão composta.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Área para gravação ou demo ao vivo. Identificar claramente simulação e mock.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vídeo offline ou três capturas do diretório results/offline-demo. Legenda obrigatória: fixture mock local — não executa o robô.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Decisão operacional atual: HOLD.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debate.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e abrir perguntas.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8d74ad470247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793e6c5f4d40ab" /><Relationship Type="http://schemas.openxmlformats.org/officeDocument/2006/relationships/slideLayout" Target="/ppt/slideLayouts/slideLayout1.xml" Id="R0da77c7f2f654e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a77c7f2f654e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5aa736e1d4e21" /><Relationship Type="http://schemas.openxmlformats.org/officeDocument/2006/relationships/notesSlide" Target="/ppt/notesSlides/notesSlide1.xml" Id="Ra9b3bdfe1ea24a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d02dd9b8a403d" /><Relationship Type="http://schemas.openxmlformats.org/officeDocument/2006/relationships/notesSlide" Target="/ppt/notesSlides/notesSlide2.xml" Id="R1f5f080064c34a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f83e1940c446c" /><Relationship Type="http://schemas.openxmlformats.org/officeDocument/2006/relationships/notesSlide" Target="/ppt/notesSlides/notesSlide3.xml" Id="R74c32694e63e4a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cb37ccef44eaf" /><Relationship Type="http://schemas.openxmlformats.org/officeDocument/2006/relationships/notesSlide" Target="/ppt/notesSlides/notesSlide4.xml" Id="Rbd56f582636b45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4133ef73a450c" /><Relationship Type="http://schemas.openxmlformats.org/officeDocument/2006/relationships/notesSlide" Target="/ppt/notesSlides/notesSlide5.xml" Id="Rf44b7cec30b54d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7be3e110c4217" /><Relationship Type="http://schemas.openxmlformats.org/officeDocument/2006/relationships/notesSlide" Target="/ppt/notesSlides/notesSlide6.xml" Id="R6c909facb81d41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bcff804744231" /><Relationship Type="http://schemas.openxmlformats.org/officeDocument/2006/relationships/notesSlide" Target="/ppt/notesSlides/notesSlide7.xml" Id="R9701f8ca9b3846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1ef6817914ace" /><Relationship Type="http://schemas.openxmlformats.org/officeDocument/2006/relationships/notesSlide" Target="/ppt/notesSlides/notesSlide8.xml" Id="R4cef0b37858843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c41818b354dc2" /><Relationship Type="http://schemas.openxmlformats.org/officeDocument/2006/relationships/notesSlide" Target="/ppt/notesSlides/notesSlide9.xml" Id="Reee43123ba9846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717add3fa4d25" /><Relationship Type="http://schemas.openxmlformats.org/officeDocument/2006/relationships/notesSlide" Target="/ppt/notesSlides/notesSlide10.xml" Id="R78c072c1783342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cbc811b2b42d1" /><Relationship Type="http://schemas.openxmlformats.org/officeDocument/2006/relationships/notesSlide" Target="/ppt/notesSlides/notesSlide11.xml" Id="R0f3edeafd6ed4e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9deaa6fc74a8e" /><Relationship Type="http://schemas.openxmlformats.org/officeDocument/2006/relationships/notesSlide" Target="/ppt/notesSlides/notesSlide12.xml" Id="R41925ed7cb5d4c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0126d181b44be" /><Relationship Type="http://schemas.openxmlformats.org/officeDocument/2006/relationships/image" Target="/ppt/media/image.png" Id="Rdb01e3c018c143a2" /><Relationship Type="http://schemas.openxmlformats.org/officeDocument/2006/relationships/notesSlide" Target="/ppt/notesSlides/notesSlide13.xml" Id="Re7d997d85abd45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21692a6384136" /><Relationship Type="http://schemas.openxmlformats.org/officeDocument/2006/relationships/notesSlide" Target="/ppt/notesSlides/notesSlide14.xml" Id="R37e1057e2bed4d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8f8246b09418a" /><Relationship Type="http://schemas.openxmlformats.org/officeDocument/2006/relationships/notesSlide" Target="/ppt/notesSlides/notesSlide15.xml" Id="R05a30ce01adc4b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9347f5ea847a5" /><Relationship Type="http://schemas.openxmlformats.org/officeDocument/2006/relationships/notesSlide" Target="/ppt/notesSlides/notesSlide16.xml" Id="Ra2f0a673ef92479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51cf29ee34862" /><Relationship Type="http://schemas.openxmlformats.org/officeDocument/2006/relationships/notesSlide" Target="/ppt/notesSlides/notesSlide17.xml" Id="Rc63983c3cf04414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8549957a044fe" /><Relationship Type="http://schemas.openxmlformats.org/officeDocument/2006/relationships/notesSlide" Target="/ppt/notesSlides/notesSlide18.xml" Id="R968362e790234fe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9651b03304e13" /><Relationship Type="http://schemas.openxmlformats.org/officeDocument/2006/relationships/notesSlide" Target="/ppt/notesSlides/notesSlide19.xml" Id="Rad662281955249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31981d891406a" /><Relationship Type="http://schemas.openxmlformats.org/officeDocument/2006/relationships/notesSlide" Target="/ppt/notesSlides/notesSlide20.xml" Id="Rfc1deff0dcb541b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65ef868e449e0" /><Relationship Type="http://schemas.openxmlformats.org/officeDocument/2006/relationships/notesSlide" Target="/ppt/notesSlides/notesSlide21.xml" Id="R75f0a0efce9c4fd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3a1954f814e0b" /><Relationship Type="http://schemas.openxmlformats.org/officeDocument/2006/relationships/notesSlide" Target="/ppt/notesSlides/notesSlide22.xml" Id="Re76735a1b49a421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7a9a6fa0046f6" /><Relationship Type="http://schemas.openxmlformats.org/officeDocument/2006/relationships/notesSlide" Target="/ppt/notesSlides/notesSlide23.xml" Id="Rb2d5ac782c8641d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aa4136a1d497a" /><Relationship Type="http://schemas.openxmlformats.org/officeDocument/2006/relationships/notesSlide" Target="/ppt/notesSlides/notesSlide24.xml" Id="Refd50b462ccb428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5e627d3c048c8" /><Relationship Type="http://schemas.openxmlformats.org/officeDocument/2006/relationships/notesSlide" Target="/ppt/notesSlides/notesSlide25.xml" Id="R4b3a832020724e1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5d7c471f94f18" /><Relationship Type="http://schemas.openxmlformats.org/officeDocument/2006/relationships/notesSlide" Target="/ppt/notesSlides/notesSlide26.xml" Id="Rae1c27f538914cd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b98efc7d54e1a" /><Relationship Type="http://schemas.openxmlformats.org/officeDocument/2006/relationships/notesSlide" Target="/ppt/notesSlides/notesSlide27.xml" Id="R237ee656fbf6495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cb6d4c0b345a9" /><Relationship Type="http://schemas.openxmlformats.org/officeDocument/2006/relationships/notesSlide" Target="/ppt/notesSlides/notesSlide28.xml" Id="Rb0940c2bf05f451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efa9dfd64491b" /><Relationship Type="http://schemas.openxmlformats.org/officeDocument/2006/relationships/notesSlide" Target="/ppt/notesSlides/notesSlide29.xml" Id="R791dbc211b4e43b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ce53719cd499e" /><Relationship Type="http://schemas.openxmlformats.org/officeDocument/2006/relationships/notesSlide" Target="/ppt/notesSlides/notesSlide30.xml" Id="Rf858c7eeb8d64be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72de6affd49af" /><Relationship Type="http://schemas.openxmlformats.org/officeDocument/2006/relationships/notesSlide" Target="/ppt/notesSlides/notesSlide31.xml" Id="Rfd6c47aea0fd4c5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0a6a420084a0d" /><Relationship Type="http://schemas.openxmlformats.org/officeDocument/2006/relationships/notesSlide" Target="/ppt/notesSlides/notesSlide32.xml" Id="R7b1b84db2f25470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b6488640c4800" /><Relationship Type="http://schemas.openxmlformats.org/officeDocument/2006/relationships/notesSlide" Target="/ppt/notesSlides/notesSlide33.xml" Id="R546ef40bcb594a2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0fd019a404123" /><Relationship Type="http://schemas.openxmlformats.org/officeDocument/2006/relationships/notesSlide" Target="/ppt/notesSlides/notesSlide34.xml" Id="R1e08e8a551574f6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1cc7dc0164d86" /><Relationship Type="http://schemas.openxmlformats.org/officeDocument/2006/relationships/notesSlide" Target="/ppt/notesSlides/notesSlide35.xml" Id="R5ef8accfd39a473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f6c960705423c" /><Relationship Type="http://schemas.openxmlformats.org/officeDocument/2006/relationships/notesSlide" Target="/ppt/notesSlides/notesSlide36.xml" Id="Rdf330e7554b3425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9d7a9b2034c46" /><Relationship Type="http://schemas.openxmlformats.org/officeDocument/2006/relationships/image" Target="/ppt/media/image2.png" Id="R1dd3c0596fe64dde" /><Relationship Type="http://schemas.openxmlformats.org/officeDocument/2006/relationships/notesSlide" Target="/ppt/notesSlides/notesSlide37.xml" Id="Rcc329ce52b90444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d77e6781749df" /><Relationship Type="http://schemas.openxmlformats.org/officeDocument/2006/relationships/notesSlide" Target="/ppt/notesSlides/notesSlide38.xml" Id="Rd7bb430183a6488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d0a1a4bcf45c1" /><Relationship Type="http://schemas.openxmlformats.org/officeDocument/2006/relationships/notesSlide" Target="/ppt/notesSlides/notesSlide39.xml" Id="Rc98a377e4950459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b8fce71cc4fb5" /><Relationship Type="http://schemas.openxmlformats.org/officeDocument/2006/relationships/notesSlide" Target="/ppt/notesSlides/notesSlide40.xml" Id="R6212e87c238b4ed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f16b4a86643e3" /><Relationship Type="http://schemas.openxmlformats.org/officeDocument/2006/relationships/notesSlide" Target="/ppt/notesSlides/notesSlide41.xml" Id="R0735af0fd7d448b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5273e266a4abf" /><Relationship Type="http://schemas.openxmlformats.org/officeDocument/2006/relationships/notesSlide" Target="/ppt/notesSlides/notesSlide42.xml" Id="Rc1cf5a992bb04f7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4cb5f14124778" /><Relationship Type="http://schemas.openxmlformats.org/officeDocument/2006/relationships/notesSlide" Target="/ppt/notesSlides/notesSlide43.xml" Id="R54d82640f7ba4f7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ddf50ca984779" /><Relationship Type="http://schemas.openxmlformats.org/officeDocument/2006/relationships/notesSlide" Target="/ppt/notesSlides/notesSlide44.xml" Id="R40deb3e96c794e3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3d20705d346a8" /><Relationship Type="http://schemas.openxmlformats.org/officeDocument/2006/relationships/notesSlide" Target="/ppt/notesSlides/notesSlide45.xml" Id="R83e39d98a216407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80e02181f4873" /><Relationship Type="http://schemas.openxmlformats.org/officeDocument/2006/relationships/notesSlide" Target="/ppt/notesSlides/notesSlide46.xml" Id="R9669261a648c40f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66b0c48a54b39" /><Relationship Type="http://schemas.openxmlformats.org/officeDocument/2006/relationships/notesSlide" Target="/ppt/notesSlides/notesSlide47.xml" Id="R4a20662ac6194ee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936a0c024451b" /><Relationship Type="http://schemas.openxmlformats.org/officeDocument/2006/relationships/notesSlide" Target="/ppt/notesSlides/notesSlide48.xml" Id="R9cef77649ceb447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9d1f889f242ca" /><Relationship Type="http://schemas.openxmlformats.org/officeDocument/2006/relationships/notesSlide" Target="/ppt/notesSlides/notesSlide49.xml" Id="Rec331ead6aa44d5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14cc98fae4538" /><Relationship Type="http://schemas.openxmlformats.org/officeDocument/2006/relationships/notesSlide" Target="/ppt/notesSlides/notesSlide50.xml" Id="Re5b12d51fe0f4c3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10e5802374b2c" /><Relationship Type="http://schemas.openxmlformats.org/officeDocument/2006/relationships/notesSlide" Target="/ppt/notesSlides/notesSlide51.xml" Id="R660f388707bb44a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fe20c2981442b" /><Relationship Type="http://schemas.openxmlformats.org/officeDocument/2006/relationships/notesSlide" Target="/ppt/notesSlides/notesSlide52.xml" Id="Re6b623a998d049a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9df8a72fd4365" /><Relationship Type="http://schemas.openxmlformats.org/officeDocument/2006/relationships/notesSlide" Target="/ppt/notesSlides/notesSlide53.xml" Id="R2b9f4267f73e474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680fed09d423e" /><Relationship Type="http://schemas.openxmlformats.org/officeDocument/2006/relationships/notesSlide" Target="/ppt/notesSlides/notesSlide54.xml" Id="Rf4df04ab3f2149a4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1c5f15c3d458b" /><Relationship Type="http://schemas.openxmlformats.org/officeDocument/2006/relationships/notesSlide" Target="/ppt/notesSlides/notesSlide55.xml" Id="Rc63686dc69b3483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a00dc49ea4bdc" /><Relationship Type="http://schemas.openxmlformats.org/officeDocument/2006/relationships/notesSlide" Target="/ppt/notesSlides/notesSlide56.xml" Id="R1af68ac83adf449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4aba83aec4032" /><Relationship Type="http://schemas.openxmlformats.org/officeDocument/2006/relationships/notesSlide" Target="/ppt/notesSlides/notesSlide57.xml" Id="Rb996b89f0ca5405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0febb22e64960" /><Relationship Type="http://schemas.openxmlformats.org/officeDocument/2006/relationships/notesSlide" Target="/ppt/notesSlides/notesSlide58.xml" Id="Ra3df378f5781427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aee1df9c6491d" /><Relationship Type="http://schemas.openxmlformats.org/officeDocument/2006/relationships/notesSlide" Target="/ppt/notesSlides/notesSlide59.xml" Id="R13743ba63d4f4a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7A88F-A3E6-4F5B-AE19-2A4E9E55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F7D77-D060-4381-A9BA-00BBE139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E7B8E-0313-4199-8650-16ED369E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0414A-97DE-4734-BB84-AFD98F0D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63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Jev, Reinforcement Learning e decisões calibradas em um sistema robótico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32510A-EFCF-481E-8FDB-3BDD1E7B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017CB-4553-488C-A623-68446963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F5987-4129-4DF5-9BE9-F621ED6A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3DD73-FDE9-4DDC-82B5-E6D966E1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JEV  ×  MAESTRO AGRÍCOLA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8D780-0C15-41CF-89FF-1A889F4D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Grupo de estudos de Reinforcement Learning · 1º out. 2026</a:t>
            </a:r>
          </a:p>
        </p:txBody>
      </p:sp>
    </p:spTree>
    <p:extLst>
      <p:ext uri="{BB962C8B-B14F-4D97-AF65-F5344CB8AC3E}">
        <p14:creationId xmlns:p14="http://schemas.microsoft.com/office/powerpoint/2010/main" val="5434911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que é Jev?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Modelo de decisão da TypeSafe: recebe estado e perguntas tipadas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Responde com escolha, probabilidade binária ou nota em escala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Seu código define opções, valida a resposta e decide a consequência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Útil quando a entrada é ambígua e a saída precisa ser pequena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AFA78-D2BE-4168-B7AE-3DE5275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C1DA5-3040-4D80-BAC1-749B922E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32986-1830-428F-8D5B-91CD3991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970B8-EE69-45CC-9D8E-C548AF74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System One: a ideia por trás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40B54-8CAA-4699-876B-F840CCEB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BB89F-F41D-49C0-9377-5607F6CA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269EA-FC74-4E64-8E94-934044E1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9FD83-F2A4-44A9-B68D-AAE4D5EF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A198A-B378-435E-AC2F-551FA7AC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System One: nome da TypeSafe para modelos de decisão rápida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2FB11-A740-4406-982B-10AAF2F8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BB59AB-CAF0-421F-B871-57180EE1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Inspirado no “Sistema 1” de Kahneman; não descreve um cérebro artificial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6FDBA-95D6-4665-AA8A-970A811F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4764A-75BE-444A-8867-53094486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é o primeiro modelo público dessa família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8637F-2432-44A5-8046-BCE218B2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A2964-7218-42A4-ADCC-9B5F6A5A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Diogo Almeida, fundador da TypeSafe, trabalhou na OpenAI</a:t>
            </a:r>
          </a:p>
        </p:txBody>
      </p:sp>
    </p:spTree>
    <p:extLst>
      <p:ext uri="{BB962C8B-B14F-4D97-AF65-F5344CB8AC3E}">
        <p14:creationId xmlns:p14="http://schemas.microsoft.com/office/powerpoint/2010/main" val="1698202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C723A-EECA-4A87-A5DA-2878E9E7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48DFC-CFA4-4880-917D-7770F34B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170E6-4A89-4BA7-8CA8-E91050A6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2C03B-A0FC-4CCB-8C62-0C14A790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bot de WhatsApp precisa encaminhar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98483-7C65-4044-B00C-3E323516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2B0D0-D141-40AD-A109-8DCD34CD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D3149-CC37-415B-9CB1-F9F2035E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741612-320B-4A1B-A038-CF54FC8B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“Minha cobrança veio duplicada. Consegue resolver?”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2BD11-B7AA-4EB2-BB0B-3E62F4FC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O bot pode conversar como humano; em algum ponto, precisa escolher um destino concreto.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CA898-D0F2-40C0-8E0B-38AEC4FF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TÉCNICO   ·   FINANCEIRO   ·   COMERCIAL   ·   HUMANO</a:t>
            </a:r>
          </a:p>
        </p:txBody>
      </p:sp>
    </p:spTree>
    <p:extLst>
      <p:ext uri="{BB962C8B-B14F-4D97-AF65-F5344CB8AC3E}">
        <p14:creationId xmlns:p14="http://schemas.microsoft.com/office/powerpoint/2010/main" val="944509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26502-155D-4C01-830B-EBCDF8F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AAE10-33F2-4F0D-9FD9-49E77D61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2E059-BFE2-4AA2-916A-41F32959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21762-86DE-4045-AD0A-009AD231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Quando usar if; quando perguntar ao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B99D8-FB1E-423B-B1D4-528A971D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DCD2A-8F84-4045-89C2-208C892B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DEC11-3CBE-4E18-A411-F6D753C6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95225-5468-4994-9000-A9A911DB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81993-47D3-4210-9DD8-83B05A9E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44958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(idade &gt;= 18) {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"sim"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 else {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resposta = "não"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2C392-22A0-4013-B1E1-30746066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24025"/>
            <a:ext cx="5619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9CCC5-E9C7-457E-93C8-46D6B742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85950"/>
            <a:ext cx="51625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"Ela disse que já é maior de idade"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question: Noul(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 frase afirma maioridade?"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answer: P(sim) → política → sim/não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64512-90EE-43AF-A749-BD00FAFD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Idade numérica conhecida: use if. Texto ambíguo: classificação probabilística.</a:t>
            </a:r>
          </a:p>
        </p:txBody>
      </p:sp>
    </p:spTree>
    <p:extLst>
      <p:ext uri="{BB962C8B-B14F-4D97-AF65-F5344CB8AC3E}">
        <p14:creationId xmlns:p14="http://schemas.microsoft.com/office/powerpoint/2010/main" val="6957051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contrato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state + questions + opções ou critérios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→ escolha, probabilidades e 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Noul → probabilidade de sim; Score → nota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Seu código valida e age após a resposta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Choice: escolher uma opção de um catálogo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Pergunta: “Para qual equipe encaminhar esta mensagem?”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Critérios: TÉCNICO · FINANCEIRO · COMERCIAL · HUMANO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Resposta: choice + probabilities por opção +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Inclua “outro/revisão” se o catálogo não cobre todos os casos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Noul: responder uma pergunta sim/não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Pergunta: “A pessoa está pedindo atendimento humano?”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Resposta: noul = P(sim), um número entre 0 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Perto de 0,5: caso incerto; o limiar fica no código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Noul não retorna um campo confidence separado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FABB3-75A7-4845-A0A8-F634F1F1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B06C6-5E67-406F-9152-98EBAA18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423C-76CE-43B4-BDF4-4280278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9E391-CF0A-4909-BC53-D1D95E48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Score: avaliar níveis ordenados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4E2B8-5E53-4B5C-A56F-1CEC381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A4CC1-8190-40F6-9BB0-20E0A768E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A0D24-18C8-4F61-B262-1415E964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4A54C-7951-4570-92FC-8C580387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35E3B-12CB-4EB8-9B9B-F4A523BC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Pergunta: “Qual é a gravidade deste bug?”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013C-9BEF-44E7-B2C5-3AD82B24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E4B1BC-BF7A-470F-8460-D8D9465E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Critérios: cosmético → recurso afetado → bloqueante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D96A1-3FD7-4D0A-9426-8B16BC32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4F5AA-C69D-4E37-AE38-F218B378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Resposta: score pode cair entre níveis; há probabilidades por nível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116F0-5003-4A9E-9F25-EE8178FC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94357-F300-4731-BEE5-6E220DC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Score mede posição na escala descrita, não P(sim)</a:t>
            </a:r>
          </a:p>
        </p:txBody>
      </p:sp>
    </p:spTree>
    <p:extLst>
      <p:ext uri="{BB962C8B-B14F-4D97-AF65-F5344CB8AC3E}">
        <p14:creationId xmlns:p14="http://schemas.microsoft.com/office/powerpoint/2010/main" val="5843204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AC219-C7D3-4C02-93C8-E8EDA6F2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5F80C-C3C4-43D8-B622-FB2DACE7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05FDB-07A6-4B20-A607-6D280BCB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0CAE2-A2A7-40D3-AD0B-12C4516C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Tokens de saída: o ponto econômico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35AC33-0D2A-4C95-9904-DB6CD5A7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82918-8FAD-4CA2-96BC-06491D36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B6105-8AB5-497D-A774-8618D74A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43B8E-1133-41BD-B812-C5D382C4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Preço anunciado de output tokens: zero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8BB44-5814-4755-B54B-6B12A818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ainda contabiliza tokens de saída. No nosso harness: 69–71 por chamada. Há custo de entrada e de rede.</a:t>
            </a:r>
          </a:p>
        </p:txBody>
      </p:sp>
    </p:spTree>
    <p:extLst>
      <p:ext uri="{BB962C8B-B14F-4D97-AF65-F5344CB8AC3E}">
        <p14:creationId xmlns:p14="http://schemas.microsoft.com/office/powerpoint/2010/main" val="7791362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F4773-3214-4E15-8080-CB938594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6F535-9EF4-49B9-B453-4154A8B7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E4582-694B-416B-AEA3-4256F148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EFFBB-26DD-4DDD-87CE-E5CB21AB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Velocidade só importa junto com qualidade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BB01FF-9E29-49A7-8D5C-09FC3F53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EAB4F-374C-4237-894F-4ED1E44A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3E812-881A-456C-855B-40E537EE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3F9A6-230A-4DB8-B48F-A17BF71C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F38B6-F468-47D1-B870-79158900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Alegações da TypeSafe vêm de workflows próprios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2A0CBE-9CE4-4A0F-8A5A-3DC04DDE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97DEC-032B-456D-BEB8-2AD0F63A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Compare a mesma tarefa, p95 e qualidade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635FD-2D4D-4CD6-BC71-71FBE8E5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DC83E-1B97-4F28-A16A-21715960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Inclua custo de rede e custo do erro</a:t>
            </a:r>
          </a:p>
        </p:txBody>
      </p:sp>
    </p:spTree>
    <p:extLst>
      <p:ext uri="{BB962C8B-B14F-4D97-AF65-F5344CB8AC3E}">
        <p14:creationId xmlns:p14="http://schemas.microsoft.com/office/powerpoint/2010/main" val="7057306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DA8A2-9A75-4454-81CF-6C749321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B4CFB-4712-44C1-891D-5033131E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EC09C-D4A3-49B9-905E-33F848DE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83374-B999-41D5-A1B2-57183DDC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LLM versus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ECCC5-A082-4930-AB3F-1108F7F2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45DA2-7E9D-4CFC-A2D9-4711CFA2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EB677-BB1A-404B-9DC9-433DC882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53750" cy="4210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191000"/>
                <a:gridCol w="4095750"/>
              </a:tblGrid>
              <a:tr h="7016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Critério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LLM generativo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Texto ou JSON gerado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Escolha/probabilidade tipada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Flexibilidade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Alta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delimitado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Validação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Schema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Catálogo + política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Tokens de saída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Geração textual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compacta; preço anunciado zero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16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Melhor uso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Explicar e redigir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Roteamento e decisão fechada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26413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E6B48-3913-434B-A215-541C8BBD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36D64-4405-4762-87D2-780D2DA4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0E1F8-EFA4-480A-A738-AF972D62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EF648-70F7-43A6-89A0-0349F9B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Choice na documentação oficial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D9A43-BD7C-4742-88C1-26CE7FA4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1BF58-7EC1-4C1E-A0EA-6EE02A3A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71CE2E-9312-4B53-9737-0E04F8CF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1e3c018c143a2"/>
          <a:stretch xmlns:a="http://schemas.openxmlformats.org/drawingml/2006/main"/>
        </p:blipFill>
        <p:spPr>
          <a:xfrm xmlns:a="http://schemas.openxmlformats.org/drawingml/2006/main">
            <a:off x="1653284" y="1447800"/>
            <a:ext cx="8866381" cy="4276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780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C9DE6-A560-4C15-9A5F-F4D5A1CB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DBE0E-DD68-4341-8AFD-630BB470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46228-D050-4AD9-910A-FF9653D9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AA897-EF37-4AFD-B964-DFE5DBF8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Playground: encaminhar uma mensagem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A0D81-FF9D-4795-A737-EAA727A0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E1B99-EA42-4BA8-919C-CAEB9CBB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97EF7-8CCB-40AA-BDC2-8F7D7715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0B6F7-8276-4606-A2F3-0AFF642A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28700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E0B4F-D486-4E5A-88B9-3F5DF3B6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98298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state: "A integração de pagamento falhou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e a fatura foi cobrada duas vezes."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Choice: FINANCEIRO | TÉCNICO |</a:t>
            </a:r>
          </a:p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8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  COMERCIAL | HUMANO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5F481-EBF0-40FD-812E-19F81B0A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Antes de executar: qual opção a sala espera?</a:t>
            </a:r>
          </a:p>
        </p:txBody>
      </p:sp>
    </p:spTree>
    <p:extLst>
      <p:ext uri="{BB962C8B-B14F-4D97-AF65-F5344CB8AC3E}">
        <p14:creationId xmlns:p14="http://schemas.microsoft.com/office/powerpoint/2010/main" val="6086403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C41BB-8F38-4941-A5C0-A2718DD7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1C2DE-AB54-4E28-8FB9-47D9BBC5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D6B39-C007-4F4F-B0D7-5C2885E0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2E68F-0F16-4C9B-A707-804FD17C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Playground da TypeSafe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BE83E-4F44-4967-897E-7342E7B1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E26F6-00DB-4EFE-AEF1-8B00547D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A5E39-AC1B-4B41-A236-4B782537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05876-FE1F-4C00-B120-EB985508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0200"/>
            <a:ext cx="109537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62993-8C9D-4103-8572-53BC39DD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908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ÁREA PARA PLAYGROUND AO VIVO</a:t>
            </a:r>
          </a:p>
        </p:txBody>
      </p:sp>
    </p:spTree>
    <p:extLst>
      <p:ext uri="{BB962C8B-B14F-4D97-AF65-F5344CB8AC3E}">
        <p14:creationId xmlns:p14="http://schemas.microsoft.com/office/powerpoint/2010/main" val="2903932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12D79B-5740-46E4-B1C9-282873F6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EC64D-E2D7-440A-956A-5A275614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BC965-343B-4E39-B3E4-3C21E70D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22B5B-C34A-4AEA-89BF-08A77E9B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POST /v1/systemone · requisição 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D369C-3005-4989-A90C-FD40D9DC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E6720-9443-48A3-87D6-E2B8C6DD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DA8B9-9F23-4E50-A250-94EF7706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A3861-D85E-4714-BD15-77B9F07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71625"/>
            <a:ext cx="1066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B4DAE-CFA3-4EA2-9323-D4666FF6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1733550"/>
            <a:ext cx="10210800" cy="3771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POST /v1/systemone</a:t>
            </a:r>
          </a:p>
          <a:p xmlns:a="http://schemas.openxmlformats.org/drawingml/2006/main">
            <a:pPr>
              <a:defRPr sz="1725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C303B"/>
                </a:solidFill>
                <a:latin typeface="Lato"/>
                <a:ea typeface="Lato"/>
                <a:cs typeface="Lato"/>
              </a:rPr>
              <a:t>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"state": "Cobrança duplicada",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"model": "jev-1.13.0",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"questions": {"departamento":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"type": "choice",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"instructions": "Qual equipe atende?",</a:t>
            </a:r>
          </a:p>
          <a:p xmlns:a="http://schemas.openxmlformats.org/drawingml/2006/main">
            <a:pPr>
              <a:defRPr sz="1725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C303B"/>
                </a:solidFill>
                <a:latin typeface="Lato"/>
                <a:ea typeface="Lato"/>
                <a:cs typeface="Lato"/>
              </a:rPr>
              <a:t>    "criteria":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"FINANCEIRO": "Cobrança ou fatura",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"TECNICO": "Erro de integração"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}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}}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09822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CC710-F7C8-4B4D-B3CF-14403E6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084B-F8FE-4C0C-832C-FDC2DAC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E47B-4016-4715-A0F4-C4EF7F1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3B5F1-7E86-4F67-B48E-3663B71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RL: aprender com recompensa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1E16C-44B2-4CCF-B69F-1CBB4FC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5E8C-EEBB-47F8-A687-6CDFCEF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38C0-7E4B-4649-BFC5-9C2242F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2888A-5ACF-47DA-9F2B-C730884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14CC-9120-4CC0-AF53-6C8EDD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 s, ação a, novo estado s’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AE983-6B91-4704-BA8E-E77DF62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E8AF-7D9D-400B-B7C0-1CEFDA3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recompensa recebida do ambiente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7BD1-4AAA-4138-8DDB-3B4828F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C82FB-F213-45A3-AC9D-D3B03E6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π(a|s) busca retorno esperado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4CAD0-3A0F-4C52-A981-A810E3B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B15B-A27F-4F46-B5D3-B1262C6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Exemplos: jogo, controle robótico e navegação simulada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B2728-C709-43D3-B640-381EB73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C45A-898C-4832-AEC5-FA9E19C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recompensa mal definida induz atalhos</a:t>
            </a:r>
          </a:p>
        </p:txBody>
      </p:sp>
    </p:spTree>
    <p:extLst>
      <p:ext uri="{BB962C8B-B14F-4D97-AF65-F5344CB8AC3E}">
        <p14:creationId xmlns:p14="http://schemas.microsoft.com/office/powerpoint/2010/main" val="17424429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5A13A-6813-4A14-8D77-498C74A7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FF7D2-86DE-45A1-A74E-2F1D8FFA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6FC71-9656-49D9-BA1F-3BDB6D0D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2B98A-F36A-4D52-A3F0-2C23BFF7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RLHF: aprender com preferência humana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3B01A-8DBD-4380-ADC7-B96F4820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11BDA-AE02-47C5-8181-5A3AA61E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9EA6C-5658-4AC2-A73B-2C071E7E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D12C0-D5A0-4D28-BC63-027837E6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9CCF0-3CA8-4A29-B197-EBBD39DF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respostas alternativas para uma mesma pergunta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6FA66-C8B0-4819-B040-30ADF04C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3583C-D735-4FB6-BA22-88447AAC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pessoas comparam quais respostas preferem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5606D-F74B-4BA4-887F-F0A7BA18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84772-583D-4315-911D-5B9F6D41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bem avaliadas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F69E8-F5D1-46C5-8962-23560BFB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FC2E0-2E6D-4805-A97A-F893778E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Exemplos de chat models: ChatGPT, Claude, Grok, DeepSeek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9553A-1A83-45EF-8AEB-0E8405E8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461C1-4F52-4C49-9E71-0EA04A14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preferência não garante probabilidade calibrada</a:t>
            </a:r>
          </a:p>
        </p:txBody>
      </p:sp>
    </p:spTree>
    <p:extLst>
      <p:ext uri="{BB962C8B-B14F-4D97-AF65-F5344CB8AC3E}">
        <p14:creationId xmlns:p14="http://schemas.microsoft.com/office/powerpoint/2010/main" val="6021129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003DE-9F09-438B-8106-77151030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5FA62-32F6-43E6-B6FB-A2B742A8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67D27-B205-4E33-B7F5-B1024A0D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EBA42-1D1F-4B33-A737-264ED797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RLVR: aprender com verificação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785A8-802E-4674-90B4-A50ECA50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AC84D-7FD9-4173-BA29-B58E2D0F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B5716-39B0-408C-A704-4EBEE4E6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F1236-7EF1-4AAE-8AC8-12AD1A2A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998A6-41FF-4204-8E6B-FF5B62E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tarefa com resposta verificável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BBC60-527B-4C15-8216-D7DE6126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463E8-E960-4BCF-B716-7B077302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Sinal: teste de código, gabarito matemático ou prova formal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EC724-1307-4BFA-8093-D410BD1C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ED39DC-7B59-40B7-8D92-626085E2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política favorece respostas aprovadas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B8CF8-1B9F-4619-8C4B-48DCE02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7FD54-FEF7-45EF-A035-0CCF702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Exemplos de reasoning models: o1, o3 (matemática/código)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AD00F-611D-41CF-A4C1-8CE4E56F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E5528F-29EE-4538-8DFC-560D0422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acerto no verificador não garante calibração</a:t>
            </a:r>
          </a:p>
        </p:txBody>
      </p:sp>
    </p:spTree>
    <p:extLst>
      <p:ext uri="{BB962C8B-B14F-4D97-AF65-F5344CB8AC3E}">
        <p14:creationId xmlns:p14="http://schemas.microsoft.com/office/powerpoint/2010/main" val="19517625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DEF525-A654-4D51-BE58-A918EC02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16114-C35E-47F2-A8E6-E9D628E8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3DFA7-5C58-4051-A60D-5F00AF71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D3949-12DC-4A58-AC02-A495344E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RLCD: decisões e probabilidades calibradas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FE0E2-0744-4B55-946F-278418A6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EC995-B89B-4C63-BAA1-304336B0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DBD85-DBF5-40ED-82D0-9A07E7AB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A347A-4078-4ADE-9FE5-517D5142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6A57E-ECDC-4F5D-B855-205E0F6F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Entrada: estado, pergunta e saídas bem definidas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250E9-FAAD-41D4-BD35-80061D86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6376F-7787-498B-82B3-96D13B87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Sinal visado: qualidade da decisão e da probabilidade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82F1E-C797-4266-8FF5-BB6DB689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BAFF4-DDD6-4617-880A-14F4C8C1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Ajuste: procedimento interno não detalhado publicamente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7D229-D69D-4251-9828-BA7AD074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C00361-A236-46A4-9F5C-AD508E69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Saída: Choice, Noul ou Score com valores probabilísticos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6193A-C591-4E0D-B01E-1B5BEFA8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6CECB-BB79-4132-A14E-E7992BED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Limite: objetivo declarado não prova calibração no seu domínio</a:t>
            </a:r>
          </a:p>
        </p:txBody>
      </p:sp>
    </p:spTree>
    <p:extLst>
      <p:ext uri="{BB962C8B-B14F-4D97-AF65-F5344CB8AC3E}">
        <p14:creationId xmlns:p14="http://schemas.microsoft.com/office/powerpoint/2010/main" val="3862063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CC710-F7C8-4B4D-B3CF-14403E6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084B-F8FE-4C0C-832C-FDC2DAC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E47B-4016-4715-A0F4-C4EF7F1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3B5F1-7E86-4F67-B48E-3663B71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RLCD: o que significa “calibrada”?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1E16C-44B2-4CCF-B69F-1CBB4FC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5E8C-EEBB-47F8-A687-6CDFCEF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38C0-7E4B-4649-BFC5-9C2242F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2888A-5ACF-47DA-9F2B-C730884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14CC-9120-4CC0-AF53-6C8EDD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Uma escolha com P=0,8 não promete acertar este caso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AE983-6B91-4704-BA8E-E77DF62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E8AF-7D9D-400B-B7C0-1CEFDA3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Em muitos casos comparáveis de P≈0,8, esperar ≈80% de acerto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7BD1-4AAA-4138-8DDB-3B4828F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C82FB-F213-45A3-AC9D-D3B03E6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Acertar muito e estimar bem a incerteza são metas diferentes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4CAD0-3A0F-4C52-A981-A810E3B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B15B-A27F-4F46-B5D3-B1262C6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Uma decisão pode ser correta e confiante demais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B2728-C709-43D3-B640-381EB73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C45A-898C-4832-AEC5-FA9E19C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Calibração deve ser testada por classe e por contexto</a:t>
            </a:r>
          </a:p>
        </p:txBody>
      </p:sp>
    </p:spTree>
    <p:extLst>
      <p:ext uri="{BB962C8B-B14F-4D97-AF65-F5344CB8AC3E}">
        <p14:creationId xmlns:p14="http://schemas.microsoft.com/office/powerpoint/2010/main" val="174244299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CC710-F7C8-4B4D-B3CF-14403E61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084B-F8FE-4C0C-832C-FDC2DAC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BE47B-4016-4715-A0F4-C4EF7F1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3B5F1-7E86-4F67-B48E-3663B71C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RLCD: o que conseguimos testar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1E16C-44B2-4CCF-B69F-1CBB4FC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D5E8C-EEBB-47F8-A687-6CDFCEF6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A38C0-7E4B-4649-BFC5-9C2242FC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2888A-5ACF-47DA-9F2B-C730884C7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C14CC-9120-4CC0-AF53-6C8EDD00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144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Escolha: accuracy, macro-F1 e matriz de confusão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AE983-6B91-4704-BA8E-E77DF623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0E8AF-7D9D-400B-B7C0-1CEFDA32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6220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Probabilidades: Brier, ECE e curva de confiabilidade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D7BD1-4AAA-4138-8DDB-3B4828F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DC82FB-F213-45A3-AC9D-D3B03E61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992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Segurança: erros críticos por classe e limiar de 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4CAD0-3A0F-4C52-A981-A810E3B1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8B15B-A27F-4F46-B5D3-B1262C6B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Comparar no mesmo corpus, versão, prompt e hardware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B2728-C709-43D3-B640-381EB73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FC45A-898C-4832-AEC5-FA9E19C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05375"/>
            <a:ext cx="100869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Sem detalhes do treino, não isolamos o efeito causal do RLCD</a:t>
            </a:r>
          </a:p>
        </p:txBody>
      </p:sp>
    </p:spTree>
    <p:extLst>
      <p:ext uri="{BB962C8B-B14F-4D97-AF65-F5344CB8AC3E}">
        <p14:creationId xmlns:p14="http://schemas.microsoft.com/office/powerpoint/2010/main" val="17424429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C89C0-BAFF-4405-A6C3-B5087F7F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23DA8-893E-4421-87FE-0A02DACD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88CE6-9123-4502-B782-BB88D2A7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382E9-77DA-4CE2-B63A-F4A822BB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Probabilidade de 80%: como conferir?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5C64C-1BA0-4B12-BA8A-F741B1FA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2B441-AE8E-4C68-A1BB-C280648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EB57B-06FD-4116-AA10-A5BC9CAC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7A851-3684-4226-8D2B-6AFEF3B9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62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Junte 100 decisões em que o modelo disse 80%.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475B6-4A1B-415C-A2CF-626D2A4E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Se acertou perto de 80, essa faixa parece calibrada.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47322B-0C20-4A8E-A041-67865362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143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Se acertou só 50, ele foi confiante demais.</a:t>
            </a:r>
          </a:p>
        </p:txBody>
      </p:sp>
    </p:spTree>
    <p:extLst>
      <p:ext uri="{BB962C8B-B14F-4D97-AF65-F5344CB8AC3E}">
        <p14:creationId xmlns:p14="http://schemas.microsoft.com/office/powerpoint/2010/main" val="10448770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CD7E5-28F4-4A60-BC00-3E5D9D32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C74C8-DFCE-4289-9041-A95FD494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B21CC-A7F0-42EB-948D-A6802AD8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D2F9F-9538-4BBA-ABAA-0CF50FCC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Três medidas, três perguntas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843F8-6709-44A9-9EEB-A3EBF02C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8188C-D25C-4A6D-8D19-B47B72E0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F706C-4329-4D7A-BA1B-6E4437C5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5CED1-A309-4B34-9EC8-3724ED4F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D1501-F85E-4522-A53B-D3522C45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Accuracy / macro-F1: qual opção foi escolhida?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DDC49-29A1-45DD-89C7-BA36E078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EEDC2-DF2E-49B2-98DF-5E9F6E51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Brier / ECE: as probabilidades batem com a frequência?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07EDD-F6B2-4743-9545-4C5D78DB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1A9B42-D4F0-4904-8E50-0D575C60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Falsos aceites: qual erro pode iniciar uma ação perigosa?</a:t>
            </a:r>
          </a:p>
        </p:txBody>
      </p:sp>
    </p:spTree>
    <p:extLst>
      <p:ext uri="{BB962C8B-B14F-4D97-AF65-F5344CB8AC3E}">
        <p14:creationId xmlns:p14="http://schemas.microsoft.com/office/powerpoint/2010/main" val="2332867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81B25-7386-47D6-8149-DEF97622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15CE2-A6ED-4E90-A518-F4D1C4DC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335BF8-C2ED-4E25-A4F8-9A9D265B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D2E63-35BC-4019-9DC0-19615C9A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RL, RLHF, RLVR e RLCD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62FAA-61AE-4A0A-B895-B7B75E6B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7C5FD-E20F-4270-B574-F39527D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REINFORCEMENT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C0B5C-3C38-44CC-9BEC-5710E9D6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25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53750" cy="3476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571750"/>
                <a:gridCol w="3048000"/>
                <a:gridCol w="3524250"/>
              </a:tblGrid>
              <a:tr h="6953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Família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Sinal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 que busca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Limite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Recompensa ambiente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Retorno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Reward mal definida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RLHF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Preferência humana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Resposta preferida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Não garante calibração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RLVR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 verificável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Escopo do verificador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RLCD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Objetivo TypeSafe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Decisão calibrada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Faltam detalhes e testes que isolem o treino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77926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7510A-D434-43BF-AEA7-6F7A1A6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48405-AA73-4A2C-B35F-BAD71EA7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621CA-7D56-4785-AF0F-1A1CF0E2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C3836-19B6-4672-8FAB-AE669E50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Emojis conforme a frase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9E204-B3BD-4A58-8B46-30C28DFA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7C7DC-3B29-4377-9733-554BA07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40ABB-0E12-47A4-B587-8B1722E0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956B2-1469-400C-9EC9-F27CDF2B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F47E2-2962-46D2-86C6-5CC251E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50E86-EAEA-4D3B-9B75-12764C65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Stefan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8DCA2-85DC-4098-90CE-2A180C73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Texto → catálogo de emojis →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E5E01-4DAF-4991-8585-83646EAA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https://x.com/heystefan_/status/2101369117496521042</a:t>
            </a:r>
          </a:p>
        </p:txBody>
      </p:sp>
    </p:spTree>
    <p:extLst>
      <p:ext uri="{BB962C8B-B14F-4D97-AF65-F5344CB8AC3E}">
        <p14:creationId xmlns:p14="http://schemas.microsoft.com/office/powerpoint/2010/main" val="127819191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D9502-45E0-4472-848F-DE075A92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B7BA5-4924-4595-A0C0-6EED15CF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C23DD-5E4E-4111-BADA-9A225E28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7F2B75-AAE1-46E0-B483-BE585A1C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Escolher a skill antes do contexto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35D8A-6F64-4D15-A8C7-0DF7B534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90ACF-E4C1-4A14-8C7E-AF3056CB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D145B-F294-4471-A03D-73BB0B5E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A21C7-A8F8-487D-98A3-58474029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EE65D2-98C8-4C1C-B146-3B3AC950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E6109-943F-4BE1-BD27-DA77B999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Daniel Avila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EFF2C-D152-4255-B25A-CAEE988B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Pedido → catálogo de skills → carregar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86EAE-FFA3-43AA-BCD0-8B8C0A24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https://x.com/dani_avila7/status/2101885477158547753</a:t>
            </a:r>
          </a:p>
        </p:txBody>
      </p:sp>
    </p:spTree>
    <p:extLst>
      <p:ext uri="{BB962C8B-B14F-4D97-AF65-F5344CB8AC3E}">
        <p14:creationId xmlns:p14="http://schemas.microsoft.com/office/powerpoint/2010/main" val="6407860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2A14EF-B8A1-4938-A8D4-DE743F9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2377C-396A-460F-BA77-9265D17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91686-D623-4831-A025-E2BD1A5C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568CB-E29C-4936-8F76-20092F5E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Triagem de PR e economia de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F5CE0-7F16-4FBF-84BE-C4E0646E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6CEE1-2C32-476E-8E87-4C3CC751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C7613-74F8-4E8A-A75A-934DC52C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622A6-CDA8-43D6-A87D-169C8228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A5398-8B46-4866-ADD9-249FB9A4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AF783-3CB3-47E0-86C7-605DC8D0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PR Judge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7DD38-D914-47CE-9C03-38035F95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Diff limitado → SAFE / REVIEW / 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F7A78-E1BE-4E5A-8246-A06DC6FD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https://jevtypesafeai.com/tools/pr-judge</a:t>
            </a:r>
          </a:p>
        </p:txBody>
      </p:sp>
    </p:spTree>
    <p:extLst>
      <p:ext uri="{BB962C8B-B14F-4D97-AF65-F5344CB8AC3E}">
        <p14:creationId xmlns:p14="http://schemas.microsoft.com/office/powerpoint/2010/main" val="18233075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6C6DA-DAC1-4EB9-A18F-A03B1094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FE714-FE27-43F1-A144-37E45659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906A7-A0C5-401D-A330-27EC7F3C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53347-A06D-4099-A7DB-10C6F55D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Xadrez: Jev, Fable e Astra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94C79-4DDD-4D4A-B790-1C2D44A1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3FC1C-3760-4A52-A888-8D1EAE42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FDFA5-5283-4866-97E1-FE412D2E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91DD3-2B4E-4FFD-9DF1-DFB79212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846F8-922F-47EB-BB1C-B1A92294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9DD2A-D11D-42DE-B1CA-73F17B68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Thread pública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63610-DAB8-4DD3-9C82-EBAF0929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Blitz 5+0; Jev vence Fable no tempo; Astra dá 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DF25C-19E1-4C17-8AC3-9E3A7A18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https://threadnavigator.com/thread/2100372930282573876/</a:t>
            </a:r>
          </a:p>
        </p:txBody>
      </p:sp>
    </p:spTree>
    <p:extLst>
      <p:ext uri="{BB962C8B-B14F-4D97-AF65-F5344CB8AC3E}">
        <p14:creationId xmlns:p14="http://schemas.microsoft.com/office/powerpoint/2010/main" val="12500782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94716-0716-4F66-A082-D8EC73E6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AF3C2-25EF-42EC-BA6B-7BE16023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C1194-CB62-409F-87E8-6765A532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2615C-48BD-438B-AA00-4182A2B7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JevPilot em simulação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FCC9F-F564-44B6-A710-EA598DE5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91F88-1C60-417E-A31D-7CA8E3E7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DEMOS DE TERCEIROS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272A2-F0A9-4B4B-BE6F-366950F6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8311F-C0B4-43EF-B05B-38E61BD6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19211-03B0-4164-A2E1-2F79330D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E42664-1120-40A0-A842-EB068145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Justin Schroeder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70104-A44F-4FDA-8A6C-28C144E4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HighwayEnv → ações fechadas → freio em código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D808D-2EE9-4409-B475-0370791B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https://x.com/jpschroeder/status/2100347770867458384</a:t>
            </a:r>
          </a:p>
        </p:txBody>
      </p:sp>
    </p:spTree>
    <p:extLst>
      <p:ext uri="{BB962C8B-B14F-4D97-AF65-F5344CB8AC3E}">
        <p14:creationId xmlns:p14="http://schemas.microsoft.com/office/powerpoint/2010/main" val="207404511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087D8-7BD6-4D4F-A78F-421F291D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4F445-D268-4887-AEA4-C35B6901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06B9B-ADC9-4F8C-909C-E02E76F4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DE11C-8355-4EC9-A90C-10A9A44A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Laya apareceu dias depois do Jev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9D71F-933E-4ABE-B56D-5939EE36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A77DD-C1DE-4D6C-9AD4-AAAAC7F8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8217D-5180-49C9-943E-9593ABF8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54196-3A60-414F-BB21-FF5839CB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16D98-204C-4B97-920A-F349553D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foi anunciado pela TypeSafe em 15/09/2026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7DEC5-F26A-4C3D-AF06-0BE664D9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86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9EF91-840D-4E1C-A8C1-9E61173D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8125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 surgiu como modelo de decisão com pesos abertos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4834B-1581-435E-B809-8403B171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1B2EB-6724-4D9F-B1E0-EF0D6A14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86125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Choice, Score e Noul: mesma família de perguntas tipadas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C4302-1163-4A50-9CE6-564F075A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35FF3-B4BD-4CA1-8EF7-26CE450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91000"/>
            <a:ext cx="10182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Laya-MLX levou a inferência local ao Apple Silicon</a:t>
            </a:r>
          </a:p>
        </p:txBody>
      </p:sp>
    </p:spTree>
    <p:extLst>
      <p:ext uri="{BB962C8B-B14F-4D97-AF65-F5344CB8AC3E}">
        <p14:creationId xmlns:p14="http://schemas.microsoft.com/office/powerpoint/2010/main" val="67689502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FD065-2238-4289-8586-BEBA274A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8BDD6-336B-4881-929C-2B891913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AFA29-63B4-4AA3-8389-34B78B25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174CD-C979-470E-8B58-50207B0C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 × Laya: o que muda?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F1239-AC9A-4B39-AED8-BD99CC8F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9F902-FFE3-4BB2-9E0F-C39A8262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33FBD-6FBF-4B66-A047-85DD1630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32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53750" cy="3981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095750"/>
                <a:gridCol w="4191000"/>
              </a:tblGrid>
              <a:tr h="66357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Aspecto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Laya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Acesso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API remota da TypeSafe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Pesos abertos; execução local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Choice / Score / Noul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Choice / Score / Noul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Latência publicada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Serviço remoto; depende da rede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MLX: 7,39–13,42 ms p50 no M3 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No Maestro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60 casos; 54 acertos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Ainda não medido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6635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Conclusão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Experimento medido no projeto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Candidato a avaliar no mesmo corpus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62992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ADEAA-E296-48C5-A075-BCDBBD50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4488E-8D5C-4649-9517-FF5DDA48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20DD3-F614-486C-A972-B6C63ACE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882CE-FE0F-4F11-BCDD-340D2820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Por que surgiram tantos modelos parecidos?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70F44-FB7D-4624-9A20-7315D8BC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F3379-0AEB-4730-BDFF-F69ADA4C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8B208-3E6D-477A-8425-84734535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EB7B5-DE80-42CB-84D6-783C364D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5FDE8-C823-4880-A80C-EBB6DD14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7637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mostrou uma interface clara: estado + opções + probabilidades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2B026-A9A4-4712-946B-2C20C38A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D6F81-F5DA-4B9D-853E-9A747F59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0982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Outros grupos reutilizaram encoders, pesos e benchmarks públicos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CE0F4-1950-44D2-9F0B-48E47629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4C659-4A7D-410E-B5A6-089D3EA5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4327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Cada projeto otimiza um recorte diferente: dispositivo, tarefa ou custo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609BAA-D708-4635-940F-54F3619E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DCAA6-DBA3-448A-BF57-BEF18497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76725"/>
            <a:ext cx="10182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“Mais rápido” depende de hardware, rede, cache e tamanho da entrada</a:t>
            </a:r>
          </a:p>
        </p:txBody>
      </p:sp>
    </p:spTree>
    <p:extLst>
      <p:ext uri="{BB962C8B-B14F-4D97-AF65-F5344CB8AC3E}">
        <p14:creationId xmlns:p14="http://schemas.microsoft.com/office/powerpoint/2010/main" val="69480378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3867CB-8094-4CFB-A84B-49FDB18E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9ADE9-3908-4FE0-9D39-120C7054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1D5BA-CCF3-4B84-9288-46092D55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5CFED-B817-44CB-A154-F74E0266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Julia-1: pesquisa brasileira em decisão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4D3730-E5EF-4CA8-9E57-ED839B8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96A08-C22D-4CAF-B504-B03EFACF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45AD0-1AC8-429C-A5C7-BA0129C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049EA-A9EB-4DE2-A381-DCD5FD3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FCF71-9956-4B6E-9538-63F026AA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39065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Supersonic Labs, do Brasil: 144,3 milhões de parâmetros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B978F-1823-4720-9704-07B9343E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195C4-4A85-441A-88D5-A73E66F5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0275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Base mmBERT-small; recebe estado, pergunta e 2 a 20 opções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3E450-0154-44DC-998A-B0CBBCBC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47DA3-5C1E-464E-9876-629556A7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Roda em CPU; há exportação ONNX/WebGPU e teste em tablet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ACDA9-8CF0-4E19-8B2D-81C705B8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DB8B41-6D6E-4EEB-8C8B-FC243B7D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73,15% em typed decisions; Jev de referência: 72,70%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C4C9E-C7D3-471A-8AC8-66A8BD99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339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31594F-891F-4714-B858-9684937A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103727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Banking77: Julia 64%; referência Jev 87%</a:t>
            </a:r>
          </a:p>
        </p:txBody>
      </p:sp>
    </p:spTree>
    <p:extLst>
      <p:ext uri="{BB962C8B-B14F-4D97-AF65-F5344CB8AC3E}">
        <p14:creationId xmlns:p14="http://schemas.microsoft.com/office/powerpoint/2010/main" val="179079572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BC8A6-2252-4731-AA91-0006A908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8F398-DF0C-4AFA-9798-98B030EA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CF36D-031D-4306-B112-01FBC46E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DE6E7-29D4-47F7-8322-716F0CE3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CLM: a proposta de Stanford e NVIDIA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EE33C-47A4-4F62-84C9-B8E6EAE6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B8DB6-B82B-4809-9487-8DF6A673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1498B-2B84-429E-A311-09B470FC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A44A4-E07C-4E43-9EFB-A66B731E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335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7D120-B93A-4935-B9AD-833978B6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2875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Dois encoders aproximam estado e ação no espaço vetorial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4D6F4-4452-498D-BDF7-E33056E3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8D694-0458-495B-9F78-38E39F8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76475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Ações conhecidas podem ter embeddings calculados antes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6EB91-224A-43A6-A257-C5E60E83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ACF41-1BB6-48CB-BE04-4FE37192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12420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Treino contrastivo; seleção por similaridade, sem gerar texto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6B2C0-63E3-43D3-A19F-20233B36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6F546-132F-4628-9DC0-DE4FE6F3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71925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 grupo relata até 9× menor latência em tarefas selecionadas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2B6F3-E951-4A94-B95B-C4E232F6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0AC4D-837F-4317-9CC1-367947E2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19650"/>
            <a:ext cx="102774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É um modelo de 8B com GPU; não equivale ao Julia em CPU</a:t>
            </a:r>
          </a:p>
        </p:txBody>
      </p:sp>
    </p:spTree>
    <p:extLst>
      <p:ext uri="{BB962C8B-B14F-4D97-AF65-F5344CB8AC3E}">
        <p14:creationId xmlns:p14="http://schemas.microsoft.com/office/powerpoint/2010/main" val="33304259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8B34B-7AB8-422F-8D6D-C1BF3CFE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09336-F551-4991-AEF8-6ADA6D45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E2A7D-527E-486B-8C44-80C418E6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A482B-5E29-43A6-9C17-C84DF2E7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Span-01: especialista em avaliar traces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0807D-EF51-429F-8C1F-599CD4B9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764C4-2D75-4C22-813E-0B81B8A3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DA3D4-F7D2-42B1-B0B8-2C9F5C5F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29B35-4180-4803-A727-46FD2D0B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478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09995-B846-4C5B-AFFD-07F0029F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543050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Respan: modelo de 4B para detectar comportamentos em conversas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6D6B0-D928-48D3-A076-3BDE6C20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889C6-D7EF-40A9-9D01-35C5E3D2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524125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Retorna probabilidades; inclui “não observável”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F4222-27B4-40D4-ABEA-A0633847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F11CF-7A7A-4DA6-A0C3-4AAEB44B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05200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F1 geral publicado: Span-01 0,843; Jev 0,715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9A2F7A-D20A-41EC-9E85-E448A0EC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E004A-AE6F-4CA8-AA34-57CC7365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86275"/>
            <a:ext cx="1018222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9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Benchmark da própria Respan; tarefa e protocolo específicos</a:t>
            </a:r>
          </a:p>
        </p:txBody>
      </p:sp>
    </p:spTree>
    <p:extLst>
      <p:ext uri="{BB962C8B-B14F-4D97-AF65-F5344CB8AC3E}">
        <p14:creationId xmlns:p14="http://schemas.microsoft.com/office/powerpoint/2010/main" val="21363018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4208A-7275-475C-9993-594FDB9F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0A6D8-1CE9-4ACD-A6AB-A9CF9F56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99ACC-62DA-408D-81D1-6C22CCD1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E40B9-BFBD-49D5-937F-DD39D6F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 documento por trás do post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F12358-6306-46A1-9FE5-DE20067A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F6266-09CF-413E-A11F-B19852E1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4C15C-CC1B-44AB-9506-A80EB3CF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37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3c0596fe64dde"/>
          <a:stretch xmlns:a="http://schemas.openxmlformats.org/drawingml/2006/main"/>
        </p:blipFill>
        <p:spPr>
          <a:xfrm xmlns:a="http://schemas.openxmlformats.org/drawingml/2006/main">
            <a:off x="590550" y="1751941"/>
            <a:ext cx="4667250" cy="3639868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BB282-8D8C-4456-AF6E-89CEBB76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576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Notas compartilhadas por Diogo Almeida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86A8D-66F7-4E9D-9823-2991A364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24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CCBC8-60D9-465D-89A1-16477E7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Agente de código: loop com poucas ferramentas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8AE7B-C7FC-4C2D-BA7A-880C6E07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62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B7A08-3BAE-4132-8877-AB156EED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4575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Pergunta central: e sem KV cache?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26AC6-9BA8-4931-97DF-AAEB25BF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005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FD5C2-8DCF-4BAE-AC52-4B3598CD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95775"/>
            <a:ext cx="5438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 texto é uma proposta; não traz benchmark do agente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5B59A-E69D-4D90-8071-85F4E2F3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578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documento público; imagem da página 2</a:t>
            </a:r>
          </a:p>
        </p:txBody>
      </p:sp>
    </p:spTree>
    <p:extLst>
      <p:ext uri="{BB962C8B-B14F-4D97-AF65-F5344CB8AC3E}">
        <p14:creationId xmlns:p14="http://schemas.microsoft.com/office/powerpoint/2010/main" val="178070884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B8122-E3A1-488A-BA61-B78F7B0E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1CE07-24F9-493C-BDA5-3CB05A3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DBB0E-A48A-4BA4-A8E1-ED577B13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53249-D505-4185-9A6E-F0DA71DA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Por que trocar de modelo pode sair caro?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60FA2-F288-44F3-864B-7CB814A0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EE63A7-CBAF-40D4-9170-3849D901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BE54C-DD61-4E34-8592-9A5C3D52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BDB66-67D3-42B7-9B1B-7BC652CE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Contexto longo já carregado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C4115-9655-43BD-A93F-EC65FB48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Modelo forte  →  modelo barato  →  modelo forte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A58BE-D445-4A24-A17D-07F01118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Na volta, o modelo forte pode precisar reler o histórico.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9D2F5-2822-4362-A9C5-D28FAC2A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A pergunta do documento: qual contexto cada chamada precisa receber?</a:t>
            </a:r>
          </a:p>
        </p:txBody>
      </p:sp>
    </p:spTree>
    <p:extLst>
      <p:ext uri="{BB962C8B-B14F-4D97-AF65-F5344CB8AC3E}">
        <p14:creationId xmlns:p14="http://schemas.microsoft.com/office/powerpoint/2010/main" val="203933906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B0010-7F4E-40DB-8CCF-73EDCB87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CB5FC-D3CE-47CA-9842-5DE11AEB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32001-3DE1-4A99-9B3B-1F28AB3A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14CD7-488A-4C9D-B0DF-B11A85FE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Contexto montado para a próxima tarefa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6BCF4-C8F9-4E53-8206-FDB070F8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8A91E-94D9-457D-BC08-6E7B4826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D6480-9B3A-4C25-82F8-D6DC80FB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39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53750" cy="37242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952875"/>
                <a:gridCol w="3667125"/>
              </a:tblGrid>
              <a:tr h="74485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Trecho disponível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Decisão possível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Quem aplica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Saída longa de ferramenta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ocultar / resumo / completo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Instrução de uma pasta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carregar quando relevante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Ferramenta do catálogo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mostrar descrição / schema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485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Resultado de subagente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passar só o necessário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harness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AC3D5-03A1-47F4-B512-508B6995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Jev pode estimar relevância; o código monta e valida a janela.</a:t>
            </a:r>
          </a:p>
        </p:txBody>
      </p:sp>
    </p:spTree>
    <p:extLst>
      <p:ext uri="{BB962C8B-B14F-4D97-AF65-F5344CB8AC3E}">
        <p14:creationId xmlns:p14="http://schemas.microsoft.com/office/powerpoint/2010/main" val="28204621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87E3C-CC26-4031-931A-343B7F7F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8DC8F-5D7B-456D-BBCE-51847EAB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C8840-5BF7-468B-8EDB-DD086EAE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A8715-BC7F-4FF0-BB8A-6026E219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Onde Jev pode entrar no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C4669-5507-4A8D-B9D1-B1C23954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E2E1E-5FAC-4376-8ABB-E5D629E6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 EM AGENTES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0E0FF-B404-4C56-8E2E-671599E3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F79DD-7225-478A-BB97-8AB734AB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PEDIDO  →  ESTADO E CANDIDATOS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05513-B2EA-46C4-9338-FC678A94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JEV: contexto, ferramenta, rota ou permissão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4D1E2-D3E4-4194-A55C-D69A0BB7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CÓDIGO: confere catálogo, política e estado atual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BF24C-E1A1-4F7A-B7D6-3B0AEE55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LLM / FERRAMENTA: executa  →  testes e observação</a:t>
            </a:r>
          </a:p>
        </p:txBody>
      </p:sp>
    </p:spTree>
    <p:extLst>
      <p:ext uri="{BB962C8B-B14F-4D97-AF65-F5344CB8AC3E}">
        <p14:creationId xmlns:p14="http://schemas.microsoft.com/office/powerpoint/2010/main" val="137166654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23097-56D6-4CDE-8006-60C3867E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4A3A0-F3CB-4884-9BA3-66E388B4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D57C9-ECFA-45CF-8013-9AFEE2D2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9E56CD-99DB-4902-BD53-EB3E64AD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Comparar no mesmo 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800FD-56D6-4915-9671-D35DB16C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EFB6B-E717-4AE4-8BC1-4D014062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CENÁRIO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63C3A-4F35-4D70-BD3E-DD620381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41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53750" cy="4238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4095750"/>
                <a:gridCol w="4857750"/>
              </a:tblGrid>
              <a:tr h="706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Sistema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Onde se destaca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 que falta medir no Maestro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Decisão tipada via API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ASR real, p95 e erros críticos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Laya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Pesos abertos; execução local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Mesmo corpus e hardware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Julia-1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CPU e dispositivos comuns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pt-BR, seis classes, memória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CLM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Ações reutilizáveis e cache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GPU, opções e custo total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064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Span-01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Detecção de comportamento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Adequação ao comando robótico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809405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B775A-4608-4B1C-9FBF-7D5EF08A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BC79E-463D-43C7-BC47-D9E02F3C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1CA48-43DB-4094-A56A-602F5C84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BB1C0-A006-4E1E-B205-0488B746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Maestro: contexto do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3A552-FA1B-49B4-BC61-DC652439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E9672-EA9D-41E0-96ED-5E444EEE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B6864-663E-454F-B0A1-66791719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905E9-92F6-43F4-8FC7-47AAD1E4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Máquinas autônomas ainda pedem uma interface de operador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B043D-07D7-4BEA-BB79-E51D6645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AgroTurtles · AI Glasses Brasil 2026 · MVP pré-hardware</a:t>
            </a:r>
          </a:p>
        </p:txBody>
      </p:sp>
    </p:spTree>
    <p:extLst>
      <p:ext uri="{BB962C8B-B14F-4D97-AF65-F5344CB8AC3E}">
        <p14:creationId xmlns:p14="http://schemas.microsoft.com/office/powerpoint/2010/main" val="69353044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2DD10-472A-4578-9D36-8DA2C93B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E121E-5E8C-4C19-9E54-AAD6EEFD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492A6-9BB2-4FF0-8DD3-F7E122BC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94803-20E1-48B1-A4B2-6EF10E5C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 ideia: olhar, falar, confirmar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174E5-7F35-4B97-A3A9-DD80B94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F4349-945A-42F8-9BC4-D0FE939B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B1DF6-8643-4418-82FC-52577CC0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1F767-9B96-4155-8394-5C92F677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7A070-D2F7-4DA6-AFD8-D43A4CD4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Olhar: QR/marcador ou talhão mapeado define alvo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0A207-AFCB-4CB1-81A8-16DD1F1C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8199D-4487-4FBA-8F03-36144750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Falar: comando em linguagem natural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5D0B2-3E8C-4DCA-82FD-36181832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F98617-190E-4928-94F6-4E19B9FB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Confirmar por áudio antes da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122232051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3BEED-BB05-4DC0-BB43-36AEAFD7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D83AC-73A9-425A-A8E8-5E7B10D1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3DD2F-CD0C-442D-8B29-C0E162C8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01456-387B-4248-9B12-10CFD33A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Do comando ao robô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F3728-0561-4BD5-9CD1-773F0086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A27F1-0141-41C9-9248-C04D1CD6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9F5D2-BFB9-4F4C-8C86-182D5F53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E79AD-8A63-4EE3-A5C3-40B421F8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CÂMERA / VOZ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D1293-401F-46D3-958F-6751C375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08607-9E7E-430A-BF77-B73E9C18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DECISÃO TIPADA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8D8A7-DDDB-445E-A164-EF9B069A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00250"/>
            <a:ext cx="47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8"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FCC931"/>
                </a:solidFill>
                <a:latin typeface="Lato"/>
                <a:ea typeface="Lato"/>
                <a:cs typeface="Lato"/>
              </a:defRPr>
            </a:pPr>
            <a:r>
              <a:rPr sz="2700" b="1">
                <a:solidFill>
                  <a:srgbClr val="FCC931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AC882-9A4E-426B-95DF-6185ADFF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REGRAS + ESTADO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82687-6725-40C0-B41F-34DEAF72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67125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25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CONFIRMAÇÃO  →  COMMAND JSON  →  ROS / GAZEBO</a:t>
            </a:r>
          </a:p>
        </p:txBody>
      </p:sp>
    </p:spTree>
    <p:extLst>
      <p:ext uri="{BB962C8B-B14F-4D97-AF65-F5344CB8AC3E}">
        <p14:creationId xmlns:p14="http://schemas.microsoft.com/office/powerpoint/2010/main" val="213003628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C3A96-FAB9-4F62-833E-C2A0E855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BFA1B-B0EB-4C49-AB42-65570251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9E237-569F-44B8-80DE-F39AA898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746DF-A871-4B61-BA8C-BF2494D9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QR: captura sob demanda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9FD82-A28F-4793-9BA8-2BD35745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37399-1AFF-4121-A367-277AF7CB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CAA39-18CA-4BB1-9189-CDFFEC38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6D369-BDAA-4EBA-A894-2B71ECD0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CE98D-28B7-45F8-B846-B3047BBE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Frame temporário na memória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6F3E1-7296-4192-8721-3074E3AA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221470-CF2F-4403-8A96-4EAF8FC0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Decoder local extrai target_id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1DD39-D0DE-47BC-AA8C-962D0821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9FCCE1-9105-4075-B30B-7FA9DE81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Foto, áudio e transcrição não são persistidos por padrão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617ED-7EF9-4B74-B0A7-3F4C386E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BB3F4F-D5C8-4E65-88F9-0744C25F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 fala segue fluxo separado</a:t>
            </a:r>
          </a:p>
        </p:txBody>
      </p:sp>
    </p:spTree>
    <p:extLst>
      <p:ext uri="{BB962C8B-B14F-4D97-AF65-F5344CB8AC3E}">
        <p14:creationId xmlns:p14="http://schemas.microsoft.com/office/powerpoint/2010/main" val="185818180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BE76B-1CA8-4CDE-A204-BFD0EAB7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3A588-D08F-4E0A-926C-E0F9F67A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BB2585-09F6-430E-828E-B2DC7F36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6ABEC-471C-44BF-A22C-DFC13804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Antes de enviar uma transcrição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DFD4C-F516-46F7-A546-AFA6C8D7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D419E5-C620-4963-9939-13E79914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31A17-513F-4A96-ABD3-D4D0C527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7F471-EA16-4A7D-B9FC-3BF6CC07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D28AE-3EA4-4845-8386-0B648B3D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Consentimento de sessão no mockDebug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F6884-7EA2-4EF0-9718-8A1F3DFF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CF37F-3A7E-4A55-A62E-55704F80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Gate no app e no proxy antes da rede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D129D9-3807-4A9B-B74F-F8BF5A40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9D3D6-214F-4413-B9F1-7B04E819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Padrões evidentes: CPF/CNPJ, e-mail, telefone,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DC35D-A3DB-432B-BF4F-ADA3BD3B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6692C-C2D6-469B-ABED-B85A9EBA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95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Não é detector geral de dado pessoal nem anonimização</a:t>
            </a:r>
          </a:p>
        </p:txBody>
      </p:sp>
    </p:spTree>
    <p:extLst>
      <p:ext uri="{BB962C8B-B14F-4D97-AF65-F5344CB8AC3E}">
        <p14:creationId xmlns:p14="http://schemas.microsoft.com/office/powerpoint/2010/main" val="98635630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2B63C-0E1A-4D30-B25D-CE25842A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81B16-AD55-4027-9D6C-59215BF0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8D17D-F160-4A36-A34D-04D35223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9E6F6-C074-4F63-8ADF-BA0F494C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Seis classes Jev; missão composta fora delas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7B7E4-F0AB-423C-BCEB-1436FDD9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9A76D-CC1D-41B7-9A1A-F40376B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5C1F1-93C1-49AA-A67C-493720B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5C673-0CAF-40AA-B9F4-2ED36CBF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43100"/>
            <a:ext cx="10763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SPRAY  ·  DOCK  ·  UNDOCK</a:t>
            </a:r>
          </a:p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CONFIRM  ·  CANCEL  ·  UNKNOWN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8215F-A65C-46B0-A77A-BF176AA9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052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MISSION_PREVIEW e consultas: rotas locais separadas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A86E3-C48B-48A9-8E28-28A9BFBE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4347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Missão composta: parser/executor determinísticos + confirmação por ação física</a:t>
            </a:r>
          </a:p>
        </p:txBody>
      </p:sp>
    </p:spTree>
    <p:extLst>
      <p:ext uri="{BB962C8B-B14F-4D97-AF65-F5344CB8AC3E}">
        <p14:creationId xmlns:p14="http://schemas.microsoft.com/office/powerpoint/2010/main" val="201000813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11041-EEE6-405C-81E7-03AEC17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1848-448E-4A24-AE58-16754C1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268C-49D7-4110-AC78-F26A441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F9224-AAE6-4E9F-8CD9-F9C1130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tools/jev_local_proxy.py · Python (1/2)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E765-4914-40E5-99E4-FF77995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F159-5CD1-4ECC-B3D0-CCDA381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8A0C-CF62-4E0A-9F01-09AB8A8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08FF-E511-4498-ACEE-229A38D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CFB0-1E93-44DC-9E06-37A4742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CRITERIA = {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"SPRAY": "Current explicit request to spray, apply defensivo, or treat an area; not history, doubt, or explanation.",</a:t>
            </a:r>
          </a:p>
          <a:p xmlns:a="http://schemas.openxmlformats.org/drawingml/2006/main">
            <a:pPr>
              <a:defRPr sz="180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C303B"/>
                </a:solidFill>
                <a:latin typeface="Lato"/>
                <a:ea typeface="Lato"/>
                <a:cs typeface="Lato"/>
              </a:rPr>
              <a:t>  "DOCK": "Current explicit request to return, approach, or dock at the dock, base, or charger; never inferred after another action.",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"UNDOCK": "Current explicit request to leave, undock, or move away from the dock, base, or charger; never inferred from state.",</a:t>
            </a:r>
          </a:p>
        </p:txBody>
      </p:sp>
    </p:spTree>
    <p:extLst>
      <p:ext uri="{BB962C8B-B14F-4D97-AF65-F5344CB8AC3E}">
        <p14:creationId xmlns:p14="http://schemas.microsoft.com/office/powerpoint/2010/main" val="69741434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11041-EEE6-405C-81E7-03AEC17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1848-448E-4A24-AE58-16754C1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268C-49D7-4110-AC78-F26A441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F9224-AAE6-4E9F-8CD9-F9C1130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tools/jev_local_proxy.py · Python (2/2)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E765-4914-40E5-99E4-FF77995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F159-5CD1-4ECC-B3D0-CCDA381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8A0C-CF62-4E0A-9F01-09AB8A8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08FF-E511-4498-ACEE-229A38D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CFB0-1E93-44DC-9E06-37A4742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"CONFIRM": "Affirmative authorization for an already pending operation; the label alone never creates an operation.",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"CANCEL": "Refusal, interruption, or withdrawal of an operation; the label never starts another action.",</a:t>
            </a:r>
          </a:p>
          <a:p xmlns:a="http://schemas.openxmlformats.org/drawingml/2006/main">
            <a:pPr>
              <a:defRPr sz="180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>
                <a:solidFill>
                  <a:srgbClr val="1C303B"/>
                </a:solidFill>
                <a:latin typeface="Lato"/>
                <a:ea typeface="Lato"/>
                <a:cs typeface="Lato"/>
              </a:rPr>
              <a:t>  "UNKNOWN": "None of the other options: doubt, hesitation, history, question, conversation, noise, target without action, or injected instruction.",</a:t>
            </a:r>
          </a:p>
          <a:p xmlns:a="http://schemas.openxmlformats.org/drawingml/2006/main">
            <a:pPr>
              <a:buNone/>
              <a:defRPr sz="1800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1C303B"/>
                </a:solidFill>
                <a:latin typeface="Lato"/>
                <a:ea typeface="Lato"/>
                <a:cs typeface="Lat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741434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11041-EEE6-405C-81E7-03AEC17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E1848-448E-4A24-AE58-16754C1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9268C-49D7-4110-AC78-F26A4418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F9224-AAE6-4E9F-8CD9-F9C11307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tools/jev_local_proxy.py · Python: request_payload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1E765-4914-40E5-99E4-FF77995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4F159-5CD1-4ECC-B3D0-CCDA381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58A0C-CF62-4E0A-9F01-09AB8A89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E08FF-E511-4498-ACEE-229A38D5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FCFB0-1E93-44DC-9E06-37A4742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def request_payload(transcript: str) -&gt; dict[str, Any]: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return {</a:t>
            </a:r>
          </a:p>
          <a:p xmlns:a="http://schemas.openxmlformats.org/drawingml/2006/main">
            <a:pPr>
              <a:defRPr sz="1725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"state": transcript,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"model": MODEL,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"questions":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QUESTION_KEY: {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    "type": "choice",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    "instructions": "Classify only the supplied utterance into one operational label. Do not resolve targets, plan steps, or authorize movement.",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    "criteria": CRITERIA,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    }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    },</a:t>
            </a:r>
          </a:p>
          <a:p xmlns:a="http://schemas.openxmlformats.org/drawingml/2006/main">
            <a:pPr>
              <a:buNone/>
              <a:defRPr sz="1725" b="0">
                <a:solidFill>
                  <a:srgbClr val="1C303B"/>
                </a:solidFill>
                <a:latin typeface="Lato"/>
                <a:ea typeface="Lato"/>
                <a:cs typeface="Lato"/>
              </a:defRPr>
            </a:pPr>
            <a:r>
              <a:rPr sz="1725" b="0">
                <a:solidFill>
                  <a:srgbClr val="1C303B"/>
                </a:solidFill>
                <a:latin typeface="Lato"/>
                <a:ea typeface="Lato"/>
                <a:cs typeface="Lato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69741434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BC535-F158-4C96-8CFB-1A0690A9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DBC1B-44EC-4799-AB89-ED712985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A65E9-A456-42C5-93E4-B74340D2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067E3-406A-4EC9-9668-068A5A53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jev-final-recovery-fixture.json · JSON (recorte)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FD53B-5805-4308-9ADB-253A04AE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814F4-0364-4A4E-A911-D41139FE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92C19-3DF8-4443-89AD-FEEE6B92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84A00-CBF4-4EDD-AFBE-DC6BF1B3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076325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EA318-DF5C-4E5D-AD66-3C81E08A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28775"/>
            <a:ext cx="10306050" cy="406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recovery-045  |  esperado: CANCEL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{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"response_model": "jev-1.13.0",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"answer": {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"choice": "CONFIRM",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"probabilities": {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"SPRAY": 0.01, "DOCK": 0.01, "UNDOCK": 0.00,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  "CONFIRM": 0.75, "CANCEL": 0.10, "UNKNOWN": 0.13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},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"confidence": 0.70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},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"usage": { "input_tokens": 583, "output_tokens": 70 }</a:t>
            </a:r>
          </a:p>
          <a:p xmlns:a="http://schemas.openxmlformats.org/drawingml/2006/main">
            <a:pPr>
              <a:buNone/>
              <a:def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575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140590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E4C25-6696-4B33-845B-7A34AA26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0A627-F975-42DD-A886-A4D686A0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97BD9-D4D9-4729-86E9-2D989E39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37C49-FDD7-4C5F-B965-10004517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JevIntentClassifier.kt · Kotlin: validação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E2AA1-054E-4CD7-96A3-F55ECD8A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179D3-63F4-4178-ADC6-6079A130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5C58A-BB35-4863-B047-6804048C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2E80A-0183-4360-942B-7D63585E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763250" cy="436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9FB"/>
          </a:solidFill>
          <a:ln xmlns:a="http://schemas.openxmlformats.org/drawingml/2006/main" w="9525">
            <a:solidFill>
              <a:srgbClr val="D9E6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603E8F-6180-4952-8C23-1521B6B6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10306050" cy="403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(choice !in SUPPORTED_LABELS ||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probabilities.keys != SUPPORTED_LABELS) return false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(probabilities.values.any { !it.isFinite() })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if (abs(probabilities.values.sum() - 1.0) &gt; 0.001)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  return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return if (prediction.confidence &lt; 0.40)</a:t>
            </a:r>
          </a:p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defRPr>
            </a:pPr>
            <a:r>
              <a:rPr sz="1650" b="0">
                <a:solidFill>
                  <a:srgbClr val="1D2723"/>
                </a:solidFill>
                <a:latin typeface="Liberation Mono"/>
                <a:ea typeface="Liberation Mono"/>
                <a:cs typeface="Liberation Mono"/>
              </a:rPr>
              <a:t>  unknown() else prediction</a:t>
            </a:r>
          </a:p>
        </p:txBody>
      </p:sp>
    </p:spTree>
    <p:extLst>
      <p:ext uri="{BB962C8B-B14F-4D97-AF65-F5344CB8AC3E}">
        <p14:creationId xmlns:p14="http://schemas.microsoft.com/office/powerpoint/2010/main" val="234884390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F7A2A-F586-4C71-AEDD-D5494979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5B2EF-DF8D-414C-8111-2A2AD3D1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28742-8073-4C11-8624-2172733D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ED2F4-5E41-4A96-86D3-DCA98976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Comparação no corpus sintético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DA242-2A35-4D9C-BB44-2684DF8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9EDA9-E37A-4A48-9C49-08E421CE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A9F4B-9D5F-4413-9080-232F22BD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53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53750" cy="3581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10000"/>
                <a:gridCol w="3571875"/>
                <a:gridCol w="3571875"/>
              </a:tblGrid>
              <a:tr h="7162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Métrica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Jev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Local</a:t>
                      </a:r>
                    </a:p>
                  </a:txBody>
                  <a:tcPr marL="91440" marR="91440" marT="45720" marB="45720">
                    <a:solidFill>
                      <a:srgbClr val="3C4C1E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Acerto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54/60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48/60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Macro-F1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0,9010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0,8026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p95 no host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2.100,575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0,293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ECE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0,0787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D2723"/>
                          </a:solidFill>
                          <a:latin typeface="Lato"/>
                          <a:ea typeface="Lato"/>
                          <a:cs typeface="Lato"/>
                        </a:rPr>
                        <a:t>0,0810</a:t>
                      </a:r>
                    </a:p>
                  </a:txBody>
                  <a:tcPr marL="91440" marR="91440" marT="45720" marB="45720">
                    <a:solidFill>
                      <a:srgbClr val="EDF9FB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63AC3-E792-4C1A-9AB6-3CCA6EEA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Uma rodada · 60 falas sintéticas · custo Jev US$ 0,001472394</a:t>
            </a:r>
          </a:p>
        </p:txBody>
      </p:sp>
    </p:spTree>
    <p:extLst>
      <p:ext uri="{BB962C8B-B14F-4D97-AF65-F5344CB8AC3E}">
        <p14:creationId xmlns:p14="http://schemas.microsoft.com/office/powerpoint/2010/main" val="108048126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5952C-8F24-448D-B8F9-30DC7400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07B1C-28F5-463E-9D4C-2314F263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7FAE9-853A-48A9-9D58-2B5AC395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C4CEF-6A63-4A85-A24C-761EAADC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Um erro crítico manteve o experimento em HOLD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84BCD-08C2-4246-A9EB-96ED4CF4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9DE78-E8F5-4AE0-B154-4024BA74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25427-9FBB-46B6-B1F7-D539598F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42E44-2EC0-432F-AE51-056D43F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CANCEL → CONFIRM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67B35-7F09-4F1B-BC93-D1EFFEC8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Probabilidade da escolha: 0,75. Melhor média não basta para uso operacional.</a:t>
            </a:r>
          </a:p>
        </p:txBody>
      </p:sp>
    </p:spTree>
    <p:extLst>
      <p:ext uri="{BB962C8B-B14F-4D97-AF65-F5344CB8AC3E}">
        <p14:creationId xmlns:p14="http://schemas.microsoft.com/office/powerpoint/2010/main" val="8672399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AEF20-D2D1-4EBC-A4BC-36061B00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975E9-3D59-43EE-BE11-1FB45674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3A192-EBC2-4850-89ED-2656F49A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C7693-7CE3-4D35-8000-6CAEF0A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Demo: Maestro + Jev + Gazebo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62710-0278-4DED-9BF5-9213E56DD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409B3-96AE-47F1-84F5-E99856C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DF037-7663-4840-8DFD-A13D64C6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4F7D6-64F8-49DC-84C0-D50FA1D7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3F73E-E20E-458C-8713-1B1A79D2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5F7F0-B597-4519-85A9-358DA9E2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Demonstração local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48CD45-B2E5-46E3-805D-997B79D2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Android → Jev → confirmação → robô simulado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40782-758D-4B69-9A2F-D961BB51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vídeo próprio a inserir</a:t>
            </a:r>
          </a:p>
        </p:txBody>
      </p:sp>
    </p:spTree>
    <p:extLst>
      <p:ext uri="{BB962C8B-B14F-4D97-AF65-F5344CB8AC3E}">
        <p14:creationId xmlns:p14="http://schemas.microsoft.com/office/powerpoint/2010/main" val="200554762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191E1-F020-44A3-A17C-589455B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E9431-E2BE-41E0-A4F0-C6E52F0D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5E5F1-8EEA-43C4-A034-465F2CB8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E49F1-E8EC-4F07-97CB-A027EFA3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Reserva de demonstração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2ECA0-8BE4-4799-BCA7-D64A8926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19934F-44C4-4022-B893-32F2AF7B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9C28E-31F3-44AB-8429-F523D1BD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ECE25-5DC2-4174-AE1F-7271BF5A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667625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B"/>
          </a:solidFill>
          <a:ln xmlns:a="http://schemas.openxmlformats.org/drawingml/2006/main" w="19050">
            <a:solidFill>
              <a:srgbClr val="8FD9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6FA45-0AA2-49C4-9621-42EF4162F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2775" b="1">
                <a:solidFill>
                  <a:srgbClr val="3C4C1E"/>
                </a:solidFill>
                <a:latin typeface="Lato"/>
                <a:ea typeface="Lato"/>
                <a:cs typeface="Lato"/>
              </a:rPr>
              <a:t>INSERIR VÍDEO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CF71F-CE00-4C5A-A013-63B18FD3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Fallback offline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E08BB-7A3E-4A5E-8689-BA2CD6B6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D2723"/>
                </a:solidFill>
                <a:latin typeface="Lato"/>
                <a:ea typeface="Lato"/>
                <a:cs typeface="Lato"/>
              </a:rPr>
              <a:t>Fixture mock local; não executa o robô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646A2-0BFC-47A5-BDF4-A012FC0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2645B"/>
                </a:solidFill>
                <a:latin typeface="Lato"/>
                <a:ea typeface="Lato"/>
                <a:cs typeface="Lato"/>
              </a:rPr>
              <a:t>Fonte: results/offline-demo</a:t>
            </a:r>
          </a:p>
        </p:txBody>
      </p:sp>
    </p:spTree>
    <p:extLst>
      <p:ext uri="{BB962C8B-B14F-4D97-AF65-F5344CB8AC3E}">
        <p14:creationId xmlns:p14="http://schemas.microsoft.com/office/powerpoint/2010/main" val="57462492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3AE6D-FA50-4C93-AA3F-01BA5938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D48E3-B1E6-4308-AE68-5315FFCE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44E54-DA7A-4C69-B162-9EE82F51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3B71A-E63D-4544-BE54-5ED7DBF7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Conclusão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15D13-035A-4D82-A5E6-34709922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6FEED-D31A-47D3-BF54-D0FAC032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MAESTRO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E344A-8534-4D3A-AD54-54544730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F3007-6FED-45B3-8811-F8F5D5B5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CFDC6-98DD-4BA3-95DF-7E2F21B1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Jev é uma hipótese útil de classificação tipada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8A98A-8004-4387-BBC9-80C0EB0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5A9EB-8237-45E6-918F-CB50873C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RLCD pede avaliação reproduzível de calibração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347C6-4BA7-405C-9DB0-0F9036E8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2DA80-1BA6-43AA-99D1-3C720413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No Maestro, alvo, estado e confirmação ficam fora do modelo</a:t>
            </a:r>
          </a:p>
        </p:txBody>
      </p:sp>
    </p:spTree>
    <p:extLst>
      <p:ext uri="{BB962C8B-B14F-4D97-AF65-F5344CB8AC3E}">
        <p14:creationId xmlns:p14="http://schemas.microsoft.com/office/powerpoint/2010/main" val="187347518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B00A8-E272-4A9B-BC1F-8B880059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2580F-5211-401B-B821-DA707341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13606-EF57-4363-84FC-A7AAF7A3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6E0AF-8EEC-4EAD-9609-7D9D456D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Para discutir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B00E3-F5CE-49B5-9259-B40CA92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E4BB3-B18B-4C1A-9F59-6ADE6CA4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00D2F-535D-43BA-A489-637F9452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3405D-68F1-4DD4-B41E-F2D04267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8F437-3CCC-4FA3-BD55-0C4E22F8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192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Como isolar o efeito do treino chamado RLCD?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B5765-C381-48C7-9700-FF99B7F6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ED970-BFC5-4FFC-AF2F-9D8C1B2D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93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Que teste com ASR real reabriria o HOLD?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60F7E-C03B-4CB2-88D5-73A338A6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242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267C31-28D5-4734-ABDE-FF296DEE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19450"/>
            <a:ext cx="101822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1D2723"/>
                </a:solidFill>
                <a:latin typeface="Lato"/>
                <a:ea typeface="Lato"/>
                <a:cs typeface="Lato"/>
              </a:rPr>
              <a:t>Quanto custa um falso aceite diante do robô?</a:t>
            </a:r>
          </a:p>
        </p:txBody>
      </p:sp>
    </p:spTree>
    <p:extLst>
      <p:ext uri="{BB962C8B-B14F-4D97-AF65-F5344CB8AC3E}">
        <p14:creationId xmlns:p14="http://schemas.microsoft.com/office/powerpoint/2010/main" val="173405704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A9F35-BBA6-498E-824B-0EC7CAB4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9E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B4F35-771A-4F5A-B2EB-64252580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C93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30228-7C80-471D-8ED4-49BBEC35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C1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E93B9-CCE5-4F37-A3F7-E1EB7216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2925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3B778-5D40-45DA-9C4D-367A7FD0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571C8-91A4-415B-A44D-0EE1AAFF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52645B"/>
                </a:solidFill>
                <a:latin typeface="Lato"/>
                <a:ea typeface="Lato"/>
                <a:cs typeface="Lato"/>
              </a:rPr>
              <a:t>JEV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56E34-0E45-46D8-8C86-A47CFCCF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153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3C4C1E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3C4C1E"/>
                </a:solidFill>
                <a:latin typeface="Lato"/>
                <a:ea typeface="Lato"/>
                <a:cs typeface="Lato"/>
              </a:rPr>
              <a:t>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339DA-6EBE-4EC7-907F-0B4AE05C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668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D2723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2723"/>
                </a:solidFill>
                <a:latin typeface="Lato"/>
                <a:ea typeface="Lato"/>
                <a:cs typeface="Lato"/>
              </a:rPr>
              <a:t>Obrigado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2133E-D1B2-4EA4-BF79-A14B08FD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0382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45B"/>
                </a:solidFill>
                <a:latin typeface="Lato"/>
                <a:ea typeface="Lato"/>
                <a:cs typeface="Lato"/>
              </a:defRPr>
            </a:pPr>
            <a:r>
              <a:rPr sz="1875" b="0">
                <a:solidFill>
                  <a:srgbClr val="52645B"/>
                </a:solidFill>
                <a:latin typeface="Lato"/>
                <a:ea typeface="Lato"/>
                <a:cs typeface="Lato"/>
              </a:rPr>
              <a:t>Jev · Reinforcement Learning · Maestro Agrícola</a:t>
            </a:r>
          </a:p>
        </p:txBody>
      </p:sp>
    </p:spTree>
    <p:extLst>
      <p:ext uri="{BB962C8B-B14F-4D97-AF65-F5344CB8AC3E}">
        <p14:creationId xmlns:p14="http://schemas.microsoft.com/office/powerpoint/2010/main" val="18192731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2026-09-27T21:26:12.6190000Z</dcterms:created>
  <dcterms:modified xsi:type="dcterms:W3CDTF">2026-09-27T21:26:12.6200000Z</dcterms:modified>
</coreProperties>
</file>