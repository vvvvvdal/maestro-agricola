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0a151717bd541d1" /><Relationship Type="http://schemas.openxmlformats.org/officeDocument/2006/relationships/extended-properties" Target="/docProps/app.xml" Id="Rccde6ba2d92e4313" /><Relationship Type="http://schemas.openxmlformats.org/officeDocument/2006/relationships/officeDocument" Target="/ppt/presentation.xml" Id="R8f8d81e77f854f5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4f0b2ca0a204a06"/>
  </p:sldMasterIdLst>
  <p:notesMasterIdLst>
    <p:notesMasterId xmlns:r="http://schemas.openxmlformats.org/officeDocument/2006/relationships" r:id="R4e41d06d364544fe"/>
  </p:notesMasterIdLst>
  <p:sldIdLst>
    <p:sldId xmlns:r="http://schemas.openxmlformats.org/officeDocument/2006/relationships" id="256" r:id="Rda40644f12e149f8"/>
    <p:sldId xmlns:r="http://schemas.openxmlformats.org/officeDocument/2006/relationships" id="257" r:id="Ra6364384c0dc461d"/>
    <p:sldId xmlns:r="http://schemas.openxmlformats.org/officeDocument/2006/relationships" id="258" r:id="Ra89e73fab30444c4"/>
    <p:sldId xmlns:r="http://schemas.openxmlformats.org/officeDocument/2006/relationships" id="259" r:id="R1ac382c6b2e049ea"/>
    <p:sldId xmlns:r="http://schemas.openxmlformats.org/officeDocument/2006/relationships" id="260" r:id="Rc2899fcbe17f440c"/>
    <p:sldId xmlns:r="http://schemas.openxmlformats.org/officeDocument/2006/relationships" id="261" r:id="R00c5e35e800a4587"/>
    <p:sldId xmlns:r="http://schemas.openxmlformats.org/officeDocument/2006/relationships" id="262" r:id="R1af75eb67ba34758"/>
    <p:sldId xmlns:r="http://schemas.openxmlformats.org/officeDocument/2006/relationships" id="263" r:id="R1c3c9bdc3df24071"/>
    <p:sldId xmlns:r="http://schemas.openxmlformats.org/officeDocument/2006/relationships" id="264" r:id="R27e9f7cedd154f9f"/>
    <p:sldId xmlns:r="http://schemas.openxmlformats.org/officeDocument/2006/relationships" id="265" r:id="Rab59738c6d8e4f8b"/>
    <p:sldId xmlns:r="http://schemas.openxmlformats.org/officeDocument/2006/relationships" id="266" r:id="R1874c57a316e46c4"/>
    <p:sldId xmlns:r="http://schemas.openxmlformats.org/officeDocument/2006/relationships" id="267" r:id="R12f9f116d3704939"/>
    <p:sldId xmlns:r="http://schemas.openxmlformats.org/officeDocument/2006/relationships" id="268" r:id="R56215ec8ffe742d5"/>
    <p:sldId xmlns:r="http://schemas.openxmlformats.org/officeDocument/2006/relationships" id="269" r:id="R6e06c1e7812d4c22"/>
    <p:sldId xmlns:r="http://schemas.openxmlformats.org/officeDocument/2006/relationships" id="270" r:id="R13b97a1ef1aa4cc8"/>
    <p:sldId xmlns:r="http://schemas.openxmlformats.org/officeDocument/2006/relationships" id="271" r:id="R50cef928dfd5431a"/>
    <p:sldId xmlns:r="http://schemas.openxmlformats.org/officeDocument/2006/relationships" id="272" r:id="Rc22b2899d6114edd"/>
    <p:sldId xmlns:r="http://schemas.openxmlformats.org/officeDocument/2006/relationships" id="273" r:id="Re99533462dca4abf"/>
    <p:sldId xmlns:r="http://schemas.openxmlformats.org/officeDocument/2006/relationships" id="274" r:id="R892c07599960402d"/>
    <p:sldId xmlns:r="http://schemas.openxmlformats.org/officeDocument/2006/relationships" id="275" r:id="Recb7f05e0e1f4f0c"/>
    <p:sldId xmlns:r="http://schemas.openxmlformats.org/officeDocument/2006/relationships" id="276" r:id="Rd084eeebdfd44885"/>
    <p:sldId xmlns:r="http://schemas.openxmlformats.org/officeDocument/2006/relationships" id="277" r:id="R86c50fe52f3b46aa"/>
    <p:sldId xmlns:r="http://schemas.openxmlformats.org/officeDocument/2006/relationships" id="278" r:id="R26b3ef62c433497e"/>
    <p:sldId xmlns:r="http://schemas.openxmlformats.org/officeDocument/2006/relationships" id="279" r:id="R677c5f30b5e44037"/>
    <p:sldId xmlns:r="http://schemas.openxmlformats.org/officeDocument/2006/relationships" id="280" r:id="Redbfa72cb3b249e0"/>
    <p:sldId xmlns:r="http://schemas.openxmlformats.org/officeDocument/2006/relationships" id="281" r:id="R23e5779783ac4d08"/>
    <p:sldId xmlns:r="http://schemas.openxmlformats.org/officeDocument/2006/relationships" id="282" r:id="R1b0d106e27d24031"/>
    <p:sldId xmlns:r="http://schemas.openxmlformats.org/officeDocument/2006/relationships" id="283" r:id="R88bdad9917b542ca"/>
    <p:sldId xmlns:r="http://schemas.openxmlformats.org/officeDocument/2006/relationships" id="284" r:id="Rfa7bda3341614c1f"/>
    <p:sldId xmlns:r="http://schemas.openxmlformats.org/officeDocument/2006/relationships" id="285" r:id="Ra679a00cc20c41a9"/>
    <p:sldId xmlns:r="http://schemas.openxmlformats.org/officeDocument/2006/relationships" id="286" r:id="Rc54f7f8d3ae244b2"/>
    <p:sldId xmlns:r="http://schemas.openxmlformats.org/officeDocument/2006/relationships" id="287" r:id="R9ea7d297186b4010"/>
    <p:sldId xmlns:r="http://schemas.openxmlformats.org/officeDocument/2006/relationships" id="288" r:id="R4b6479e44d9649a0"/>
    <p:sldId xmlns:r="http://schemas.openxmlformats.org/officeDocument/2006/relationships" id="289" r:id="R3ef075c180844d0b"/>
    <p:sldId xmlns:r="http://schemas.openxmlformats.org/officeDocument/2006/relationships" id="290" r:id="R492a5eaa1d264203"/>
    <p:sldId xmlns:r="http://schemas.openxmlformats.org/officeDocument/2006/relationships" id="291" r:id="Rebcf5fb4de0a4bf2"/>
    <p:sldId xmlns:r="http://schemas.openxmlformats.org/officeDocument/2006/relationships" id="292" r:id="R7684151d9eca4c8b"/>
    <p:sldId xmlns:r="http://schemas.openxmlformats.org/officeDocument/2006/relationships" id="293" r:id="R39af5c3222ea4972"/>
    <p:sldId xmlns:r="http://schemas.openxmlformats.org/officeDocument/2006/relationships" id="294" r:id="R90cdf9384d734bfc"/>
    <p:sldId xmlns:r="http://schemas.openxmlformats.org/officeDocument/2006/relationships" id="295" r:id="Ra914ee79400945af"/>
    <p:sldId xmlns:r="http://schemas.openxmlformats.org/officeDocument/2006/relationships" id="296" r:id="R7e379ae3785948e7"/>
    <p:sldId xmlns:r="http://schemas.openxmlformats.org/officeDocument/2006/relationships" id="297" r:id="R6aee57d7f5f54497"/>
    <p:sldId xmlns:r="http://schemas.openxmlformats.org/officeDocument/2006/relationships" id="298" r:id="R0312e34d6bc44003"/>
    <p:sldId xmlns:r="http://schemas.openxmlformats.org/officeDocument/2006/relationships" id="299" r:id="R2d2cb666692a49d0"/>
    <p:sldId xmlns:r="http://schemas.openxmlformats.org/officeDocument/2006/relationships" id="300" r:id="Rce361d7748484d14"/>
    <p:sldId xmlns:r="http://schemas.openxmlformats.org/officeDocument/2006/relationships" id="301" r:id="R2ba18527d4a047fb"/>
    <p:sldId xmlns:r="http://schemas.openxmlformats.org/officeDocument/2006/relationships" id="302" r:id="Re0293e443dc54c4d"/>
    <p:sldId xmlns:r="http://schemas.openxmlformats.org/officeDocument/2006/relationships" id="303" r:id="Rc9ea99b7756f452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4a9a769157c413b" /><Relationship Type="http://schemas.openxmlformats.org/officeDocument/2006/relationships/slideMaster" Target="/ppt/slideMasters/slideMaster1.xml" Id="Rf4f0b2ca0a204a06" /><Relationship Type="http://schemas.openxmlformats.org/officeDocument/2006/relationships/notesMaster" Target="/ppt/notesMasters/notesMaster1.xml" Id="R4e41d06d364544fe" /><Relationship Type="http://schemas.openxmlformats.org/officeDocument/2006/relationships/presProps" Target="/ppt/presProps.xml" Id="Rdb6ac97cb33b46b1" /><Relationship Type="http://schemas.openxmlformats.org/officeDocument/2006/relationships/tableStyles" Target="/ppt/tableStyles.xml" Id="R7eba8e877eab4a8c" /><Relationship Type="http://schemas.openxmlformats.org/officeDocument/2006/relationships/slide" Target="/ppt/slides/slide1.xml" Id="Rda40644f12e149f8" /><Relationship Type="http://schemas.openxmlformats.org/officeDocument/2006/relationships/slide" Target="/ppt/slides/slide2.xml" Id="Ra6364384c0dc461d" /><Relationship Type="http://schemas.openxmlformats.org/officeDocument/2006/relationships/slide" Target="/ppt/slides/slide3.xml" Id="Ra89e73fab30444c4" /><Relationship Type="http://schemas.openxmlformats.org/officeDocument/2006/relationships/slide" Target="/ppt/slides/slide4.xml" Id="R1ac382c6b2e049ea" /><Relationship Type="http://schemas.openxmlformats.org/officeDocument/2006/relationships/slide" Target="/ppt/slides/slide5.xml" Id="Rc2899fcbe17f440c" /><Relationship Type="http://schemas.openxmlformats.org/officeDocument/2006/relationships/slide" Target="/ppt/slides/slide6.xml" Id="R00c5e35e800a4587" /><Relationship Type="http://schemas.openxmlformats.org/officeDocument/2006/relationships/slide" Target="/ppt/slides/slide7.xml" Id="R1af75eb67ba34758" /><Relationship Type="http://schemas.openxmlformats.org/officeDocument/2006/relationships/slide" Target="/ppt/slides/slide8.xml" Id="R1c3c9bdc3df24071" /><Relationship Type="http://schemas.openxmlformats.org/officeDocument/2006/relationships/slide" Target="/ppt/slides/slide9.xml" Id="R27e9f7cedd154f9f" /><Relationship Type="http://schemas.openxmlformats.org/officeDocument/2006/relationships/slide" Target="/ppt/slides/slide10.xml" Id="Rab59738c6d8e4f8b" /><Relationship Type="http://schemas.openxmlformats.org/officeDocument/2006/relationships/slide" Target="/ppt/slides/slide11.xml" Id="R1874c57a316e46c4" /><Relationship Type="http://schemas.openxmlformats.org/officeDocument/2006/relationships/slide" Target="/ppt/slides/slide12.xml" Id="R12f9f116d3704939" /><Relationship Type="http://schemas.openxmlformats.org/officeDocument/2006/relationships/slide" Target="/ppt/slides/slide13.xml" Id="R56215ec8ffe742d5" /><Relationship Type="http://schemas.openxmlformats.org/officeDocument/2006/relationships/slide" Target="/ppt/slides/slide14.xml" Id="R6e06c1e7812d4c22" /><Relationship Type="http://schemas.openxmlformats.org/officeDocument/2006/relationships/slide" Target="/ppt/slides/slide15.xml" Id="R13b97a1ef1aa4cc8" /><Relationship Type="http://schemas.openxmlformats.org/officeDocument/2006/relationships/slide" Target="/ppt/slides/slide16.xml" Id="R50cef928dfd5431a" /><Relationship Type="http://schemas.openxmlformats.org/officeDocument/2006/relationships/slide" Target="/ppt/slides/slide17.xml" Id="Rc22b2899d6114edd" /><Relationship Type="http://schemas.openxmlformats.org/officeDocument/2006/relationships/slide" Target="/ppt/slides/slide18.xml" Id="Re99533462dca4abf" /><Relationship Type="http://schemas.openxmlformats.org/officeDocument/2006/relationships/slide" Target="/ppt/slides/slide19.xml" Id="R892c07599960402d" /><Relationship Type="http://schemas.openxmlformats.org/officeDocument/2006/relationships/slide" Target="/ppt/slides/slide20.xml" Id="Recb7f05e0e1f4f0c" /><Relationship Type="http://schemas.openxmlformats.org/officeDocument/2006/relationships/slide" Target="/ppt/slides/slide21.xml" Id="Rd084eeebdfd44885" /><Relationship Type="http://schemas.openxmlformats.org/officeDocument/2006/relationships/slide" Target="/ppt/slides/slide22.xml" Id="R86c50fe52f3b46aa" /><Relationship Type="http://schemas.openxmlformats.org/officeDocument/2006/relationships/slide" Target="/ppt/slides/slide23.xml" Id="R26b3ef62c433497e" /><Relationship Type="http://schemas.openxmlformats.org/officeDocument/2006/relationships/slide" Target="/ppt/slides/slide24.xml" Id="R677c5f30b5e44037" /><Relationship Type="http://schemas.openxmlformats.org/officeDocument/2006/relationships/slide" Target="/ppt/slides/slide25.xml" Id="Redbfa72cb3b249e0" /><Relationship Type="http://schemas.openxmlformats.org/officeDocument/2006/relationships/slide" Target="/ppt/slides/slide26.xml" Id="R23e5779783ac4d08" /><Relationship Type="http://schemas.openxmlformats.org/officeDocument/2006/relationships/slide" Target="/ppt/slides/slide27.xml" Id="R1b0d106e27d24031" /><Relationship Type="http://schemas.openxmlformats.org/officeDocument/2006/relationships/slide" Target="/ppt/slides/slide28.xml" Id="R88bdad9917b542ca" /><Relationship Type="http://schemas.openxmlformats.org/officeDocument/2006/relationships/slide" Target="/ppt/slides/slide29.xml" Id="Rfa7bda3341614c1f" /><Relationship Type="http://schemas.openxmlformats.org/officeDocument/2006/relationships/slide" Target="/ppt/slides/slide30.xml" Id="Ra679a00cc20c41a9" /><Relationship Type="http://schemas.openxmlformats.org/officeDocument/2006/relationships/slide" Target="/ppt/slides/slide31.xml" Id="Rc54f7f8d3ae244b2" /><Relationship Type="http://schemas.openxmlformats.org/officeDocument/2006/relationships/slide" Target="/ppt/slides/slide32.xml" Id="R9ea7d297186b4010" /><Relationship Type="http://schemas.openxmlformats.org/officeDocument/2006/relationships/slide" Target="/ppt/slides/slide33.xml" Id="R4b6479e44d9649a0" /><Relationship Type="http://schemas.openxmlformats.org/officeDocument/2006/relationships/slide" Target="/ppt/slides/slide34.xml" Id="R3ef075c180844d0b" /><Relationship Type="http://schemas.openxmlformats.org/officeDocument/2006/relationships/slide" Target="/ppt/slides/slide35.xml" Id="R492a5eaa1d264203" /><Relationship Type="http://schemas.openxmlformats.org/officeDocument/2006/relationships/slide" Target="/ppt/slides/slide36.xml" Id="Rebcf5fb4de0a4bf2" /><Relationship Type="http://schemas.openxmlformats.org/officeDocument/2006/relationships/slide" Target="/ppt/slides/slide37.xml" Id="R7684151d9eca4c8b" /><Relationship Type="http://schemas.openxmlformats.org/officeDocument/2006/relationships/slide" Target="/ppt/slides/slide38.xml" Id="R39af5c3222ea4972" /><Relationship Type="http://schemas.openxmlformats.org/officeDocument/2006/relationships/slide" Target="/ppt/slides/slide39.xml" Id="R90cdf9384d734bfc" /><Relationship Type="http://schemas.openxmlformats.org/officeDocument/2006/relationships/slide" Target="/ppt/slides/slide40.xml" Id="Ra914ee79400945af" /><Relationship Type="http://schemas.openxmlformats.org/officeDocument/2006/relationships/slide" Target="/ppt/slides/slide41.xml" Id="R7e379ae3785948e7" /><Relationship Type="http://schemas.openxmlformats.org/officeDocument/2006/relationships/slide" Target="/ppt/slides/slide42.xml" Id="R6aee57d7f5f54497" /><Relationship Type="http://schemas.openxmlformats.org/officeDocument/2006/relationships/slide" Target="/ppt/slides/slide43.xml" Id="R0312e34d6bc44003" /><Relationship Type="http://schemas.openxmlformats.org/officeDocument/2006/relationships/slide" Target="/ppt/slides/slide44.xml" Id="R2d2cb666692a49d0" /><Relationship Type="http://schemas.openxmlformats.org/officeDocument/2006/relationships/slide" Target="/ppt/slides/slide45.xml" Id="Rce361d7748484d14" /><Relationship Type="http://schemas.openxmlformats.org/officeDocument/2006/relationships/slide" Target="/ppt/slides/slide46.xml" Id="R2ba18527d4a047fb" /><Relationship Type="http://schemas.openxmlformats.org/officeDocument/2006/relationships/slide" Target="/ppt/slides/slide47.xml" Id="Re0293e443dc54c4d" /><Relationship Type="http://schemas.openxmlformats.org/officeDocument/2006/relationships/slide" Target="/ppt/slides/slide48.xml" Id="Rc9ea99b7756f452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6cbecda715a477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71c2b4b0fbf49f1" /><Relationship Type="http://schemas.openxmlformats.org/officeDocument/2006/relationships/notesMaster" Target="/ppt/notesMasters/notesMaster1.xml" Id="Rf654a503c0e840a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09b6f5996aa4a42" /><Relationship Type="http://schemas.openxmlformats.org/officeDocument/2006/relationships/notesMaster" Target="/ppt/notesMasters/notesMaster1.xml" Id="Red9cf14f58a3447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2fe4b4b5ae1459e" /><Relationship Type="http://schemas.openxmlformats.org/officeDocument/2006/relationships/notesMaster" Target="/ppt/notesMasters/notesMaster1.xml" Id="Reb9cb07ecfde449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b71f688a2fc44fe" /><Relationship Type="http://schemas.openxmlformats.org/officeDocument/2006/relationships/notesMaster" Target="/ppt/notesMasters/notesMaster1.xml" Id="R91626847b38549a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5d903dec908476d" /><Relationship Type="http://schemas.openxmlformats.org/officeDocument/2006/relationships/notesMaster" Target="/ppt/notesMasters/notesMaster1.xml" Id="R0a1610c4a94a486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ec13dab345d41d6" /><Relationship Type="http://schemas.openxmlformats.org/officeDocument/2006/relationships/notesMaster" Target="/ppt/notesMasters/notesMaster1.xml" Id="R933b7378a9754cc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4f4e0d892b647a6" /><Relationship Type="http://schemas.openxmlformats.org/officeDocument/2006/relationships/notesMaster" Target="/ppt/notesMasters/notesMaster1.xml" Id="R038e0c1816534a5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221de35b3e84b20" /><Relationship Type="http://schemas.openxmlformats.org/officeDocument/2006/relationships/notesMaster" Target="/ppt/notesMasters/notesMaster1.xml" Id="Rc7531516b9484e6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e4829bf772d4952" /><Relationship Type="http://schemas.openxmlformats.org/officeDocument/2006/relationships/notesMaster" Target="/ppt/notesMasters/notesMaster1.xml" Id="R397f83a316bd45a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439d41bf4fb45f6" /><Relationship Type="http://schemas.openxmlformats.org/officeDocument/2006/relationships/notesMaster" Target="/ppt/notesMasters/notesMaster1.xml" Id="R1b1d3b79c349403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315ced2e4844be6" /><Relationship Type="http://schemas.openxmlformats.org/officeDocument/2006/relationships/notesMaster" Target="/ppt/notesMasters/notesMaster1.xml" Id="Re0c0da34999243f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94276a7465947d7" /><Relationship Type="http://schemas.openxmlformats.org/officeDocument/2006/relationships/notesMaster" Target="/ppt/notesMasters/notesMaster1.xml" Id="Ra3e2529d6f23483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30764f9487a4b1c" /><Relationship Type="http://schemas.openxmlformats.org/officeDocument/2006/relationships/notesMaster" Target="/ppt/notesMasters/notesMaster1.xml" Id="R589802b07bb54e5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c4acd8cce31496c" /><Relationship Type="http://schemas.openxmlformats.org/officeDocument/2006/relationships/notesMaster" Target="/ppt/notesMasters/notesMaster1.xml" Id="Rf822af5b45644ac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b3af1eda561487c" /><Relationship Type="http://schemas.openxmlformats.org/officeDocument/2006/relationships/notesMaster" Target="/ppt/notesMasters/notesMaster1.xml" Id="R2d606b47102c44c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95a227d1159649de" /><Relationship Type="http://schemas.openxmlformats.org/officeDocument/2006/relationships/notesMaster" Target="/ppt/notesMasters/notesMaster1.xml" Id="R12573d4e3c2f4a0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210cc063fb2d4024" /><Relationship Type="http://schemas.openxmlformats.org/officeDocument/2006/relationships/notesMaster" Target="/ppt/notesMasters/notesMaster1.xml" Id="Rd34d2d6a1e0a4cb3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2f6e50a7837c4ef8" /><Relationship Type="http://schemas.openxmlformats.org/officeDocument/2006/relationships/notesMaster" Target="/ppt/notesMasters/notesMaster1.xml" Id="R8bb5ffb7f8b348f4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4ce5e88fc7d3459e" /><Relationship Type="http://schemas.openxmlformats.org/officeDocument/2006/relationships/notesMaster" Target="/ppt/notesMasters/notesMaster1.xml" Id="Re2e24e31bde74e93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5d05465bfaa34717" /><Relationship Type="http://schemas.openxmlformats.org/officeDocument/2006/relationships/notesMaster" Target="/ppt/notesMasters/notesMaster1.xml" Id="R758060ee23d548e7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cc4dab6518034f40" /><Relationship Type="http://schemas.openxmlformats.org/officeDocument/2006/relationships/notesMaster" Target="/ppt/notesMasters/notesMaster1.xml" Id="Rd4f44d1590a94708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b667493a58904df5" /><Relationship Type="http://schemas.openxmlformats.org/officeDocument/2006/relationships/notesMaster" Target="/ppt/notesMasters/notesMaster1.xml" Id="R04193e093c1b49fa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6b0268b94ef44dcc" /><Relationship Type="http://schemas.openxmlformats.org/officeDocument/2006/relationships/notesMaster" Target="/ppt/notesMasters/notesMaster1.xml" Id="R25c8dc337edf48b5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fcceaecc57e54aa2" /><Relationship Type="http://schemas.openxmlformats.org/officeDocument/2006/relationships/notesMaster" Target="/ppt/notesMasters/notesMaster1.xml" Id="R0bded4e58dfb4754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e792c3e6aa5a4f8f" /><Relationship Type="http://schemas.openxmlformats.org/officeDocument/2006/relationships/notesMaster" Target="/ppt/notesMasters/notesMaster1.xml" Id="R99314f2906334c6d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699fcb15bad643fa" /><Relationship Type="http://schemas.openxmlformats.org/officeDocument/2006/relationships/notesMaster" Target="/ppt/notesMasters/notesMaster1.xml" Id="R061a8a36f1a044de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a8eaf7c2077e486d" /><Relationship Type="http://schemas.openxmlformats.org/officeDocument/2006/relationships/notesMaster" Target="/ppt/notesMasters/notesMaster1.xml" Id="R3e18124083084fe4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787dcd21a9434111" /><Relationship Type="http://schemas.openxmlformats.org/officeDocument/2006/relationships/notesMaster" Target="/ppt/notesMasters/notesMaster1.xml" Id="R3792e7975b504720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f143e1f739524adf" /><Relationship Type="http://schemas.openxmlformats.org/officeDocument/2006/relationships/notesMaster" Target="/ppt/notesMasters/notesMaster1.xml" Id="Rf1122abeeda64c33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af957170065546fe" /><Relationship Type="http://schemas.openxmlformats.org/officeDocument/2006/relationships/notesMaster" Target="/ppt/notesMasters/notesMaster1.xml" Id="R428fb18b10d34f88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0d7698f3af9140a4" /><Relationship Type="http://schemas.openxmlformats.org/officeDocument/2006/relationships/notesMaster" Target="/ppt/notesMasters/notesMaster1.xml" Id="Rccad8b3e67ac4004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e1708f0e54ae48b4" /><Relationship Type="http://schemas.openxmlformats.org/officeDocument/2006/relationships/notesMaster" Target="/ppt/notesMasters/notesMaster1.xml" Id="Redf399c36f314b49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adce9a52b4ec466b" /><Relationship Type="http://schemas.openxmlformats.org/officeDocument/2006/relationships/notesMaster" Target="/ppt/notesMasters/notesMaster1.xml" Id="Rcc764590b1894610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da39b1d7c7704fc4" /><Relationship Type="http://schemas.openxmlformats.org/officeDocument/2006/relationships/notesMaster" Target="/ppt/notesMasters/notesMaster1.xml" Id="Rbf4736c051cb4e99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9a5c10d304974bee" /><Relationship Type="http://schemas.openxmlformats.org/officeDocument/2006/relationships/notesMaster" Target="/ppt/notesMasters/notesMaster1.xml" Id="Raa167c78740742c7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aa6898d530b04605" /><Relationship Type="http://schemas.openxmlformats.org/officeDocument/2006/relationships/notesMaster" Target="/ppt/notesMasters/notesMaster1.xml" Id="R206d2147607c48bd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19b81ad745144229" /><Relationship Type="http://schemas.openxmlformats.org/officeDocument/2006/relationships/notesMaster" Target="/ppt/notesMasters/notesMaster1.xml" Id="R81a38868784a4d51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851b52a54b9f4770" /><Relationship Type="http://schemas.openxmlformats.org/officeDocument/2006/relationships/notesMaster" Target="/ppt/notesMasters/notesMaster1.xml" Id="R6edf282d884a4bd7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de0b703304ae4b3c" /><Relationship Type="http://schemas.openxmlformats.org/officeDocument/2006/relationships/notesMaster" Target="/ppt/notesMasters/notesMaster1.xml" Id="Rabfebeaf249d465f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8856eaa69d844235" /><Relationship Type="http://schemas.openxmlformats.org/officeDocument/2006/relationships/notesMaster" Target="/ppt/notesMasters/notesMaster1.xml" Id="Rb7ac38ca0eee4309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0fedfff12be34c49" /><Relationship Type="http://schemas.openxmlformats.org/officeDocument/2006/relationships/notesMaster" Target="/ppt/notesMasters/notesMaster1.xml" Id="R32f0a78bf10541b7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353275f44e9a42b8" /><Relationship Type="http://schemas.openxmlformats.org/officeDocument/2006/relationships/notesMaster" Target="/ppt/notesMasters/notesMaster1.xml" Id="R84b3f4a15bf14105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557224b442ca4f54" /><Relationship Type="http://schemas.openxmlformats.org/officeDocument/2006/relationships/notesMaster" Target="/ppt/notesMasters/notesMaster1.xml" Id="R0b66953ed0824801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061c05bae8964993" /><Relationship Type="http://schemas.openxmlformats.org/officeDocument/2006/relationships/notesMaster" Target="/ppt/notesMasters/notesMaster1.xml" Id="R19317f0688364b34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bedf3647d19045f5" /><Relationship Type="http://schemas.openxmlformats.org/officeDocument/2006/relationships/notesMaster" Target="/ppt/notesMasters/notesMaster1.xml" Id="R798556b01c1e491a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10aaf29d230d4e26" /><Relationship Type="http://schemas.openxmlformats.org/officeDocument/2006/relationships/notesMaster" Target="/ppt/notesMasters/notesMaster1.xml" Id="R058a91afef1a41f9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f123483a20e04f1d" /><Relationship Type="http://schemas.openxmlformats.org/officeDocument/2006/relationships/notesMaster" Target="/ppt/notesMasters/notesMaster1.xml" Id="R4524f15e9c1b4ba5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1859471b8b754366" /><Relationship Type="http://schemas.openxmlformats.org/officeDocument/2006/relationships/notesMaster" Target="/ppt/notesMasters/notesMaster1.xml" Id="Rd73028660479479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Apresentar a pergunta central: quando uma decisão probabilística tipada ajuda uma interface robótica?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Exemplo sintético. Separar conversa da decisão de roteamento.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Noul não deve substituir verificação de idade real. Exemplo conceitual de interpretação de texto; resposta numérica não é chamada real. Fonte: https://docs.typesafe.ai/primitives/noul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System One é categoria e nome de produto da TypeSafe, inspirada em Kahneman. Fonte: https://typesafe.ai/blog/introducing-system-one-models-and-jev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https://docs.typesafe.ai/primitives/choice https://docs.typesafe.ai/primitives/noul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Não afirmar zero tokens nem chamada gratuita. Fonte: TypeSafe pricing e results do repo.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Multiplicadores promocionais não são medidas do Maestro.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LLM com JSON mode também pode emitir estrutura; teste desempenho, custo e formato na mesma tarefa.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Print da documentação oficial de Choice, capturado em 26 set. 2026. Fonte: https://docs.typesafe.ai/primitives/choice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Executar no site ao vivo; não pré-fixar a resposta.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Reserva para demo autenticada. Fallback: request/response publicados no quick start. https://docs.typesafe.ai/introduction/quickstart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Pseudocódigo baseado no quick start; a sintaxe precisa ser ajustada ao SDK/API em uso. Fonte: https://docs.typesafe.ai/introduction/quickstart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Esquema didático: entrada → sinal → ajuste → saída → limite.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Esquema didático: entrada → sinal → ajuste → saída → limite.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Esquema didático: entrada → sinal → ajuste → saída → limite.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Descrição pública da TypeSafe, sem inventar reward ou algoritmo. https://docs.typesafe.ai/introduction/machine-learning-primer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Exemplo didático: não são 100 casos do Maestro. Calibração se verifica em grupos; uma previsão individual ainda pode errar.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Para ECE, apresentar bins com tamanho n; amostra pequena limita inferência.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RLCD é descrição pública do fornecedor, não prova de superioridade. https://docs.typesafe.ai/introduction/machine-learning-primer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Vídeo original para inserir: https://x.com/heystefan_/status/2101369117496521042. Explicar entrada, catálogo e código após escolha. Demos não são benchmark controlado.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Vídeo original para inserir: https://x.com/dani_avila7/status/2101885477158547753. Explicar entrada, catálogo e código após escolha. Demos não são benchmark controlado.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Vídeo original para inserir: https://jevtypesafeai.com/tools/pr-judge. Explicar entrada, catálogo e código após escolha. Demos não são benchmark controlado.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Vídeo original para inserir: https://threadnavigator.com/thread/2100372930282573876/. Explicar entrada, catálogo e código após escolha. Demos não são benchmark controlado.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Vídeo original para inserir: https://x.com/jpschroeder/status/2100347770867458384. Explicar entrada, catálogo e código após escolha. Demos não são benchmark controlado.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https://typesafe.ai/blog/introducing-system-one-models-and-jev https://github.com/NandhaKishorM/laya https://github.com/mizorewww/laya-mlx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Números vêm de ambientes diferentes e não são benchmark pareado. Fonte: https://github.com/NandhaKishorM/laya https://github.com/mizorewww/laya-mlx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Síntese inferida das fontes primárias: TypeSafe, Laya, Julia-1, CLM e Span-01. Lançamentos próximos não provam que treinaram modelos completos após Jev.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Fontes oficiais: https://supersoniclabs.ia.br/ e https://supersoniclabs.ia.br/julia-1/ e https://huggingface.co/SupersonicLabs/Julia-1 . São números publicados pela própria equipe. Referência Jev reaproveitada, não nova rodada pareada. pt-BR e intenção do Maestro não foram avaliados.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Autores incluem Stanford e NVIDIA, conforme README/paper. Até 9× é alegação dos autores em tarefas selecionadas. O post no X diz até 13×; usar o README atualizado como fonte principal. https://github.com/Contrastive-LM/CLM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crítica do tweet usa multiplicação como provocação; a comparação verificável é detecção de comportamento, não aritmética geral. Fonte: https://www.respan.ai/blog/introducing-span-1 e https://www.respan.ai/docs/documentation/span-01/concept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 post https://x.com/N01ennn/status/2103818303642689696 resume PDF atribuído a Diogo Almeida. Tratá-lo como relato secundário até localizar o PDF original; o diagrama é uma síntese arquitetural, não transcrição do PDF.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Tabela de adequação, não ranking universal. Fontes oficiais: TypeSafe, Laya GitHub, Supersonic Labs, CLM GitHub, Respan docs.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Adaptado do pitch docs/pitch/storyboard.md. Não apresentar mock como hardware real.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Adaptado do pitch.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Pipeline resumido; DAT/MockDeviceKit, Android, TargetResolver, WebSocket e ROS.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docs/privacy-data-flow.md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 classificador local não é detector geral de CPF. Fonte: RemoteTranscriptGate.kt, tools/jev_local_proxy.py e docs/tasks/jev-remote-privacy-gate.md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JevIntentClassifier.kt, MainActivity.kt, docs/tasks/mission-preview-contract.md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Estrutura real, com textos dos seis critérios abreviados para caber. Fonte: tools/jev_local_proxy.py request_payload e JevProxyChoiceEvaluator.kt. A transcrição é de exemplo; nenhum dado pessoal.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Resposta sanitizada real da fixture results/jev-final-recovery-fixture.json, caso recovery-045. confidence 0.70 é diferente de probabilities[choice] 0.75. O formato mostrado omite latência e custo da fixture.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Trecho editado para projeção, fiel à lógica de JevIntentClassifier.kt. O guard de CANCEL explícito está desligado por padrão.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docs/study-groups/jev-rl-2026-10-01/results/jev-final-recovery-presentation.md. ECE não prova calibração geral.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docs/tasks/jev-experimental-decision.md. Não atribuir o erro à rota de missão composta.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Área para gravação ou demo ao vivo. Identificar claramente simulação e mock.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Usar vídeo offline ou três capturas do diretório results/offline-demo. Legenda obrigatória: fixture mock local — não executa o robô.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Decisão operacional atual: HOLD.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Abrir debate.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Encerrar e abrir perguntas.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015bedc9c70440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d6ffaeaca084285" /><Relationship Type="http://schemas.openxmlformats.org/officeDocument/2006/relationships/slideLayout" Target="/ppt/slideLayouts/slideLayout1.xml" Id="R87bdb0b1f8ed492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7bdb0b1f8ed492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5bb44f94d0412c" /><Relationship Type="http://schemas.openxmlformats.org/officeDocument/2006/relationships/notesSlide" Target="/ppt/notesSlides/notesSlide1.xml" Id="R899615c9d8bc461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6277e770e7435e" /><Relationship Type="http://schemas.openxmlformats.org/officeDocument/2006/relationships/notesSlide" Target="/ppt/notesSlides/notesSlide2.xml" Id="Rc40a2380e2a7435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86400e09bd454c" /><Relationship Type="http://schemas.openxmlformats.org/officeDocument/2006/relationships/notesSlide" Target="/ppt/notesSlides/notesSlide3.xml" Id="R5b3b372793e04a5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94eb45f7024735" /><Relationship Type="http://schemas.openxmlformats.org/officeDocument/2006/relationships/notesSlide" Target="/ppt/notesSlides/notesSlide4.xml" Id="Raacfef5662f340f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15b5d6ac134601" /><Relationship Type="http://schemas.openxmlformats.org/officeDocument/2006/relationships/notesSlide" Target="/ppt/notesSlides/notesSlide5.xml" Id="R8b85f624b6fa479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c24a45e9ed45f9" /><Relationship Type="http://schemas.openxmlformats.org/officeDocument/2006/relationships/notesSlide" Target="/ppt/notesSlides/notesSlide6.xml" Id="Rf2d852eafc394c8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04782a4606431d" /><Relationship Type="http://schemas.openxmlformats.org/officeDocument/2006/relationships/notesSlide" Target="/ppt/notesSlides/notesSlide7.xml" Id="Rb1c096b6fcea450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df4507565a4c85" /><Relationship Type="http://schemas.openxmlformats.org/officeDocument/2006/relationships/notesSlide" Target="/ppt/notesSlides/notesSlide8.xml" Id="Rcc205aff49e1418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469e130f40455e" /><Relationship Type="http://schemas.openxmlformats.org/officeDocument/2006/relationships/image" Target="/ppt/media/image.png" Id="Rc435b7ba5e634ce6" /><Relationship Type="http://schemas.openxmlformats.org/officeDocument/2006/relationships/notesSlide" Target="/ppt/notesSlides/notesSlide9.xml" Id="Rc3ef148568fc4d1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171c89a4cd42c3" /><Relationship Type="http://schemas.openxmlformats.org/officeDocument/2006/relationships/notesSlide" Target="/ppt/notesSlides/notesSlide10.xml" Id="Rb85d39ed3dd94db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5fc25ed1404ecf" /><Relationship Type="http://schemas.openxmlformats.org/officeDocument/2006/relationships/notesSlide" Target="/ppt/notesSlides/notesSlide11.xml" Id="R31bda1ae7cb741f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8d6b12ab804464" /><Relationship Type="http://schemas.openxmlformats.org/officeDocument/2006/relationships/notesSlide" Target="/ppt/notesSlides/notesSlide12.xml" Id="Rd64dd4893c5c49a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463d987ac14bbb" /><Relationship Type="http://schemas.openxmlformats.org/officeDocument/2006/relationships/notesSlide" Target="/ppt/notesSlides/notesSlide13.xml" Id="Ra8575ce8163145e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64af8ebc704c1d" /><Relationship Type="http://schemas.openxmlformats.org/officeDocument/2006/relationships/notesSlide" Target="/ppt/notesSlides/notesSlide14.xml" Id="Ra5e04eb1e7554e8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27f9be46ee4181" /><Relationship Type="http://schemas.openxmlformats.org/officeDocument/2006/relationships/notesSlide" Target="/ppt/notesSlides/notesSlide15.xml" Id="R8d2d021587d744f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e40abeae154f0f" /><Relationship Type="http://schemas.openxmlformats.org/officeDocument/2006/relationships/notesSlide" Target="/ppt/notesSlides/notesSlide16.xml" Id="R1ed89138ef224f22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86e2465ea1445b" /><Relationship Type="http://schemas.openxmlformats.org/officeDocument/2006/relationships/notesSlide" Target="/ppt/notesSlides/notesSlide17.xml" Id="R8dea6f93051e481f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eec06f12a2435f" /><Relationship Type="http://schemas.openxmlformats.org/officeDocument/2006/relationships/notesSlide" Target="/ppt/notesSlides/notesSlide18.xml" Id="Rc3c36fd8bb2d47fe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d93502c6f246b0" /><Relationship Type="http://schemas.openxmlformats.org/officeDocument/2006/relationships/notesSlide" Target="/ppt/notesSlides/notesSlide19.xml" Id="Rd4fd92d7bff94d9f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d36df926f84052" /><Relationship Type="http://schemas.openxmlformats.org/officeDocument/2006/relationships/notesSlide" Target="/ppt/notesSlides/notesSlide20.xml" Id="Ra42559a929234d90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1f5492895d4c5d" /><Relationship Type="http://schemas.openxmlformats.org/officeDocument/2006/relationships/notesSlide" Target="/ppt/notesSlides/notesSlide21.xml" Id="R8f31ba6b4f7d4c7b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2fe35011e54977" /><Relationship Type="http://schemas.openxmlformats.org/officeDocument/2006/relationships/notesSlide" Target="/ppt/notesSlides/notesSlide22.xml" Id="Rf11c889229cc4feb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1591223503446e" /><Relationship Type="http://schemas.openxmlformats.org/officeDocument/2006/relationships/notesSlide" Target="/ppt/notesSlides/notesSlide23.xml" Id="R1a524d81a28145b1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d21ebc112d4f0f" /><Relationship Type="http://schemas.openxmlformats.org/officeDocument/2006/relationships/notesSlide" Target="/ppt/notesSlides/notesSlide24.xml" Id="Refd3b63bd0ad411b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3425a779a241dc" /><Relationship Type="http://schemas.openxmlformats.org/officeDocument/2006/relationships/notesSlide" Target="/ppt/notesSlides/notesSlide25.xml" Id="Re117133548ad4666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56e69628cb4864" /><Relationship Type="http://schemas.openxmlformats.org/officeDocument/2006/relationships/notesSlide" Target="/ppt/notesSlides/notesSlide26.xml" Id="Rdbfe03f2b0db480d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fec4e52ceb4eb7" /><Relationship Type="http://schemas.openxmlformats.org/officeDocument/2006/relationships/notesSlide" Target="/ppt/notesSlides/notesSlide27.xml" Id="R448cf6dca5bf4e08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ee5b60178b4aab" /><Relationship Type="http://schemas.openxmlformats.org/officeDocument/2006/relationships/notesSlide" Target="/ppt/notesSlides/notesSlide28.xml" Id="Rb1f68ed387a84c59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38c0a131f24162" /><Relationship Type="http://schemas.openxmlformats.org/officeDocument/2006/relationships/notesSlide" Target="/ppt/notesSlides/notesSlide29.xml" Id="Rec211e73506d42d2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b44b8324ed4552" /><Relationship Type="http://schemas.openxmlformats.org/officeDocument/2006/relationships/notesSlide" Target="/ppt/notesSlides/notesSlide30.xml" Id="Rbf3a070baaee4944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862b7224dc4397" /><Relationship Type="http://schemas.openxmlformats.org/officeDocument/2006/relationships/notesSlide" Target="/ppt/notesSlides/notesSlide31.xml" Id="R21174db42b584777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f97d351fbe4d23" /><Relationship Type="http://schemas.openxmlformats.org/officeDocument/2006/relationships/notesSlide" Target="/ppt/notesSlides/notesSlide32.xml" Id="Rb88847be586d49f8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9a5bb42b2244a0" /><Relationship Type="http://schemas.openxmlformats.org/officeDocument/2006/relationships/notesSlide" Target="/ppt/notesSlides/notesSlide33.xml" Id="Rbd85f440c2424055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06b4699fe54dd0" /><Relationship Type="http://schemas.openxmlformats.org/officeDocument/2006/relationships/notesSlide" Target="/ppt/notesSlides/notesSlide34.xml" Id="R4831975db87a4429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50bec08b6d418d" /><Relationship Type="http://schemas.openxmlformats.org/officeDocument/2006/relationships/notesSlide" Target="/ppt/notesSlides/notesSlide35.xml" Id="R56a08609be184f90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6eea5613bf487a" /><Relationship Type="http://schemas.openxmlformats.org/officeDocument/2006/relationships/notesSlide" Target="/ppt/notesSlides/notesSlide36.xml" Id="Rd8cbe243ea934956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61e74242bd4bcf" /><Relationship Type="http://schemas.openxmlformats.org/officeDocument/2006/relationships/notesSlide" Target="/ppt/notesSlides/notesSlide37.xml" Id="R320639cb61b84153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5970eb7e594a43" /><Relationship Type="http://schemas.openxmlformats.org/officeDocument/2006/relationships/notesSlide" Target="/ppt/notesSlides/notesSlide38.xml" Id="R96f7645055c244f5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7b094cc4ac4eeb" /><Relationship Type="http://schemas.openxmlformats.org/officeDocument/2006/relationships/notesSlide" Target="/ppt/notesSlides/notesSlide39.xml" Id="R57c0a57857654ce2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d2114d5c3f4dbe" /><Relationship Type="http://schemas.openxmlformats.org/officeDocument/2006/relationships/notesSlide" Target="/ppt/notesSlides/notesSlide40.xml" Id="Rdcbf40a940054570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3ac0c6668f4667" /><Relationship Type="http://schemas.openxmlformats.org/officeDocument/2006/relationships/notesSlide" Target="/ppt/notesSlides/notesSlide41.xml" Id="R1c86f1acd2cc4765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febd681c544d05" /><Relationship Type="http://schemas.openxmlformats.org/officeDocument/2006/relationships/notesSlide" Target="/ppt/notesSlides/notesSlide42.xml" Id="Re4c4950024204521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ef614ce0344175" /><Relationship Type="http://schemas.openxmlformats.org/officeDocument/2006/relationships/notesSlide" Target="/ppt/notesSlides/notesSlide43.xml" Id="Rba17f0faac44476e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e18c63f6d44b43" /><Relationship Type="http://schemas.openxmlformats.org/officeDocument/2006/relationships/notesSlide" Target="/ppt/notesSlides/notesSlide44.xml" Id="Rbd4befaa29e64f6d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ed9acfd24c4fd5" /><Relationship Type="http://schemas.openxmlformats.org/officeDocument/2006/relationships/notesSlide" Target="/ppt/notesSlides/notesSlide45.xml" Id="Rba9df62fbf684487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59029ee8df4420" /><Relationship Type="http://schemas.openxmlformats.org/officeDocument/2006/relationships/notesSlide" Target="/ppt/notesSlides/notesSlide46.xml" Id="Rb41b8809239946cd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83070692e64ef0" /><Relationship Type="http://schemas.openxmlformats.org/officeDocument/2006/relationships/notesSlide" Target="/ppt/notesSlides/notesSlide47.xml" Id="R448bd0724c6f45e8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8a0cdd5d444d7b" /><Relationship Type="http://schemas.openxmlformats.org/officeDocument/2006/relationships/notesSlide" Target="/ppt/notesSlides/notesSlide48.xml" Id="Rea69317376594b8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9A7B7C-8A7B-4881-87AA-38E0A1654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5E7DC6-1440-45F6-817C-84273ADAD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FA069C-0262-4840-ABE7-7EC5A7265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0E0314-7F7D-4EC9-80FB-8E3012174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063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Jev, Reinforcement Learning e decisões calibradas em um sistema robótico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585BA4-A01D-41C4-82D0-EE778A686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C30CBD-8CD0-4CDF-BD0B-64DA995DC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JEV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6715C6-0989-4EB1-8152-2FF38A721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52D2E9-3F38-4202-83D8-D57AD6FEB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09825"/>
            <a:ext cx="981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210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JEV  ×  MAESTRO AGRÍCOLA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8B8BA6-60FC-44C2-B648-4CECDE697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6705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52645B"/>
                </a:solidFill>
                <a:latin typeface="Lato"/>
                <a:ea typeface="Lato"/>
                <a:cs typeface="Lato"/>
              </a:rPr>
              <a:t>Grupo de estudos de Reinforcement Learning · 1º out. 2026</a:t>
            </a:r>
          </a:p>
        </p:txBody>
      </p:sp>
    </p:spTree>
    <p:extLst>
      <p:ext uri="{BB962C8B-B14F-4D97-AF65-F5344CB8AC3E}">
        <p14:creationId xmlns:p14="http://schemas.microsoft.com/office/powerpoint/2010/main" val="130643574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287D3C-801C-4A4B-BFCE-D147C63C8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DE8515-C586-4B2A-9CCC-31FDBEAAC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44970A-A43F-4AFF-8075-B723E2ADC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1F39E6-8692-4F24-A382-B9BB8CED4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Um bot de WhatsApp precisa encaminhar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790DD7-66CD-4055-A043-B50893225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22B6F5-49E1-4E1B-8678-42D28817D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JEV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C21277-A7EC-492F-B4B1-1E149A477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C5B4B9-9CA5-4E9F-A3CF-D5CA42493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106680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3600" b="1">
                <a:solidFill>
                  <a:srgbClr val="1D2723"/>
                </a:solidFill>
                <a:latin typeface="Lato"/>
                <a:ea typeface="Lato"/>
                <a:cs typeface="Lato"/>
              </a:rPr>
              <a:t>“Minha cobrança veio duplicada. Consegue resolver?”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2C48C9-895E-4DBD-BD16-AA9982E52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524375"/>
            <a:ext cx="103822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52645B"/>
                </a:solidFill>
                <a:latin typeface="Lato"/>
                <a:ea typeface="Lato"/>
                <a:cs typeface="Lato"/>
              </a:rPr>
              <a:t>O bot pode conversar como humano; em algum ponto, precisa escolher um destino concreto.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A9BDF7-B172-4716-92FA-DF29F8645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05425"/>
            <a:ext cx="1038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80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TÉCNICO   ·   FINANCEIRO   ·   COMERCIAL   ·   HUMANO</a:t>
            </a:r>
          </a:p>
        </p:txBody>
      </p:sp>
    </p:spTree>
    <p:extLst>
      <p:ext uri="{BB962C8B-B14F-4D97-AF65-F5344CB8AC3E}">
        <p14:creationId xmlns:p14="http://schemas.microsoft.com/office/powerpoint/2010/main" val="40870110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946AEC-9C8D-4CD1-82F3-EBB55DA38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4EAFA8-59F6-429E-8502-49FBE5978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A0FE78-09AB-4EBC-B47D-B2D758DD0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CECB77-7115-47A8-AAED-B57582CBF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Quando usar if; quando perguntar ao Jev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77719A-978F-42E6-BFDD-8AB3928B8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6BBDE3-0952-496F-ACC1-25296D0E2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JEV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1EA152-A4D6-4573-98EF-80691E626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892356-C198-4B0E-8303-7EBD8C3EA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24025"/>
            <a:ext cx="49530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9FB"/>
          </a:solidFill>
          <a:ln xmlns:a="http://schemas.openxmlformats.org/drawingml/2006/main" w="9525">
            <a:solidFill>
              <a:srgbClr val="D9E6E5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796884-D88A-4D16-BB33-080F0F241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85950"/>
            <a:ext cx="4495800" cy="2628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8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if (idade &gt;= 18) {</a:t>
            </a:r>
          </a:p>
          <a:p xmlns:a="http://schemas.openxmlformats.org/drawingml/2006/main">
            <a:pPr>
              <a:defRPr sz="18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8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  resposta = "sim"</a:t>
            </a:r>
          </a:p>
          <a:p xmlns:a="http://schemas.openxmlformats.org/drawingml/2006/main">
            <a:pPr>
              <a:defRPr sz="18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8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} else {</a:t>
            </a:r>
          </a:p>
          <a:p xmlns:a="http://schemas.openxmlformats.org/drawingml/2006/main">
            <a:pPr>
              <a:defRPr sz="18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8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  resposta = "não"</a:t>
            </a:r>
          </a:p>
          <a:p xmlns:a="http://schemas.openxmlformats.org/drawingml/2006/main">
            <a:pPr>
              <a:defRPr sz="18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8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}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4C9C9B-3430-488E-9ECC-87260CBF1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724025"/>
            <a:ext cx="56197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9FB"/>
          </a:solidFill>
          <a:ln xmlns:a="http://schemas.openxmlformats.org/drawingml/2006/main" w="9525">
            <a:solidFill>
              <a:srgbClr val="D9E6E5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B127F2-4216-4185-BE4B-AE9F9858E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885950"/>
            <a:ext cx="5162550" cy="2628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650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state: "Ela disse que já é maior de idade"</a:t>
            </a:r>
          </a:p>
          <a:p xmlns:a="http://schemas.openxmlformats.org/drawingml/2006/main">
            <a:pPr>
              <a:defRPr sz="1650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650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question: Noul(</a:t>
            </a:r>
          </a:p>
          <a:p xmlns:a="http://schemas.openxmlformats.org/drawingml/2006/main">
            <a:pPr>
              <a:defRPr sz="1650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650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  "A frase afirma maioridade?"</a:t>
            </a:r>
          </a:p>
          <a:p xmlns:a="http://schemas.openxmlformats.org/drawingml/2006/main">
            <a:pPr>
              <a:defRPr sz="1650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650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)</a:t>
            </a:r>
          </a:p>
          <a:p xmlns:a="http://schemas.openxmlformats.org/drawingml/2006/main">
            <a:pPr>
              <a:defRPr sz="1650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650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answer: P(sim) → política → sim/não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77B8D8-C2C8-4207-A958-0E465C09E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48250"/>
            <a:ext cx="10763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2025" b="1">
                <a:solidFill>
                  <a:srgbClr val="3C4C1E"/>
                </a:solidFill>
                <a:latin typeface="Lato"/>
                <a:ea typeface="Lato"/>
                <a:cs typeface="Lato"/>
              </a:rPr>
              <a:t>Idade numérica conhecida: use if. Texto ambíguo: classificação probabilística.</a:t>
            </a:r>
          </a:p>
        </p:txBody>
      </p:sp>
    </p:spTree>
    <p:extLst>
      <p:ext uri="{BB962C8B-B14F-4D97-AF65-F5344CB8AC3E}">
        <p14:creationId xmlns:p14="http://schemas.microsoft.com/office/powerpoint/2010/main" val="19953810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3996B5-0ED4-4E35-9BEC-0B69DDB28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2FF36B-FD98-46B0-BAB6-3C968FA55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2D98C3-1166-4677-9C6D-18E704B12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ED092C-627F-44A0-9D25-981DBF4F2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Jev e a ideia de System One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60A1EF-EC8B-4ACD-982F-56790FDAB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E361C5-2A53-4FE0-B339-9DF1CF5B8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JEV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88419B-AA99-4405-9F62-338BBC541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04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8B9377-C4B6-4F97-8396-15D3DA2B4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811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7B4AF5-DCF3-4236-8F1C-149F5668A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476375"/>
            <a:ext cx="10182225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System One: nome da TypeSafe para decisões rápidas e tipadas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545689-55A7-4C87-A03D-FFB02B1D4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860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02E2BA-1F68-49DB-98F0-4BB938482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381250"/>
            <a:ext cx="10182225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Inspirado no Sistema 1 de Kahneman; não é uma teoria do cérebro implementada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8A84D1-7B03-4683-82C1-FA0F2561B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909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CB2FC7-87E5-4505-BF1A-8EB359981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286125"/>
            <a:ext cx="10182225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Jev recebe um estado e perguntas; devolve escolhas e probabilidades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16B67E-E0AE-48D2-8EB9-8C3A93DFC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9577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37F0EF-6734-4BED-9AD8-C334290D7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191000"/>
            <a:ext cx="10182225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Diogo Almeida, fundador da TypeSafe, trabalhou na OpenAI</a:t>
            </a:r>
          </a:p>
        </p:txBody>
      </p:sp>
    </p:spTree>
    <p:extLst>
      <p:ext uri="{BB962C8B-B14F-4D97-AF65-F5344CB8AC3E}">
        <p14:creationId xmlns:p14="http://schemas.microsoft.com/office/powerpoint/2010/main" val="102618223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55BD5E-7794-495E-A7E7-D27CBF2DA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31E7FB-89D4-4FAC-BF27-59BA700A1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943941-C6A5-4078-86DD-B5DB21F0F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0FF701-80D1-4C00-AEB1-07CA12445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O contrato do Jev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EE2E8B-4E6E-43A0-8B5F-601B445D4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04679B-14F3-49D8-A788-BFF6CC55C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JEV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05B925-3F11-47C9-A3C7-959B8401C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05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0A4655-3EE3-4496-B5F4-7CD1F5B46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240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716EF6-6C94-48AB-A210-C6CE2D1A8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1619250"/>
            <a:ext cx="101822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1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Entrada: state + questions + opções ou critérios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6AEE90-B686-43B7-8B4A-D3F32A1CA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241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02A89A-05DE-4760-B2EE-BF9F5D514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2419350"/>
            <a:ext cx="101822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1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Choice → escolha, probabilidades e confidence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A0B45C-40A4-412E-8D8B-34234AD7D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242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8FE1A2-E986-4B87-8787-CB053F095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3219450"/>
            <a:ext cx="101822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1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Noul → probabilidade de sim; Score → nota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1E9A15-71AB-498D-AB6C-9677E6C2E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243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C5C784-9A82-4676-8AE2-D154B5DF2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4019550"/>
            <a:ext cx="101822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1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Seu código valida e age após a resposta</a:t>
            </a:r>
          </a:p>
        </p:txBody>
      </p:sp>
    </p:spTree>
    <p:extLst>
      <p:ext uri="{BB962C8B-B14F-4D97-AF65-F5344CB8AC3E}">
        <p14:creationId xmlns:p14="http://schemas.microsoft.com/office/powerpoint/2010/main" val="161694686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E628B5-3977-43E4-99C0-E4CCAAE92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60DD3C-0CD1-4791-801E-9E71C0698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59CA4C-4433-4BDA-8112-37785B486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84044A-B1B3-4F01-BE9B-125E5BC7E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Tokens de saída: o ponto econômico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D350D3-A403-46F6-B596-12D4E04C1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352079-5F8D-4BC1-9555-5A517AE06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JEV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1B537F-1683-4041-8F16-023765121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06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0CF2DB-92D5-4088-998A-780DAFB35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106680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3600" b="1">
                <a:solidFill>
                  <a:srgbClr val="1D2723"/>
                </a:solidFill>
                <a:latin typeface="Lato"/>
                <a:ea typeface="Lato"/>
                <a:cs typeface="Lato"/>
              </a:rPr>
              <a:t>Preço anunciado de output tokens: zero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52F7D9-D44C-4F5B-BE77-81949FB70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524375"/>
            <a:ext cx="103822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52645B"/>
                </a:solidFill>
                <a:latin typeface="Lato"/>
                <a:ea typeface="Lato"/>
                <a:cs typeface="Lato"/>
              </a:rPr>
              <a:t>Jev ainda contabiliza tokens de saída. No nosso harness: 69–71 por chamada. Há custo de entrada e de rede.</a:t>
            </a:r>
          </a:p>
        </p:txBody>
      </p:sp>
    </p:spTree>
    <p:extLst>
      <p:ext uri="{BB962C8B-B14F-4D97-AF65-F5344CB8AC3E}">
        <p14:creationId xmlns:p14="http://schemas.microsoft.com/office/powerpoint/2010/main" val="170767140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C15FF9-3A11-4252-86DF-CB87DD3AD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ACA9EA-2ADF-4AE8-AB56-FDCF6F375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981897-C46A-4A6A-A30B-859B72F15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E7D224-9454-4D61-AB98-CBF26E95D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Velocidade só importa junto com qualidade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FE5FFE-7DFB-440F-8B19-74E265F75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4DAAA9-6BBC-43AB-A110-505AB9E4D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JEV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349C24-A52B-405B-9661-1D5318B69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07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F979D6-BE7B-4B85-A162-FDC829974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240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309BDA-F5E6-4022-B3A2-7D2C2A642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1619250"/>
            <a:ext cx="101822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1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Alegações da TypeSafe vêm de workflows próprios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C1BBF6-ACF1-4A3C-9A00-C4AF1F1EF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241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677F03-641D-4F98-A41E-A70BC8D29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2419350"/>
            <a:ext cx="101822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1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Compare a mesma tarefa, p95 e qualidade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0482D7-87FD-480B-81AB-26E9DBC0F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242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547394-32B8-47F6-A2AF-27B5ECE6A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3219450"/>
            <a:ext cx="101822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1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Inclua custo de rede e custo do erro</a:t>
            </a:r>
          </a:p>
        </p:txBody>
      </p:sp>
    </p:spTree>
    <p:extLst>
      <p:ext uri="{BB962C8B-B14F-4D97-AF65-F5344CB8AC3E}">
        <p14:creationId xmlns:p14="http://schemas.microsoft.com/office/powerpoint/2010/main" val="145268726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C63ED4-8FBA-461E-AEFB-25874D061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685B88-BB7B-4628-807D-D77BCF8F1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17D898-7974-4359-9B4B-64ACCB1F8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32331F-129C-41C8-A22D-C3F31390B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LLM versus Jev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643456-0070-436C-B5F2-4EB4DD048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54FE99-475A-4AC4-9E88-35CF55EF9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JEV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0AE0F7-35A4-4ABD-9EA1-14352E769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08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609600" y="1590675"/>
          <a:ext xmlns:a="http://schemas.openxmlformats.org/drawingml/2006/main" cx="10953750" cy="42100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667000"/>
                <a:gridCol w="4191000"/>
                <a:gridCol w="4095750"/>
              </a:tblGrid>
              <a:tr h="70167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</a:rPr>
                        <a:t>Critério</a:t>
                      </a:r>
                    </a:p>
                  </a:txBody>
                  <a:tcPr marL="91440" marR="91440" marT="45720" marB="45720">
                    <a:solidFill>
                      <a:srgbClr val="3C4C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</a:rPr>
                        <a:t>LLM generativo</a:t>
                      </a:r>
                    </a:p>
                  </a:txBody>
                  <a:tcPr marL="91440" marR="91440" marT="45720" marB="45720">
                    <a:solidFill>
                      <a:srgbClr val="3C4C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</a:rPr>
                        <a:t>Jev</a:t>
                      </a:r>
                    </a:p>
                  </a:txBody>
                  <a:tcPr marL="91440" marR="91440" marT="45720" marB="45720">
                    <a:solidFill>
                      <a:srgbClr val="3C4C1E"/>
                    </a:solidFill>
                  </a:tcPr>
                </a:tc>
              </a:tr>
              <a:tr h="701675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Saída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Texto ou JSON gerado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Escolha/probabilidade tipada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01675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Flexibilidade</a:t>
                      </a:r>
                    </a:p>
                  </a:txBody>
                  <a:tcPr marL="91440" marR="91440" marT="45720" marB="45720">
                    <a:solidFill>
                      <a:srgbClr val="ED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Alta</a:t>
                      </a:r>
                    </a:p>
                  </a:txBody>
                  <a:tcPr marL="91440" marR="91440" marT="45720" marB="45720">
                    <a:solidFill>
                      <a:srgbClr val="ED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Catálogo delimitado</a:t>
                      </a:r>
                    </a:p>
                  </a:txBody>
                  <a:tcPr marL="91440" marR="91440" marT="45720" marB="45720">
                    <a:solidFill>
                      <a:srgbClr val="EDF9FB"/>
                    </a:solidFill>
                  </a:tcPr>
                </a:tc>
              </a:tr>
              <a:tr h="701675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Validação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Schema + política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Catálogo + política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01675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Tokens de saída</a:t>
                      </a:r>
                    </a:p>
                  </a:txBody>
                  <a:tcPr marL="91440" marR="91440" marT="45720" marB="45720">
                    <a:solidFill>
                      <a:srgbClr val="ED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Geração textual</a:t>
                      </a:r>
                    </a:p>
                  </a:txBody>
                  <a:tcPr marL="91440" marR="91440" marT="45720" marB="45720">
                    <a:solidFill>
                      <a:srgbClr val="ED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Resposta compacta; preço anunciado zero</a:t>
                      </a:r>
                    </a:p>
                  </a:txBody>
                  <a:tcPr marL="91440" marR="91440" marT="45720" marB="45720">
                    <a:solidFill>
                      <a:srgbClr val="EDF9FB"/>
                    </a:solidFill>
                  </a:tcPr>
                </a:tc>
              </a:tr>
              <a:tr h="701675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Melhor uso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Explicar e redigir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Roteamento e decisão fechada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860787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5A7DDB-CE70-4B20-A8A0-AC5602DC3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89810D-00F0-4038-8AE3-4CDE5A6CB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B2AA91-27CE-48C3-ACA6-A36F05FA8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F07EDC-A936-44E2-8018-BD8A236F3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Choice na documentação oficial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B192BD-64E1-4898-A016-61FB0C0F2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6A251C-D66A-446F-B7C8-D678E2CB4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JEV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9FE782-0557-4E4E-A161-033CC18C6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09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35b7ba5e634ce6"/>
          <a:stretch xmlns:a="http://schemas.openxmlformats.org/drawingml/2006/main"/>
        </p:blipFill>
        <p:spPr>
          <a:xfrm xmlns:a="http://schemas.openxmlformats.org/drawingml/2006/main">
            <a:off x="1653284" y="1447800"/>
            <a:ext cx="8866381" cy="42767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81438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E6C944-6A6A-4272-B444-3502FFF2A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57BA0F-73AF-4017-9BD9-2F9343876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C8D6D7-9349-4BA1-927D-E26B3368A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553831-704A-41A0-A494-8C99C27FE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Playground: encaminhar uma mensagem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FE82F3-03C2-45A4-B405-8EBE7582B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DE1F94-CDF0-44AA-BE61-F6EB9DC0C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JEV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D2F87A-8F9C-4CDA-B50A-D7F3F02B1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10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42CB86-8649-4584-9FB0-F62EF3E99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10287000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9FB"/>
          </a:solidFill>
          <a:ln xmlns:a="http://schemas.openxmlformats.org/drawingml/2006/main" w="9525">
            <a:solidFill>
              <a:srgbClr val="D9E6E5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A8049B-C99E-4BE6-818A-156A351B2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76425"/>
            <a:ext cx="9829800" cy="2647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8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state: "A integração de pagamento falhou</a:t>
            </a:r>
          </a:p>
          <a:p xmlns:a="http://schemas.openxmlformats.org/drawingml/2006/main">
            <a:pPr>
              <a:defRPr sz="18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8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e a fatura foi cobrada duas vezes."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8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Choice: FINANCEIRO | TÉCNICO |</a:t>
            </a:r>
          </a:p>
          <a:p xmlns:a="http://schemas.openxmlformats.org/drawingml/2006/main">
            <a:pPr>
              <a:defRPr sz="18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8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        COMERCIAL | HUMANO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C42746-B61F-42AA-9D8E-268CCB628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972050"/>
            <a:ext cx="1000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22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Antes de executar: qual opção a sala espera?</a:t>
            </a:r>
          </a:p>
        </p:txBody>
      </p:sp>
    </p:spTree>
    <p:extLst>
      <p:ext uri="{BB962C8B-B14F-4D97-AF65-F5344CB8AC3E}">
        <p14:creationId xmlns:p14="http://schemas.microsoft.com/office/powerpoint/2010/main" val="131182658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3B7C04-2762-464D-BAA0-2021F13FA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8E0C07-B4BE-4FDB-81A1-1D41391DF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3B9194-0F68-4D33-9E7D-496611AFA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439B68-0ABD-40DB-9F48-4C0D78A3E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Playground da TypeSafe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1AD270-E80A-43B8-BAC7-85D757178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3A0268-C593-4B78-BB92-D577241C1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JEV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2D465B-4878-4266-90C5-1BB4E25D7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11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8FA046-57D3-4834-8749-CC962F7EC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00200"/>
            <a:ext cx="10953750" cy="395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B"/>
          </a:solidFill>
          <a:ln xmlns:a="http://schemas.openxmlformats.org/drawingml/2006/main" w="19050">
            <a:solidFill>
              <a:srgbClr val="8FD9E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B8B48E-BA76-4ED6-B6FF-761B83DE3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990850"/>
            <a:ext cx="914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300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ÁREA PARA PLAYGROUND AO VIVO</a:t>
            </a:r>
          </a:p>
        </p:txBody>
      </p:sp>
    </p:spTree>
    <p:extLst>
      <p:ext uri="{BB962C8B-B14F-4D97-AF65-F5344CB8AC3E}">
        <p14:creationId xmlns:p14="http://schemas.microsoft.com/office/powerpoint/2010/main" val="37118532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FF2EE5-FF0B-4831-99A3-68623F985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2731D1-F571-46D0-9670-8796CAAC6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4362FC-3F5D-43D1-BBF2-3263F3AE0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38F9B2-4A0E-4369-8ACC-68939FC01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A chamada em código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8258A1-22B7-4013-A099-BAD679A69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0A97BC-FB82-4695-ACB5-D2AC0E6DA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JEV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A6F8EA-9FF5-4FAB-9790-E2D891329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12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13FA22-3036-40BC-A147-E8C469D5E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571625"/>
            <a:ext cx="10668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9FB"/>
          </a:solidFill>
          <a:ln xmlns:a="http://schemas.openxmlformats.org/drawingml/2006/main" w="9525">
            <a:solidFill>
              <a:srgbClr val="D9E6E5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ACB4AD-2ECD-4BC0-A12B-CA5BA34F6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1733550"/>
            <a:ext cx="10210800" cy="3771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8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POST https://api.typesafe.ai/v1/systemone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8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{</a:t>
            </a:r>
          </a:p>
          <a:p xmlns:a="http://schemas.openxmlformats.org/drawingml/2006/main">
            <a:pPr>
              <a:defRPr sz="18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8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  "state": "...",</a:t>
            </a:r>
          </a:p>
          <a:p xmlns:a="http://schemas.openxmlformats.org/drawingml/2006/main">
            <a:pPr>
              <a:defRPr sz="18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8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  "model": "jev-...",</a:t>
            </a:r>
          </a:p>
          <a:p xmlns:a="http://schemas.openxmlformats.org/drawingml/2006/main">
            <a:pPr>
              <a:defRPr sz="18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8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  "questions": [{ "type": "choice", ... }]</a:t>
            </a:r>
          </a:p>
          <a:p xmlns:a="http://schemas.openxmlformats.org/drawingml/2006/main">
            <a:pPr>
              <a:defRPr sz="18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8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8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route(validate(answers["departamento"]))</a:t>
            </a:r>
          </a:p>
        </p:txBody>
      </p:sp>
    </p:spTree>
    <p:extLst>
      <p:ext uri="{BB962C8B-B14F-4D97-AF65-F5344CB8AC3E}">
        <p14:creationId xmlns:p14="http://schemas.microsoft.com/office/powerpoint/2010/main" val="14510659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1B5991-3D2A-474C-820F-0557C568B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285AD1-8EDE-479C-8027-D38E14FF9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953882-A8D8-4C76-BF34-403336ED7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2D1830-3EBD-43C6-95B3-E99DA3B1C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RL básico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4EC005-BEE5-4369-836B-D8E0ECD07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F9BB15-9885-473D-B368-847A97FE6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REINFORCEMENT LEARNING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65D809-156D-4EBA-A02B-2586A6EA0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13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E902BF-EAD0-4113-B152-E361F6EF6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779EE7-29F7-44CB-ABED-6C3BC2E74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514475"/>
            <a:ext cx="100869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Entrada: estado s, ação a, novo estado s’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AAEFF8-E5B4-416E-8D8B-AF18DD893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6697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D10998-415D-4D66-89D9-6ED36B96F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362200"/>
            <a:ext cx="100869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Sinal: recompensa do ambiente 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72E5AF-7048-4C51-8CFD-93F8B4282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147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FE018C-1855-4A68-9A96-92F726669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209925"/>
            <a:ext cx="100869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Ajuste: política π(a|s) busca retorno esperado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495122-9760-49A4-912B-2372C181F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624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9F5981-2471-4BBB-8D48-5602D462D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057650"/>
            <a:ext cx="100869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Saída: ação sob a política aprendida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B37B0A-243B-4198-A0D2-ED35D3AB4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101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6C5587-E342-492A-B87A-3CB8E06A6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905375"/>
            <a:ext cx="100869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Limite: recompensa mal definida induz atalhos</a:t>
            </a:r>
          </a:p>
        </p:txBody>
      </p:sp>
    </p:spTree>
    <p:extLst>
      <p:ext uri="{BB962C8B-B14F-4D97-AF65-F5344CB8AC3E}">
        <p14:creationId xmlns:p14="http://schemas.microsoft.com/office/powerpoint/2010/main" val="64856894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0F08E8-E95D-4BA6-ADF0-201CC0F86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72293C-7CB3-4AC8-A96A-0F8FA4F9F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9AA502-8674-4F45-BF00-2B0E3C54A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2B06DB-16EA-4E9B-BFA8-04F8F0A26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RLHF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D6BE44-E307-4369-B6D9-935DE0B81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F90166-120D-418E-87E0-988E10485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REINFORCEMENT LEARNING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5CD72D-125C-46DF-B0E0-EF6A69E13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14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062FDA-895E-4FA3-8B5E-B4029320C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B29CE6-8983-44D4-9ECF-C30E1DD16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514475"/>
            <a:ext cx="100869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Entrada: respostas alternativas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92F399-ECFC-42B0-8560-CA3E6E382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6697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739812-6059-45F1-8D35-50192687A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362200"/>
            <a:ext cx="100869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Sinal: comparações/preferências humanas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C1AA01-6AA3-4DD8-B0BC-E5C7E11B8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147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3D340D-7DBA-4BCC-A311-6CF780E49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209925"/>
            <a:ext cx="100869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Ajuste: política favorece respostas preferidas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A51CB8-20CA-4F33-BFFF-944CBB410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624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5A66DD-0A1C-4693-B3CA-6765D523D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057650"/>
            <a:ext cx="100869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Saída: resposta alinhada à preferência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742B68-4821-4C36-8AAD-4353FA282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101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47AFE7-F923-466D-84A9-9F5DD795A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905375"/>
            <a:ext cx="100869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Limite: preferência não mede calibração</a:t>
            </a:r>
          </a:p>
        </p:txBody>
      </p:sp>
    </p:spTree>
    <p:extLst>
      <p:ext uri="{BB962C8B-B14F-4D97-AF65-F5344CB8AC3E}">
        <p14:creationId xmlns:p14="http://schemas.microsoft.com/office/powerpoint/2010/main" val="161188546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0F9B1C-5EC3-4223-8D49-7EF085DAB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754D19-5C1A-4C0A-B70E-39D6A6451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EE4566-1B41-42D2-8F67-66F0B4D99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06EB53-774E-401E-A1B6-41E02E5E5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RLVR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A15C88-6C26-4F8E-8CC9-EB32EADCC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B66E3C-D355-4D74-B375-5AE276AC8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REINFORCEMENT LEARNING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BF3C55-C859-4550-B023-335A70C3C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15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7BAB69-57BF-404F-9462-B5F4A5FAD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DAC39F-E090-4F3E-8865-F3B937D72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514475"/>
            <a:ext cx="100869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Entrada: tarefa com resposta verificável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4B4805-E175-412B-A5F8-E30ECDFFA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6697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2D7E64-338C-431E-8D02-D50FB267B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362200"/>
            <a:ext cx="100869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Sinal: teste, prova ou resposta objetiva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478A39-FC24-4BCA-846C-16906317E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147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0ACE65-F729-49C5-B246-447115713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209925"/>
            <a:ext cx="100869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Ajuste: política favorece respostas verificadas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033A08-4C0E-42CE-AB40-E4D74940C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624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30B38B-8318-4561-AE8A-D5EFEEAA2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057650"/>
            <a:ext cx="100869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Saída: resposta correta no verificador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993614-A6B8-4F85-BB24-FBCB5D14F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101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5E96EC-347E-461F-988F-98FC8EBB8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905375"/>
            <a:ext cx="100869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Limite: acerto não calibra probabilidades</a:t>
            </a:r>
          </a:p>
        </p:txBody>
      </p:sp>
    </p:spTree>
    <p:extLst>
      <p:ext uri="{BB962C8B-B14F-4D97-AF65-F5344CB8AC3E}">
        <p14:creationId xmlns:p14="http://schemas.microsoft.com/office/powerpoint/2010/main" val="67190242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42D565-0BCA-4EE0-A91A-B5DD9D3F5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D49BAC-7A25-4226-BDA4-7A2FDA94F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376549-FF66-4B61-9AF2-D4457D3D4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B2DE3A-6102-4D0F-8408-C7DB7F700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RLCD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82B45C-DA4E-4050-9C2F-691F91643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AD5E30-8523-4932-81F5-755C8ABA0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REINFORCEMENT LEARNING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3834DE-981A-4B69-9816-3897B7DAA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16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9F7074-3275-4523-A5EA-30BE32E67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831AD6-AEC1-41C0-8228-1A3FD0F29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514475"/>
            <a:ext cx="100869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Entrada: estados e decisões tipadas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58DBCB-0111-46CC-A69F-CEFC4EECE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6697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2F2E64-8CF1-475E-9440-717200C8D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362200"/>
            <a:ext cx="100869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Sinal: objetivo público de decisão calibrada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B109CB-9CC8-461D-A72F-03FF5CAEA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147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FAD771-5FD3-4AD4-9A15-FE34B6916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209925"/>
            <a:ext cx="100869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Ajuste: detalhes do treino ainda não publicados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836D26-A78F-40D3-AC91-511B65594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624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1E3A28-7FC2-4BBE-9A25-AE5F8B814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057650"/>
            <a:ext cx="100869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Saída: escolha + distribuição probabilística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A1387E-12EC-4F5D-9CD6-9FDECAE04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101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25EBD67-9759-478A-9274-69640C768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905375"/>
            <a:ext cx="100869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Limite: falta teste independente no nosso domínio</a:t>
            </a:r>
          </a:p>
        </p:txBody>
      </p:sp>
    </p:spTree>
    <p:extLst>
      <p:ext uri="{BB962C8B-B14F-4D97-AF65-F5344CB8AC3E}">
        <p14:creationId xmlns:p14="http://schemas.microsoft.com/office/powerpoint/2010/main" val="94207160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65BA67-0F5F-4FF2-B921-1389A4FEE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764FAA-2736-4C54-9FF4-7BF42DB10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936CB3-7657-48DB-B5A9-FB5B5B411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C4F151-4C12-4A1E-8C52-EC8EE725D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Probabilidade de 80%: como conferir?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3524C3-C4AB-4690-8D32-BFB50F3E7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DD88DB-442D-41D7-A67D-D9C10F7E5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REINFORCEMENT LEARNING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AA3D3E-EE0D-4547-8D76-EAE690CC2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17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FE76D6-6496-44CA-89D8-BC9ECB718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762125"/>
            <a:ext cx="1047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550" b="1">
                <a:solidFill>
                  <a:srgbClr val="1D2723"/>
                </a:solidFill>
                <a:latin typeface="Lato"/>
                <a:ea typeface="Lato"/>
                <a:cs typeface="Lato"/>
              </a:rPr>
              <a:t>Junte 100 decisões em que o modelo disse 80%.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CF8C78-DF65-4BE9-80A5-CB1CDD510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952750"/>
            <a:ext cx="1047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25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Se acertou perto de 80, essa faixa parece calibrada.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B8111F-8C9C-4F16-93ED-F9721859D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143375"/>
            <a:ext cx="1047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400" b="0">
                <a:solidFill>
                  <a:srgbClr val="1D2723"/>
                </a:solidFill>
                <a:latin typeface="Lato"/>
                <a:ea typeface="Lato"/>
                <a:cs typeface="Lato"/>
              </a:rPr>
              <a:t>Se acertou só 50, ele foi confiante demais.</a:t>
            </a:r>
          </a:p>
        </p:txBody>
      </p:sp>
    </p:spTree>
    <p:extLst>
      <p:ext uri="{BB962C8B-B14F-4D97-AF65-F5344CB8AC3E}">
        <p14:creationId xmlns:p14="http://schemas.microsoft.com/office/powerpoint/2010/main" val="147699017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16DDAA-131C-4129-943C-76102240D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71844B-FE6C-4AE0-884B-8184E6AE1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BDCE71-0659-4C46-A6F3-E49887E34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FF7E83-93CE-4136-800E-44C6D71A0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Três medidas, três perguntas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07AC6F-ECD7-4F21-832F-3037EEDBD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69D712-901A-411A-AF0A-24E48B0CB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REINFORCEMENT LEARNING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1B3ABA-09E0-4EA8-AFB0-4A33DA811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18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4DAA04-0D4F-49BA-B882-16451713A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240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0C9884-34C3-47B5-BE10-F6AA02421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1619250"/>
            <a:ext cx="101822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1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Accuracy / macro-F1: qual opção foi escolhida?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51B471-D591-4576-9B9E-2873546DC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241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784B28-4945-4827-8F49-140197F0B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2419350"/>
            <a:ext cx="101822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1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Brier / ECE: as probabilidades batem com a frequência?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7D9014-2CD5-4EF1-9F17-18218C52A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242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39CCD0-ECAA-456E-A526-F56BDAA92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3219450"/>
            <a:ext cx="101822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1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Falsos aceites: qual erro pode iniciar uma ação perigosa?</a:t>
            </a:r>
          </a:p>
        </p:txBody>
      </p:sp>
    </p:spTree>
    <p:extLst>
      <p:ext uri="{BB962C8B-B14F-4D97-AF65-F5344CB8AC3E}">
        <p14:creationId xmlns:p14="http://schemas.microsoft.com/office/powerpoint/2010/main" val="84857283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7CB874-1D48-475C-AA8D-3948FA141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62B403-36DB-4FA1-9CA9-EDD043580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0B292B-D740-4925-B03A-051488E4F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E8C42D-914B-4E76-866E-2A6CDA7E1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RL, RLHF, RLVR e RLCD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8E8515-7A1C-4651-9E39-FEC36FFCA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D061B6-8A1C-4C87-891D-FF4E7F831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REINFORCEMENT LEARNING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50F07F-483B-49C3-81F3-04D266459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19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609600" y="1752600"/>
          <a:ext xmlns:a="http://schemas.openxmlformats.org/drawingml/2006/main" cx="10953750" cy="347662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809750"/>
                <a:gridCol w="2571750"/>
                <a:gridCol w="3048000"/>
                <a:gridCol w="3524250"/>
              </a:tblGrid>
              <a:tr h="69532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</a:rPr>
                        <a:t>Família</a:t>
                      </a:r>
                    </a:p>
                  </a:txBody>
                  <a:tcPr marL="91440" marR="91440" marT="45720" marB="45720">
                    <a:solidFill>
                      <a:srgbClr val="3C4C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</a:rPr>
                        <a:t>Sinal</a:t>
                      </a:r>
                    </a:p>
                  </a:txBody>
                  <a:tcPr marL="91440" marR="91440" marT="45720" marB="45720">
                    <a:solidFill>
                      <a:srgbClr val="3C4C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</a:rPr>
                        <a:t>O que busca</a:t>
                      </a:r>
                    </a:p>
                  </a:txBody>
                  <a:tcPr marL="91440" marR="91440" marT="45720" marB="45720">
                    <a:solidFill>
                      <a:srgbClr val="3C4C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</a:rPr>
                        <a:t>Limite</a:t>
                      </a:r>
                    </a:p>
                  </a:txBody>
                  <a:tcPr marL="91440" marR="91440" marT="45720" marB="45720">
                    <a:solidFill>
                      <a:srgbClr val="3C4C1E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RL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Recompensa ambiente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Retorno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Reward mal definida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RLHF</a:t>
                      </a:r>
                    </a:p>
                  </a:txBody>
                  <a:tcPr marL="91440" marR="91440" marT="45720" marB="45720">
                    <a:solidFill>
                      <a:srgbClr val="ED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Preferência humana</a:t>
                      </a:r>
                    </a:p>
                  </a:txBody>
                  <a:tcPr marL="91440" marR="91440" marT="45720" marB="45720">
                    <a:solidFill>
                      <a:srgbClr val="ED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Resposta preferida</a:t>
                      </a:r>
                    </a:p>
                  </a:txBody>
                  <a:tcPr marL="91440" marR="91440" marT="45720" marB="45720">
                    <a:solidFill>
                      <a:srgbClr val="ED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Não garante calibração</a:t>
                      </a:r>
                    </a:p>
                  </a:txBody>
                  <a:tcPr marL="91440" marR="91440" marT="45720" marB="45720">
                    <a:solidFill>
                      <a:srgbClr val="EDF9FB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RLVR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Verificador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Acerto verificável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Escopo do verificador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RLCD</a:t>
                      </a:r>
                    </a:p>
                  </a:txBody>
                  <a:tcPr marL="91440" marR="91440" marT="45720" marB="45720">
                    <a:solidFill>
                      <a:srgbClr val="ED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Objetivo TypeSafe</a:t>
                      </a:r>
                    </a:p>
                  </a:txBody>
                  <a:tcPr marL="91440" marR="91440" marT="45720" marB="45720">
                    <a:solidFill>
                      <a:srgbClr val="ED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Decisão calibrada</a:t>
                      </a:r>
                    </a:p>
                  </a:txBody>
                  <a:tcPr marL="91440" marR="91440" marT="45720" marB="45720">
                    <a:solidFill>
                      <a:srgbClr val="ED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Faltam detalhes e testes que isolem o treino</a:t>
                      </a:r>
                    </a:p>
                  </a:txBody>
                  <a:tcPr marL="91440" marR="91440" marT="45720" marB="45720">
                    <a:solidFill>
                      <a:srgbClr val="EDF9FB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64110446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B9B89A-3D5E-45E0-BE43-5052A6156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FCFC75-E971-4B3D-B924-0F2501EA6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26D5E2-5A49-4C2E-B220-8865598A6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D0CF0C-4528-4FD8-9804-0289D702E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Emojis conforme a frase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F6E769-906D-49F4-8A86-098941ABD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997285-C4F2-431F-AAD6-E138F22C0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DEMOS DE TERCEIROS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B79D21-86BF-42BE-8085-80AAA3A18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20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CCB3CD-5946-463D-967D-4615C90F2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7667625" cy="413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B"/>
          </a:solidFill>
          <a:ln xmlns:a="http://schemas.openxmlformats.org/drawingml/2006/main" w="19050">
            <a:solidFill>
              <a:srgbClr val="8FD9E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BA16B7-E492-45C9-8856-5FD93A64F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52750"/>
            <a:ext cx="6572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2775" b="1">
                <a:solidFill>
                  <a:srgbClr val="3C4C1E"/>
                </a:solidFill>
                <a:latin typeface="Lato"/>
                <a:ea typeface="Lato"/>
                <a:cs typeface="Lato"/>
              </a:rPr>
              <a:t>INSERIR VÍDEO ORIGINAL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4C242E-7112-408B-A6F3-C68624E1D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5260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80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Stefan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9FC6F8-4312-4A16-BB47-F46BC0DE2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571750"/>
            <a:ext cx="2857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650" b="0">
                <a:solidFill>
                  <a:srgbClr val="1D2723"/>
                </a:solidFill>
                <a:latin typeface="Lato"/>
                <a:ea typeface="Lato"/>
                <a:cs typeface="Lato"/>
              </a:rPr>
              <a:t>Texto → catálogo de emojis → UI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0CF656-7F3F-42B6-88A8-B247264B1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91200"/>
            <a:ext cx="1038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00" b="0">
                <a:solidFill>
                  <a:srgbClr val="52645B"/>
                </a:solidFill>
                <a:latin typeface="Lato"/>
                <a:ea typeface="Lato"/>
                <a:cs typeface="Lato"/>
              </a:rPr>
              <a:t>Fonte: https://x.com/heystefan_/status/2101369117496521042</a:t>
            </a:r>
          </a:p>
        </p:txBody>
      </p:sp>
    </p:spTree>
    <p:extLst>
      <p:ext uri="{BB962C8B-B14F-4D97-AF65-F5344CB8AC3E}">
        <p14:creationId xmlns:p14="http://schemas.microsoft.com/office/powerpoint/2010/main" val="1315984195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FE9459-E362-491E-AB53-BD41CBF07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4F625A-3676-41DA-93B7-9341D7E77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9BFE76-E51D-494F-95A3-894E8CB61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2D3BA7-7195-4970-9C3C-89725991D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Escolher a skill antes do contexto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AFAF9B-EA80-4E85-8E2C-6EEAB4125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BECD6B-18C7-46F8-8AD9-53CEA4361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DEMOS DE TERCEIROS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0EA2A7-AA89-445C-8768-B6B03993D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21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4A5773-A330-4758-BE79-A43E5F6F5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7667625" cy="413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B"/>
          </a:solidFill>
          <a:ln xmlns:a="http://schemas.openxmlformats.org/drawingml/2006/main" w="19050">
            <a:solidFill>
              <a:srgbClr val="8FD9E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B8048E-B0C5-49CC-96B0-DAE5ECA1A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52750"/>
            <a:ext cx="6572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2775" b="1">
                <a:solidFill>
                  <a:srgbClr val="3C4C1E"/>
                </a:solidFill>
                <a:latin typeface="Lato"/>
                <a:ea typeface="Lato"/>
                <a:cs typeface="Lato"/>
              </a:rPr>
              <a:t>INSERIR VÍDEO ORIGINAL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A237C1-C7EA-4B2C-B110-E140FF4F1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5260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80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Daniel Avila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C0E89E-AD03-444A-A8F0-701EE878D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571750"/>
            <a:ext cx="2857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650" b="0">
                <a:solidFill>
                  <a:srgbClr val="1D2723"/>
                </a:solidFill>
                <a:latin typeface="Lato"/>
                <a:ea typeface="Lato"/>
                <a:cs typeface="Lato"/>
              </a:rPr>
              <a:t>Pedido → catálogo de skills → carregar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2250FD-65F7-4B5E-B5C4-27C7D7414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91200"/>
            <a:ext cx="1038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00" b="0">
                <a:solidFill>
                  <a:srgbClr val="52645B"/>
                </a:solidFill>
                <a:latin typeface="Lato"/>
                <a:ea typeface="Lato"/>
                <a:cs typeface="Lato"/>
              </a:rPr>
              <a:t>Fonte: https://x.com/dani_avila7/status/2101885477158547753</a:t>
            </a:r>
          </a:p>
        </p:txBody>
      </p:sp>
    </p:spTree>
    <p:extLst>
      <p:ext uri="{BB962C8B-B14F-4D97-AF65-F5344CB8AC3E}">
        <p14:creationId xmlns:p14="http://schemas.microsoft.com/office/powerpoint/2010/main" val="904215884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1A7F11-E271-4FDF-ACF7-82279325B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B3B118-7E25-4AE8-86DE-14AF354AB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33AAB5-C8DF-4DB9-9AD1-FD5D38F47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7E1656-0CFF-418B-95A9-C591FB9BB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Triagem de PR e economia de tokens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06DCDA-004A-4F1E-959C-CEA678B61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2A5524-2CFF-4A92-AB9E-7E5CEF431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DEMOS DE TERCEIROS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D158D4-B0D3-41ED-9EAF-568D281C4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22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1AF63E-CF79-45F2-9E29-5F9358A47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7667625" cy="413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B"/>
          </a:solidFill>
          <a:ln xmlns:a="http://schemas.openxmlformats.org/drawingml/2006/main" w="19050">
            <a:solidFill>
              <a:srgbClr val="8FD9E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D5C26A-A69F-42C2-89D3-F95F52D58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52750"/>
            <a:ext cx="6572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2775" b="1">
                <a:solidFill>
                  <a:srgbClr val="3C4C1E"/>
                </a:solidFill>
                <a:latin typeface="Lato"/>
                <a:ea typeface="Lato"/>
                <a:cs typeface="Lato"/>
              </a:rPr>
              <a:t>INSERIR VÍDEO ORIGINAL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430880-4658-4869-98F6-391317D99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5260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80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PR Judge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8D3299-0170-430B-B37E-E9416C0B4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571750"/>
            <a:ext cx="2857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650" b="0">
                <a:solidFill>
                  <a:srgbClr val="1D2723"/>
                </a:solidFill>
                <a:latin typeface="Lato"/>
                <a:ea typeface="Lato"/>
                <a:cs typeface="Lato"/>
              </a:rPr>
              <a:t>Diff limitado → SAFE / REVIEW / BLOCK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6EA1E8-49AA-4ABF-AD8F-E46E5BD95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91200"/>
            <a:ext cx="1038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00" b="0">
                <a:solidFill>
                  <a:srgbClr val="52645B"/>
                </a:solidFill>
                <a:latin typeface="Lato"/>
                <a:ea typeface="Lato"/>
                <a:cs typeface="Lato"/>
              </a:rPr>
              <a:t>Fonte: https://jevtypesafeai.com/tools/pr-judge</a:t>
            </a:r>
          </a:p>
        </p:txBody>
      </p:sp>
    </p:spTree>
    <p:extLst>
      <p:ext uri="{BB962C8B-B14F-4D97-AF65-F5344CB8AC3E}">
        <p14:creationId xmlns:p14="http://schemas.microsoft.com/office/powerpoint/2010/main" val="585807026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4740A6-EC81-44BF-93E7-C830DE1AB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61DEAA-5D66-4850-A969-F5BB686F1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504617-FFA0-41B8-A64C-DCE9171AE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1754BA-196B-4F65-82BD-58C91A3FD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Xadrez: Jev, Fable e Astra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AFB9D5-8703-4E44-825A-45797D73A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6DBB5F-5E75-4332-9856-C67586224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DEMOS DE TERCEIROS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B1917E-297D-4418-A361-99FFD0E1D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23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5324DE-04E5-4515-8905-E7881F555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7667625" cy="413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B"/>
          </a:solidFill>
          <a:ln xmlns:a="http://schemas.openxmlformats.org/drawingml/2006/main" w="19050">
            <a:solidFill>
              <a:srgbClr val="8FD9E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CB9A41-152E-487B-A2F1-D642505E6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52750"/>
            <a:ext cx="6572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2775" b="1">
                <a:solidFill>
                  <a:srgbClr val="3C4C1E"/>
                </a:solidFill>
                <a:latin typeface="Lato"/>
                <a:ea typeface="Lato"/>
                <a:cs typeface="Lato"/>
              </a:rPr>
              <a:t>INSERIR VÍDEO ORIGINAL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398C6E-960F-4F5C-BC80-BC8314BE9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5260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80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Thread pública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788B92-3F0B-4E7E-8504-AA102BD0D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571750"/>
            <a:ext cx="2857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650" b="0">
                <a:solidFill>
                  <a:srgbClr val="1D2723"/>
                </a:solidFill>
                <a:latin typeface="Lato"/>
                <a:ea typeface="Lato"/>
                <a:cs typeface="Lato"/>
              </a:rPr>
              <a:t>Blitz 5+0; Jev vence Fable no tempo; Astra dá mate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DAB0BF-85E7-4E4D-B72D-08DE3B99D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91200"/>
            <a:ext cx="1038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00" b="0">
                <a:solidFill>
                  <a:srgbClr val="52645B"/>
                </a:solidFill>
                <a:latin typeface="Lato"/>
                <a:ea typeface="Lato"/>
                <a:cs typeface="Lato"/>
              </a:rPr>
              <a:t>Fonte: https://threadnavigator.com/thread/2100372930282573876/</a:t>
            </a:r>
          </a:p>
        </p:txBody>
      </p:sp>
    </p:spTree>
    <p:extLst>
      <p:ext uri="{BB962C8B-B14F-4D97-AF65-F5344CB8AC3E}">
        <p14:creationId xmlns:p14="http://schemas.microsoft.com/office/powerpoint/2010/main" val="695707260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856CCC-C581-4A9C-A3D4-A3A376571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591A6C-27A4-465D-8789-D95EAAC41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3CCDDC-1296-4B7E-B659-018C6AF4D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AD833D-71EF-4AB8-9EFF-962944AD8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JevPilot em simulação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0B5860-2B3C-4FCB-B8D3-D62745999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BF7567-7694-4D26-B643-A178ACBB0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DEMOS DE TERCEIROS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65942C-3569-4896-8EEE-6D807842A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24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582CAB-71A6-491F-910B-320AB2B89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7667625" cy="413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B"/>
          </a:solidFill>
          <a:ln xmlns:a="http://schemas.openxmlformats.org/drawingml/2006/main" w="19050">
            <a:solidFill>
              <a:srgbClr val="8FD9E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AAC9F9-C952-4956-993F-10BBF946B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52750"/>
            <a:ext cx="6572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2775" b="1">
                <a:solidFill>
                  <a:srgbClr val="3C4C1E"/>
                </a:solidFill>
                <a:latin typeface="Lato"/>
                <a:ea typeface="Lato"/>
                <a:cs typeface="Lato"/>
              </a:rPr>
              <a:t>INSERIR VÍDEO ORIGINAL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341AAF-9953-49A8-A1BB-01214ECD0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5260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80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Justin Schroeder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AAC018-16A3-490D-B935-F63402FE1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571750"/>
            <a:ext cx="2857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650" b="0">
                <a:solidFill>
                  <a:srgbClr val="1D2723"/>
                </a:solidFill>
                <a:latin typeface="Lato"/>
                <a:ea typeface="Lato"/>
                <a:cs typeface="Lato"/>
              </a:rPr>
              <a:t>HighwayEnv → ações fechadas → freio em código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27C493-44F0-412C-AB0B-E1E0C1442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91200"/>
            <a:ext cx="1038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00" b="0">
                <a:solidFill>
                  <a:srgbClr val="52645B"/>
                </a:solidFill>
                <a:latin typeface="Lato"/>
                <a:ea typeface="Lato"/>
                <a:cs typeface="Lato"/>
              </a:rPr>
              <a:t>Fonte: https://x.com/jpschroeder/status/2100347770867458384</a:t>
            </a:r>
          </a:p>
        </p:txBody>
      </p:sp>
    </p:spTree>
    <p:extLst>
      <p:ext uri="{BB962C8B-B14F-4D97-AF65-F5344CB8AC3E}">
        <p14:creationId xmlns:p14="http://schemas.microsoft.com/office/powerpoint/2010/main" val="166732292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A85849-B17E-4B41-B53B-D311F8D50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17AEE9-A50D-4AC7-A466-568A3BAF0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5012FE-442A-4305-B8CF-AB8233E4B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DA444D-A4F1-417F-8B3D-3B750FC13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Laya apareceu dias depois do Jev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FC6143-4347-49DC-BF74-B267A9B65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A84347-67C0-40E6-BC8C-697C176B1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JEV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573D5D-689E-42D2-824B-A7DCEDC76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25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CD3E72-FA30-4B2A-BE10-4B2503F0B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811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6D0B4D-AE20-4444-AFB5-1B1D5DFD5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476375"/>
            <a:ext cx="10182225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Jev foi anunciado pela TypeSafe em 15/09/2026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415683-92CE-4D20-99A3-406BA242B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860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D38223-64C2-46BE-9DA4-8AEA12C66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381250"/>
            <a:ext cx="10182225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Laya surgiu como modelo de decisão com pesos abertos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6ABA15-07B1-4EB8-B9B4-90263E06A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909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2B5C33-72A5-4DA3-9C5C-38CAD67C3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286125"/>
            <a:ext cx="10182225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Choice, Score e Noul: mesma família de perguntas tipadas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E973DA-8EEF-4868-B9CD-166936C59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9577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02677B-20C2-4883-8E10-DF9C002CC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191000"/>
            <a:ext cx="10182225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Laya-MLX levou a inferência local ao Apple Silicon</a:t>
            </a:r>
          </a:p>
        </p:txBody>
      </p:sp>
    </p:spTree>
    <p:extLst>
      <p:ext uri="{BB962C8B-B14F-4D97-AF65-F5344CB8AC3E}">
        <p14:creationId xmlns:p14="http://schemas.microsoft.com/office/powerpoint/2010/main" val="781594395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359A0D-D982-43F6-A03F-1C480CBEC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86FE44-4AC4-4DCA-B8B1-2D79CCDBD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B7D65B-33E6-4884-910E-14F4CDC80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EB4CEB-936B-45FE-8E88-A958CF8E5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Jev × Laya: o que muda?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733379-1BBD-49D3-83D0-28E0D12B6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BC87B5-05F5-4E1D-8073-4FA280A90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JEV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291E3F-D2E7-45B8-84EB-FE44FCE5A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26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609600" y="1609725"/>
          <a:ext xmlns:a="http://schemas.openxmlformats.org/drawingml/2006/main" cx="10953750" cy="39814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667000"/>
                <a:gridCol w="4095750"/>
                <a:gridCol w="4191000"/>
              </a:tblGrid>
              <a:tr h="66357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</a:rPr>
                        <a:t>Aspecto</a:t>
                      </a:r>
                    </a:p>
                  </a:txBody>
                  <a:tcPr marL="91440" marR="91440" marT="45720" marB="45720">
                    <a:solidFill>
                      <a:srgbClr val="3C4C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</a:rPr>
                        <a:t>Jev</a:t>
                      </a:r>
                    </a:p>
                  </a:txBody>
                  <a:tcPr marL="91440" marR="91440" marT="45720" marB="45720">
                    <a:solidFill>
                      <a:srgbClr val="3C4C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</a:rPr>
                        <a:t>Laya</a:t>
                      </a:r>
                    </a:p>
                  </a:txBody>
                  <a:tcPr marL="91440" marR="91440" marT="45720" marB="45720">
                    <a:solidFill>
                      <a:srgbClr val="3C4C1E"/>
                    </a:solidFill>
                  </a:tcPr>
                </a:tc>
              </a:tr>
              <a:tr h="663575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Acesso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API remota da TypeSafe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Pesos abertos; execução local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63575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Saída</a:t>
                      </a:r>
                    </a:p>
                  </a:txBody>
                  <a:tcPr marL="91440" marR="91440" marT="45720" marB="45720">
                    <a:solidFill>
                      <a:srgbClr val="ED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Choice / Score / Noul</a:t>
                      </a:r>
                    </a:p>
                  </a:txBody>
                  <a:tcPr marL="91440" marR="91440" marT="45720" marB="45720">
                    <a:solidFill>
                      <a:srgbClr val="ED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Choice / Score / Noul</a:t>
                      </a:r>
                    </a:p>
                  </a:txBody>
                  <a:tcPr marL="91440" marR="91440" marT="45720" marB="45720">
                    <a:solidFill>
                      <a:srgbClr val="EDF9FB"/>
                    </a:solidFill>
                  </a:tcPr>
                </a:tc>
              </a:tr>
              <a:tr h="663575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Latência publicada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Serviço remoto; depende da rede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MLX: 7,39–13,42 ms p50 no M3 Max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63575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No Maestro</a:t>
                      </a:r>
                    </a:p>
                  </a:txBody>
                  <a:tcPr marL="91440" marR="91440" marT="45720" marB="45720">
                    <a:solidFill>
                      <a:srgbClr val="ED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60 casos; 54 acertos</a:t>
                      </a:r>
                    </a:p>
                  </a:txBody>
                  <a:tcPr marL="91440" marR="91440" marT="45720" marB="45720">
                    <a:solidFill>
                      <a:srgbClr val="ED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Ainda não medido</a:t>
                      </a:r>
                    </a:p>
                  </a:txBody>
                  <a:tcPr marL="91440" marR="91440" marT="45720" marB="45720">
                    <a:solidFill>
                      <a:srgbClr val="EDF9FB"/>
                    </a:solidFill>
                  </a:tcPr>
                </a:tc>
              </a:tr>
              <a:tr h="663575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Conclusão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Experimento medido no projeto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Candidato a avaliar no mesmo corpus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2272380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2FA253-FC2E-410D-AB35-F856FE58D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90C9CE-AEE6-4690-962C-08985CC81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30F5B7-CC26-499A-A7F5-B06846F76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029D53-D23D-4DA4-BD39-9BFE3A4A1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Por que surgiram tantos modelos parecidos?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059F41-B0DE-4E8D-BE48-2BCBB5EE0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05E50D-6A9C-4271-9CE4-3603C1032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CENÁRIO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C608A7-B5C6-45AE-896E-7F63C7186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27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93401A-85CE-4BA6-86C5-741F1EF7E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811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7AF42A-2E23-4BD8-913D-9763F24CD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476375"/>
            <a:ext cx="101822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Jev mostrou uma interface clara: estado + opções + probabilidades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785E37-33E3-41FD-87B6-CAF60CEC9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146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10ED21-A44E-4705-835A-223C4021A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409825"/>
            <a:ext cx="101822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Outros grupos reutilizaram encoders, pesos e benchmarks públicos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76F624-FA3D-4A5B-B5B0-F0F89BB68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480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02444A-C0C9-49B2-BABD-A7DA70A89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343275"/>
            <a:ext cx="101822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Cada projeto otimiza um recorte diferente: dispositivo, tarefa ou custo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FFB798-792C-4A00-9B23-97E52281B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4BBCC0-4BD5-4122-9F66-AF3E516D9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276725"/>
            <a:ext cx="101822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“Mais rápido” depende de hardware, rede, cache e tamanho da entrada</a:t>
            </a:r>
          </a:p>
        </p:txBody>
      </p:sp>
    </p:spTree>
    <p:extLst>
      <p:ext uri="{BB962C8B-B14F-4D97-AF65-F5344CB8AC3E}">
        <p14:creationId xmlns:p14="http://schemas.microsoft.com/office/powerpoint/2010/main" val="1209234686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87ECDB-BDE6-4FA0-8392-8527E9563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40503F-D093-43F2-BC66-01A4657DA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E9B485-9E2C-4010-BE8A-F96D8A4D4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9D2FA1-768A-4E65-A32E-D5A84BC6C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Julia-1: pesquisa brasileira em decisão local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BA6085-85B8-4475-B0D1-11BD14411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8FCE81-59E7-4C0F-BB7B-B269E8F31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CENÁRIO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D68C04-7D37-4B9D-95A6-824E6C305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28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3A5C8D-88F8-469E-A278-7D4CAE01F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4954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244E10-E3E5-4358-8791-8CFBE8856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390650"/>
            <a:ext cx="10372725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00" b="0">
                <a:solidFill>
                  <a:srgbClr val="1D2723"/>
                </a:solidFill>
                <a:latin typeface="Lato"/>
                <a:ea typeface="Lato"/>
                <a:cs typeface="Lato"/>
              </a:rPr>
              <a:t>Supersonic Labs, do Brasil: 144,3 milhões de parâmetros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5BDCA2-0088-4A48-A161-A6B4A4F86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3050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986315-1550-4731-82ED-31D8EF9FF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00275"/>
            <a:ext cx="10372725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00" b="0">
                <a:solidFill>
                  <a:srgbClr val="1D2723"/>
                </a:solidFill>
                <a:latin typeface="Lato"/>
                <a:ea typeface="Lato"/>
                <a:cs typeface="Lato"/>
              </a:rPr>
              <a:t>Base mmBERT-small; recebe estado, pergunta e 2 a 20 opções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97E4C9-54E7-4014-8820-17DBDECB2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11467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262CB9-12B7-4B73-8BAA-4AC222D78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009900"/>
            <a:ext cx="10372725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00" b="0">
                <a:solidFill>
                  <a:srgbClr val="1D2723"/>
                </a:solidFill>
                <a:latin typeface="Lato"/>
                <a:ea typeface="Lato"/>
                <a:cs typeface="Lato"/>
              </a:rPr>
              <a:t>Roda em CPU; há exportação ONNX/WebGPU e teste em tablet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13724E-4618-4549-8ECE-BEDC667CE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9243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B5E4FE-EBD4-4A38-AE4A-BB40187C5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19525"/>
            <a:ext cx="10372725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00" b="0">
                <a:solidFill>
                  <a:srgbClr val="1D2723"/>
                </a:solidFill>
                <a:latin typeface="Lato"/>
                <a:ea typeface="Lato"/>
                <a:cs typeface="Lato"/>
              </a:rPr>
              <a:t>73,15% em typed decisions; Jev de referência: 72,70%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FC8072-D4AF-4104-92D1-9892B51ED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7339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ABD978-7F25-49E6-BFCF-CFFB333BC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629150"/>
            <a:ext cx="10372725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00" b="0">
                <a:solidFill>
                  <a:srgbClr val="1D2723"/>
                </a:solidFill>
                <a:latin typeface="Lato"/>
                <a:ea typeface="Lato"/>
                <a:cs typeface="Lato"/>
              </a:rPr>
              <a:t>Banking77: Julia 64%; referência Jev 87%</a:t>
            </a:r>
          </a:p>
        </p:txBody>
      </p:sp>
    </p:spTree>
    <p:extLst>
      <p:ext uri="{BB962C8B-B14F-4D97-AF65-F5344CB8AC3E}">
        <p14:creationId xmlns:p14="http://schemas.microsoft.com/office/powerpoint/2010/main" val="1838756472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925307-A617-45FD-BD64-43AFADA0D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CBC7D1-6915-442C-859E-B41ECCC4E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9E8FA5-8B9E-46EB-9C5C-B6E8D5CBF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C982AA-D7E5-4D52-A4A8-FBB94255C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CLM: a proposta de Stanford e NVIDIA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DAAEE6-674E-45EB-9F9E-7935CFD55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0D63D7-3055-43D0-8343-E47AEC8A1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CENÁRIO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084187-01D4-47A9-81B8-99D0FE67E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29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92C160-F999-4130-95E0-807295699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335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89C4E7-01D9-4745-8823-29FBD0C8E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1428750"/>
            <a:ext cx="102774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Dois encoders aproximam estado e ação no espaço vetorial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B030FA-75FB-4028-85CB-5E5CBBE10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812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5502CA-483B-4767-A96D-E38334C00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2276475"/>
            <a:ext cx="102774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Ações conhecidas podem ter embeddings calculados antes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05C376-E62D-4224-89FD-08DAAFEDF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2897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32A160-9D87-44EB-ABE7-626C84B35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3124200"/>
            <a:ext cx="102774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Treino contrastivo; seleção por similaridade, sem gerar texto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C93AD8-7A48-4424-9568-12FE434B5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767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04FF1A-E4ED-44DE-BCC9-0631E961F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3971925"/>
            <a:ext cx="102774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O grupo relata até 9× menor latência em tarefas selecionadas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38E654-F9C0-4E8D-B0A4-4BF08B3AC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244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910DD6-2032-4405-B758-242057F6D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4819650"/>
            <a:ext cx="102774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É um modelo de 8B com GPU; não equivale ao Julia em CPU</a:t>
            </a:r>
          </a:p>
        </p:txBody>
      </p:sp>
    </p:spTree>
    <p:extLst>
      <p:ext uri="{BB962C8B-B14F-4D97-AF65-F5344CB8AC3E}">
        <p14:creationId xmlns:p14="http://schemas.microsoft.com/office/powerpoint/2010/main" val="1035815471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E09241-0139-4770-9338-59F1B848A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6AD5A8-EF1F-4496-B88B-30F9FC299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4F967F-F36C-4FE5-9ECE-8ED6E9BF0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77968B-AD3B-4F4F-AC02-BE13948D5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Span-01: especialista em avaliar traces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18292B-7C70-47C1-9A68-1BAF0C85B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C749BE-2BD7-4AB7-BB6F-BD92C8DEA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CENÁRIO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72FAA7-6627-4B9B-8520-4794DD929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30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73DE24-1E7A-435B-895C-8F8972F8A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478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551A8F-6CB9-4E9B-A04D-1E0CDA86E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1543050"/>
            <a:ext cx="10182225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950" b="0">
                <a:solidFill>
                  <a:srgbClr val="1D2723"/>
                </a:solidFill>
                <a:latin typeface="Lato"/>
                <a:ea typeface="Lato"/>
                <a:cs typeface="Lato"/>
              </a:rPr>
              <a:t>Respan: modelo de 4B para detectar comportamentos em conversas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DB9F38-0E9E-432C-B5E1-48D2177C7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289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FDD9DB-7B40-462F-AC80-16DA74C19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2524125"/>
            <a:ext cx="10182225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950" b="0">
                <a:solidFill>
                  <a:srgbClr val="1D2723"/>
                </a:solidFill>
                <a:latin typeface="Lato"/>
                <a:ea typeface="Lato"/>
                <a:cs typeface="Lato"/>
              </a:rPr>
              <a:t>Retorna probabilidades; inclui “não observável”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517FB7-12F0-47B4-B67F-D126BB169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0997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E376F5-0E9E-4321-AC40-7F8058C3D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3505200"/>
            <a:ext cx="10182225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950" b="0">
                <a:solidFill>
                  <a:srgbClr val="1D2723"/>
                </a:solidFill>
                <a:latin typeface="Lato"/>
                <a:ea typeface="Lato"/>
                <a:cs typeface="Lato"/>
              </a:rPr>
              <a:t>F1 geral publicado: Span-01 0,843; Jev 0,715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45741A-655E-46FE-90DB-65CAD6E28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910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F7456C-26B0-4338-BE28-88D73BBB4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4486275"/>
            <a:ext cx="10182225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950" b="0">
                <a:solidFill>
                  <a:srgbClr val="1D2723"/>
                </a:solidFill>
                <a:latin typeface="Lato"/>
                <a:ea typeface="Lato"/>
                <a:cs typeface="Lato"/>
              </a:rPr>
              <a:t>Benchmark da própria Respan; tarefa e protocolo específicos</a:t>
            </a:r>
          </a:p>
        </p:txBody>
      </p:sp>
    </p:spTree>
    <p:extLst>
      <p:ext uri="{BB962C8B-B14F-4D97-AF65-F5344CB8AC3E}">
        <p14:creationId xmlns:p14="http://schemas.microsoft.com/office/powerpoint/2010/main" val="1512907027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094E9B-B6F3-48FA-ACD3-99412333E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B714E1-ECEE-4C67-B594-549118DAB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A215C0-F576-4ED2-8182-74484A702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9BEB8F-0C0E-4234-AF1A-26369EAB3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Jev dentro de um agente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049563-051F-4338-9EF0-BF3388267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3D0E34-2B5A-49AD-BCE8-60FD5E7A5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CENÁRIO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C3C4C1-C149-4F76-A6FB-C3EC81B34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31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FC5327-4D28-4424-8224-99E0CA676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954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3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Agente reúne contexto e alternativas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FFF01F-E2D2-46E7-A9F9-25296DB83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8130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2325" b="1">
                <a:solidFill>
                  <a:srgbClr val="3C4C1E"/>
                </a:solidFill>
                <a:latin typeface="Lato"/>
                <a:ea typeface="Lato"/>
                <a:cs typeface="Lato"/>
              </a:rPr>
              <a:t>Jev escolhe uma rota, skill, ferramenta ou revisor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2F9224-FEE0-4A88-8195-D9725698E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67150"/>
            <a:ext cx="10477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1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O harness executa, observa o resultado e decide o próximo passo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733E85-1430-4B0E-A453-ED9379D50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10175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1650" b="0">
                <a:solidFill>
                  <a:srgbClr val="52645B"/>
                </a:solidFill>
                <a:latin typeface="Lato"/>
                <a:ea typeface="Lato"/>
                <a:cs typeface="Lato"/>
              </a:rPr>
              <a:t>Jev decide em um ponto do loop; o agente continua no código.</a:t>
            </a:r>
          </a:p>
        </p:txBody>
      </p:sp>
    </p:spTree>
    <p:extLst>
      <p:ext uri="{BB962C8B-B14F-4D97-AF65-F5344CB8AC3E}">
        <p14:creationId xmlns:p14="http://schemas.microsoft.com/office/powerpoint/2010/main" val="1155730758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E4142E-741A-478A-BBA3-D3CEF044D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8A4F41-958C-49C9-8E35-E30A5B43D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AD7787-50ED-4506-8421-3E9BE69A8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7E9398-F59F-466A-B871-298B5FF63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Comparar no mesmo problema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769DFB-B495-4D8D-8C05-911CC9CB1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AE64AE-4280-4D4C-A406-615E87BE2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CENÁRIO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DCB6DB-3D25-4E47-B78B-0DD6666BD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32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609600" y="1524000"/>
          <a:ext xmlns:a="http://schemas.openxmlformats.org/drawingml/2006/main" cx="10953750" cy="423862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000250"/>
                <a:gridCol w="4095750"/>
                <a:gridCol w="4857750"/>
              </a:tblGrid>
              <a:tr h="706438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</a:rPr>
                        <a:t>Sistema</a:t>
                      </a:r>
                    </a:p>
                  </a:txBody>
                  <a:tcPr marL="91440" marR="91440" marT="45720" marB="45720">
                    <a:solidFill>
                      <a:srgbClr val="3C4C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</a:rPr>
                        <a:t>Onde se destaca</a:t>
                      </a:r>
                    </a:p>
                  </a:txBody>
                  <a:tcPr marL="91440" marR="91440" marT="45720" marB="45720">
                    <a:solidFill>
                      <a:srgbClr val="3C4C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</a:rPr>
                        <a:t>O que falta medir no Maestro</a:t>
                      </a:r>
                    </a:p>
                  </a:txBody>
                  <a:tcPr marL="91440" marR="91440" marT="45720" marB="45720">
                    <a:solidFill>
                      <a:srgbClr val="3C4C1E"/>
                    </a:solidFill>
                  </a:tcPr>
                </a:tc>
              </a:tr>
              <a:tr h="706438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Jev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Decisão tipada via API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ASR real, p95 e erros críticos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06438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Laya</a:t>
                      </a:r>
                    </a:p>
                  </a:txBody>
                  <a:tcPr marL="91440" marR="91440" marT="45720" marB="45720">
                    <a:solidFill>
                      <a:srgbClr val="ED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Pesos abertos; execução local</a:t>
                      </a:r>
                    </a:p>
                  </a:txBody>
                  <a:tcPr marL="91440" marR="91440" marT="45720" marB="45720">
                    <a:solidFill>
                      <a:srgbClr val="ED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Mesmo corpus e hardware</a:t>
                      </a:r>
                    </a:p>
                  </a:txBody>
                  <a:tcPr marL="91440" marR="91440" marT="45720" marB="45720">
                    <a:solidFill>
                      <a:srgbClr val="EDF9FB"/>
                    </a:solidFill>
                  </a:tcPr>
                </a:tc>
              </a:tr>
              <a:tr h="706438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Julia-1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CPU e dispositivos comuns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pt-BR, seis classes, memória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06438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CLM</a:t>
                      </a:r>
                    </a:p>
                  </a:txBody>
                  <a:tcPr marL="91440" marR="91440" marT="45720" marB="45720">
                    <a:solidFill>
                      <a:srgbClr val="ED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Ações reutilizáveis e cache</a:t>
                      </a:r>
                    </a:p>
                  </a:txBody>
                  <a:tcPr marL="91440" marR="91440" marT="45720" marB="45720">
                    <a:solidFill>
                      <a:srgbClr val="ED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GPU, opções e custo total</a:t>
                      </a:r>
                    </a:p>
                  </a:txBody>
                  <a:tcPr marL="91440" marR="91440" marT="45720" marB="45720">
                    <a:solidFill>
                      <a:srgbClr val="EDF9FB"/>
                    </a:solidFill>
                  </a:tcPr>
                </a:tc>
              </a:tr>
              <a:tr h="706438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Span-01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Detecção de comportamento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Adequação ao comando robótico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28624198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B1B534-BE9C-4AA8-A505-7AD88FF20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900BEB-9414-464E-A86B-2335CB2DE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33CDC9-DDBE-44D9-B4FB-31F042DA5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9E4345-A29A-4337-B3BE-8C2350FCC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Maestro: contexto do hackathon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03CD9E-8376-4BA6-91FC-E7806DB61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B50D42-2C2B-4459-9E65-3F91076A8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MAESTRO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181312-6CD5-4011-B805-CEF9F2957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33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4EF809-259A-4BB8-B367-65F4C4E15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106680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3600" b="1">
                <a:solidFill>
                  <a:srgbClr val="1D2723"/>
                </a:solidFill>
                <a:latin typeface="Lato"/>
                <a:ea typeface="Lato"/>
                <a:cs typeface="Lato"/>
              </a:rPr>
              <a:t>Máquinas autônomas ainda pedem uma interface de operador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B63427-4128-4F44-8826-2A36926A6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524375"/>
            <a:ext cx="103822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52645B"/>
                </a:solidFill>
                <a:latin typeface="Lato"/>
                <a:ea typeface="Lato"/>
                <a:cs typeface="Lato"/>
              </a:rPr>
              <a:t>AgroTurtles · AI Glasses Brasil 2026 · MVP pré-hardware</a:t>
            </a:r>
          </a:p>
        </p:txBody>
      </p:sp>
    </p:spTree>
    <p:extLst>
      <p:ext uri="{BB962C8B-B14F-4D97-AF65-F5344CB8AC3E}">
        <p14:creationId xmlns:p14="http://schemas.microsoft.com/office/powerpoint/2010/main" val="326508757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630A5B-6D5B-45F4-A37F-341F2C34A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0FF5C5-5FF1-4C42-9D9C-6E242022B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C0CCDB-F2C5-4148-A0FE-ED15A8185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E0D06A-5EFB-4452-B690-188E7337C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A ideia: olhar, falar, confirmar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91907A-E456-4FBB-875B-6B2997A9E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1FF66E-B8D6-4320-860F-C7839B446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MAESTRO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46D7B8-E6CF-4926-8775-900C0A99D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34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03F063-36B7-4FF1-BE90-C0D7052DD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240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BBD264-019F-4E01-8F1E-01E0CCD39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1619250"/>
            <a:ext cx="101822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1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Olhar: QR/marcador ou talhão mapeado define alvo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3489F6-8A18-46CC-9299-F7EC2E110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241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DAB843-E7F1-4C14-9DF0-A73623CA6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2419350"/>
            <a:ext cx="101822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1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Falar: comando em linguagem natural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47FFCC-5D9C-445A-974E-2F780418C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242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9A8E55-A133-469A-BB70-F78D2FA9C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3219450"/>
            <a:ext cx="101822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1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Confirmar por áudio antes da ação física</a:t>
            </a:r>
          </a:p>
        </p:txBody>
      </p:sp>
    </p:spTree>
    <p:extLst>
      <p:ext uri="{BB962C8B-B14F-4D97-AF65-F5344CB8AC3E}">
        <p14:creationId xmlns:p14="http://schemas.microsoft.com/office/powerpoint/2010/main" val="126684243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2C3745-8507-4088-B032-139E39B90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020086-4114-47F1-9100-D1B1CB22B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009C96-0799-4F6C-94E5-A38E6B8DA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E2F519-E8EA-4454-A4CF-079B35C72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Do comando ao robô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84B323-8EE4-406A-AF13-458001791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F0BB17-C419-4C37-A358-75E818D6A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MAESTRO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456331-FEB1-441E-8B03-8DD52D600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35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EBA9EF-5B81-489F-BDD2-4ADDCC2C3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2175" b="1">
                <a:solidFill>
                  <a:srgbClr val="3C4C1E"/>
                </a:solidFill>
                <a:latin typeface="Lato"/>
                <a:ea typeface="Lato"/>
                <a:cs typeface="Lato"/>
              </a:rPr>
              <a:t>CÂMERA / VOZ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C44B84-630F-4126-BD8A-60FF1D38B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000250"/>
            <a:ext cx="476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418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CC931"/>
                </a:solidFill>
                <a:latin typeface="Lato"/>
                <a:ea typeface="Lato"/>
                <a:cs typeface="Lato"/>
              </a:defRPr>
            </a:pPr>
            <a:r>
              <a:rPr sz="2700" b="1">
                <a:solidFill>
                  <a:srgbClr val="FCC931"/>
                </a:solidFill>
                <a:latin typeface="Lato"/>
                <a:ea typeface="Lato"/>
                <a:cs typeface="Lato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9DBC75-6D54-43FF-8312-F86CB6D0C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00025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2175" b="1">
                <a:solidFill>
                  <a:srgbClr val="3C4C1E"/>
                </a:solidFill>
                <a:latin typeface="Lato"/>
                <a:ea typeface="Lato"/>
                <a:cs typeface="Lato"/>
              </a:rPr>
              <a:t>DECISÃO TIPADA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FD0C11-4C75-4D6E-9560-3001DBC69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2000250"/>
            <a:ext cx="476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418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CC931"/>
                </a:solidFill>
                <a:latin typeface="Lato"/>
                <a:ea typeface="Lato"/>
                <a:cs typeface="Lato"/>
              </a:defRPr>
            </a:pPr>
            <a:r>
              <a:rPr sz="2700" b="1">
                <a:solidFill>
                  <a:srgbClr val="FCC931"/>
                </a:solidFill>
                <a:latin typeface="Lato"/>
                <a:ea typeface="Lato"/>
                <a:cs typeface="Lato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1A73C5-EC3D-49F1-BFD8-484148FA1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000250"/>
            <a:ext cx="3714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2175" b="1">
                <a:solidFill>
                  <a:srgbClr val="3C4C1E"/>
                </a:solidFill>
                <a:latin typeface="Lato"/>
                <a:ea typeface="Lato"/>
                <a:cs typeface="Lato"/>
              </a:rPr>
              <a:t>REGRAS + ESTADO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BFB5F3-C74C-4D4F-ABE7-2F14246FD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667125"/>
            <a:ext cx="9906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250" b="1">
                <a:solidFill>
                  <a:srgbClr val="1D2723"/>
                </a:solidFill>
                <a:latin typeface="Lato"/>
                <a:ea typeface="Lato"/>
                <a:cs typeface="Lato"/>
              </a:rPr>
              <a:t>CONFIRMAÇÃO  →  COMMAND JSON  →  ROS / GAZEBO</a:t>
            </a:r>
          </a:p>
        </p:txBody>
      </p:sp>
    </p:spTree>
    <p:extLst>
      <p:ext uri="{BB962C8B-B14F-4D97-AF65-F5344CB8AC3E}">
        <p14:creationId xmlns:p14="http://schemas.microsoft.com/office/powerpoint/2010/main" val="324514575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47D800-EBD7-4C12-A8FD-C4C3F41AC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FCDC76-54F6-4840-AD2A-6EBBBAD33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E55F17-D847-4680-AE71-BC5EFEEB5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CF6B91-AEAA-4DDE-98E7-2743B5E81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QR: captura sob demanda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B64833-9095-412D-B6BD-367C0D206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B0FEE2-D673-4A0E-9AA3-FD965DE29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MAESTRO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9E2163-9F23-4017-9C95-A3B5EFF47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36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678196-3646-46C7-A793-F457C19C6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240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738645-7189-4E8B-93D6-6C557A563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1619250"/>
            <a:ext cx="101822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1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Frame temporário na memória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11B036-2D07-4767-9AC7-01A2AAA0E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241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FC0EC3-F6DA-46B2-B65E-EE617FC3E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2419350"/>
            <a:ext cx="101822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1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Decoder local extrai target_id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CAF445-C63B-4A5A-8EEC-0F8742C69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242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4080B8-CC74-416E-B779-8F15A70FB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3219450"/>
            <a:ext cx="101822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1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Foto, áudio e transcrição não são persistidos por padrão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7DC2E8-7DE1-4139-BEC0-6E869CBF9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243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51206B-8A37-4229-A89B-781D1092C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4019550"/>
            <a:ext cx="101822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1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A fala segue fluxo separado</a:t>
            </a:r>
          </a:p>
        </p:txBody>
      </p:sp>
    </p:spTree>
    <p:extLst>
      <p:ext uri="{BB962C8B-B14F-4D97-AF65-F5344CB8AC3E}">
        <p14:creationId xmlns:p14="http://schemas.microsoft.com/office/powerpoint/2010/main" val="520351511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2BCABB-49F2-4CD7-8787-6B67025A4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B8BB72-6F15-4CCE-AE6F-CD9601353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531DAA-FE7F-4B75-9C05-8B557DA5B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597BD9-9E76-492A-90DA-494F9A3EF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Antes de enviar uma transcrição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59C6B7-AC38-4CEC-A7B5-67E586C15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261068-20AA-4310-8F52-9D23C530D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MAESTRO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7BBDAA-EC4F-4F6D-A61C-7BE64FE0D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37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5FB363-BE46-4558-AFC0-8CA21372E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240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939AD6-6DDB-48DD-A2CB-2B64905E0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1619250"/>
            <a:ext cx="101822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1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Consentimento de sessão no mockDebug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038175-78DA-4FB0-BF49-3F40324BD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241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88879D-3EE3-4B6C-A9AA-90DE34430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2419350"/>
            <a:ext cx="101822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1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Gate no app e no proxy antes da rede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44AAFA-15A8-47A6-B9B8-25058B457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242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7EF135-1D14-48FD-A656-EB4BF4F27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3219450"/>
            <a:ext cx="101822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1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Padrões evidentes: CPF/CNPJ, e-mail, telefone, URL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E74635-0C38-4826-90E2-DE78E99CA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243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A370AE-5135-41C9-BD74-355F07053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4019550"/>
            <a:ext cx="101822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1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Não é detector geral de dado pessoal nem anonimização</a:t>
            </a:r>
          </a:p>
        </p:txBody>
      </p:sp>
    </p:spTree>
    <p:extLst>
      <p:ext uri="{BB962C8B-B14F-4D97-AF65-F5344CB8AC3E}">
        <p14:creationId xmlns:p14="http://schemas.microsoft.com/office/powerpoint/2010/main" val="748676417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78318A-CC0A-4AC4-84C1-0E48CADE0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A248A3-99CC-4D73-A2FD-03816B1B2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288BD3-E88B-4B39-8A40-4DD3C0F6E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2C15B3-AB21-49CF-A09C-538F28511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Seis classes Jev; missão composta fora delas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8C7F56-3B35-48DE-AFD3-6259EDB60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503B2E-384D-4769-8C9E-946ED2FD3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MAESTRO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533359-8747-4616-9053-E85398B52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38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BCAE49-8943-41F8-9402-387AFFA1A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943100"/>
            <a:ext cx="1076325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2775" b="1">
                <a:solidFill>
                  <a:srgbClr val="3C4C1E"/>
                </a:solidFill>
                <a:latin typeface="Lato"/>
                <a:ea typeface="Lato"/>
                <a:cs typeface="Lato"/>
              </a:rPr>
              <a:t>SPRAY  ·  DOCK  ·  UNDOCK</a:t>
            </a:r>
          </a:p>
          <a:p xmlns:a="http://schemas.openxmlformats.org/drawingml/2006/main">
            <a:pPr>
              <a:defRPr sz="2775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2775" b="1">
                <a:solidFill>
                  <a:srgbClr val="3C4C1E"/>
                </a:solidFill>
                <a:latin typeface="Lato"/>
                <a:ea typeface="Lato"/>
                <a:cs typeface="Lato"/>
              </a:rPr>
              <a:t>CONFIRM  ·  CANCEL  ·  UNKNOWN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13BC17-F6E1-4A04-85DE-DD7663CAF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105275"/>
            <a:ext cx="10382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17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MISSION_PREVIEW e consultas: rotas locais separadas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7E650C-5780-4822-8109-BD207A854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943475"/>
            <a:ext cx="10382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1725" b="0">
                <a:solidFill>
                  <a:srgbClr val="52645B"/>
                </a:solidFill>
                <a:latin typeface="Lato"/>
                <a:ea typeface="Lato"/>
                <a:cs typeface="Lato"/>
              </a:rPr>
              <a:t>Missão composta: parser/executor determinísticos + confirmação por ação física</a:t>
            </a:r>
          </a:p>
        </p:txBody>
      </p:sp>
    </p:spTree>
    <p:extLst>
      <p:ext uri="{BB962C8B-B14F-4D97-AF65-F5344CB8AC3E}">
        <p14:creationId xmlns:p14="http://schemas.microsoft.com/office/powerpoint/2010/main" val="1680969390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3CD9B9-DE08-4A0A-A377-37737A675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21BAFB-4F1C-4418-BE39-D9A39AD58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CD07F0-6496-4E9F-B1DC-949BCAFE7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506089-65EE-4E54-8F44-85ADB9249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O JSON que o Maestro envia ao Jev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F23A7B-0B88-4B81-B6DC-4DC0CB02E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677713-1967-4339-9983-E029BE20E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MAESTRO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207712-F57A-4686-B78E-21B7DC5F0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39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9329BA-11CE-41E2-8C05-438AA3EE4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66850"/>
            <a:ext cx="10763250" cy="439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9FB"/>
          </a:solidFill>
          <a:ln xmlns:a="http://schemas.openxmlformats.org/drawingml/2006/main" w="9525">
            <a:solidFill>
              <a:srgbClr val="D9E6E5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91D0DA-02E6-4711-A7F9-086F32423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28775"/>
            <a:ext cx="10306050" cy="406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5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Android → proxy local</a:t>
            </a:r>
          </a:p>
          <a:p xmlns:a="http://schemas.openxmlformats.org/drawingml/2006/main">
            <a:pPr>
              <a:defRPr sz="15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5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{ "transcript": "&lt;fala operacional&gt;" 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5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Proxy → TypeSafe</a:t>
            </a:r>
          </a:p>
          <a:p xmlns:a="http://schemas.openxmlformats.org/drawingml/2006/main">
            <a:pPr>
              <a:defRPr sz="15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5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{</a:t>
            </a:r>
          </a:p>
          <a:p xmlns:a="http://schemas.openxmlformats.org/drawingml/2006/main">
            <a:pPr>
              <a:defRPr sz="15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5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  "state": "&lt;fala operacional&gt;",</a:t>
            </a:r>
          </a:p>
          <a:p xmlns:a="http://schemas.openxmlformats.org/drawingml/2006/main">
            <a:pPr>
              <a:defRPr sz="15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5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  "model": "jev-1.13.0",</a:t>
            </a:r>
          </a:p>
          <a:p xmlns:a="http://schemas.openxmlformats.org/drawingml/2006/main">
            <a:pPr>
              <a:defRPr sz="15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5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  "questions": {</a:t>
            </a:r>
          </a:p>
          <a:p xmlns:a="http://schemas.openxmlformats.org/drawingml/2006/main">
            <a:pPr>
              <a:defRPr sz="15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5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    "operational_intent": {</a:t>
            </a:r>
          </a:p>
          <a:p xmlns:a="http://schemas.openxmlformats.org/drawingml/2006/main">
            <a:pPr>
              <a:defRPr sz="15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5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      "type": "choice",</a:t>
            </a:r>
          </a:p>
          <a:p xmlns:a="http://schemas.openxmlformats.org/drawingml/2006/main">
            <a:pPr>
              <a:defRPr sz="15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5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      "criteria": { "SPRAY": "...", "DOCK": "...",</a:t>
            </a:r>
          </a:p>
          <a:p xmlns:a="http://schemas.openxmlformats.org/drawingml/2006/main">
            <a:pPr>
              <a:defRPr sz="15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5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        "UNDOCK": "...", "CONFIRM": "...",</a:t>
            </a:r>
          </a:p>
          <a:p xmlns:a="http://schemas.openxmlformats.org/drawingml/2006/main">
            <a:pPr>
              <a:defRPr sz="15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5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        "CANCEL": "...", "UNKNOWN": "..." }</a:t>
            </a:r>
          </a:p>
          <a:p xmlns:a="http://schemas.openxmlformats.org/drawingml/2006/main">
            <a:pPr>
              <a:defRPr sz="15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5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    }</a:t>
            </a:r>
          </a:p>
          <a:p xmlns:a="http://schemas.openxmlformats.org/drawingml/2006/main">
            <a:pPr>
              <a:defRPr sz="15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5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  }</a:t>
            </a:r>
          </a:p>
          <a:p xmlns:a="http://schemas.openxmlformats.org/drawingml/2006/main">
            <a:pPr>
              <a:defRPr sz="15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5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253446659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8DB7D6-3C86-49AC-A87D-0A8644394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07A5A1-2531-425B-903D-7B4606A25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154D2B-4746-4ADE-93A5-4F5AD9C54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8434D7-D594-4FBC-A244-8EEDEC75F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Uma resposta real do nosso experimento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E82932-83D6-46B4-8AEC-8B5BEBCBE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6FBE6D-445B-4E5E-AEE5-FB89FB693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MAESTRO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313175-7A67-44E0-A88F-8A3E2CB99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40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A2E511-7324-4DBF-B6C0-988A598A9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66850"/>
            <a:ext cx="10763250" cy="439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9FB"/>
          </a:solidFill>
          <a:ln xmlns:a="http://schemas.openxmlformats.org/drawingml/2006/main" w="9525">
            <a:solidFill>
              <a:srgbClr val="D9E6E5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367BB6-0478-43AB-8960-4F964810D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28775"/>
            <a:ext cx="10306050" cy="406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5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recovery-045  |  esperado: CANCEL</a:t>
            </a:r>
          </a:p>
          <a:p xmlns:a="http://schemas.openxmlformats.org/drawingml/2006/main">
            <a:pPr>
              <a:defRPr sz="15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5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{</a:t>
            </a:r>
          </a:p>
          <a:p xmlns:a="http://schemas.openxmlformats.org/drawingml/2006/main">
            <a:pPr>
              <a:defRPr sz="15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5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  "response_model": "jev-1.13.0",</a:t>
            </a:r>
          </a:p>
          <a:p xmlns:a="http://schemas.openxmlformats.org/drawingml/2006/main">
            <a:pPr>
              <a:defRPr sz="15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5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  "answer": {</a:t>
            </a:r>
          </a:p>
          <a:p xmlns:a="http://schemas.openxmlformats.org/drawingml/2006/main">
            <a:pPr>
              <a:defRPr sz="15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5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    "choice": "CONFIRM",</a:t>
            </a:r>
          </a:p>
          <a:p xmlns:a="http://schemas.openxmlformats.org/drawingml/2006/main">
            <a:pPr>
              <a:defRPr sz="15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5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    "probabilities": {</a:t>
            </a:r>
          </a:p>
          <a:p xmlns:a="http://schemas.openxmlformats.org/drawingml/2006/main">
            <a:pPr>
              <a:defRPr sz="15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5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      "SPRAY": 0.01, "DOCK": 0.01, "UNDOCK": 0.00,</a:t>
            </a:r>
          </a:p>
          <a:p xmlns:a="http://schemas.openxmlformats.org/drawingml/2006/main">
            <a:pPr>
              <a:defRPr sz="15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5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      "CONFIRM": 0.75, "CANCEL": 0.10, "UNKNOWN": 0.13</a:t>
            </a:r>
          </a:p>
          <a:p xmlns:a="http://schemas.openxmlformats.org/drawingml/2006/main">
            <a:pPr>
              <a:defRPr sz="15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5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    },</a:t>
            </a:r>
          </a:p>
          <a:p xmlns:a="http://schemas.openxmlformats.org/drawingml/2006/main">
            <a:pPr>
              <a:defRPr sz="15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5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    "confidence": 0.70</a:t>
            </a:r>
          </a:p>
          <a:p xmlns:a="http://schemas.openxmlformats.org/drawingml/2006/main">
            <a:pPr>
              <a:defRPr sz="15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5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  },</a:t>
            </a:r>
          </a:p>
          <a:p xmlns:a="http://schemas.openxmlformats.org/drawingml/2006/main">
            <a:pPr>
              <a:defRPr sz="15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5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  "usage": { "input_tokens": 583, "output_tokens": 70 }</a:t>
            </a:r>
          </a:p>
          <a:p xmlns:a="http://schemas.openxmlformats.org/drawingml/2006/main">
            <a:pPr>
              <a:defRPr sz="15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5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530159457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632E0D-6F37-44FB-9A21-D51C63DD9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A5C45B-45C8-4BF9-8153-C0FA734DA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642657-DFB4-4E23-A21D-858C912DE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C5E0A9-DFC9-49BF-90A2-8408BCE4B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Código real: validar ou recusar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0DDF7D-4C6C-48F5-9679-6A170327B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98C0C5-3FDF-4773-882F-A9944ADAC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MAESTRO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B325A2-D072-4717-8363-7F556E532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41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6630CF-CEED-45CF-9BF5-5F574D13C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10763250" cy="436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9FB"/>
          </a:solidFill>
          <a:ln xmlns:a="http://schemas.openxmlformats.org/drawingml/2006/main" w="9525">
            <a:solidFill>
              <a:srgbClr val="D9E6E5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D1CF41-F0F4-43BE-9483-F12B0F31B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10306050" cy="403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650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if (choice !in SUPPORTED_LABELS ||</a:t>
            </a:r>
          </a:p>
          <a:p xmlns:a="http://schemas.openxmlformats.org/drawingml/2006/main">
            <a:pPr>
              <a:defRPr sz="1650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650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    probabilities.keys != SUPPORTED_LABELS) return false</a:t>
            </a:r>
          </a:p>
          <a:p xmlns:a="http://schemas.openxmlformats.org/drawingml/2006/main">
            <a:pPr>
              <a:defRPr sz="1650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650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if (probabilities.values.any { !it.isFinite() })</a:t>
            </a:r>
          </a:p>
          <a:p xmlns:a="http://schemas.openxmlformats.org/drawingml/2006/main">
            <a:pPr>
              <a:defRPr sz="1650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650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    return false</a:t>
            </a:r>
          </a:p>
          <a:p xmlns:a="http://schemas.openxmlformats.org/drawingml/2006/main">
            <a:pPr>
              <a:defRPr sz="1650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650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if (abs(probabilities.values.sum() - 1.0) &gt; 0.001)</a:t>
            </a:r>
          </a:p>
          <a:p xmlns:a="http://schemas.openxmlformats.org/drawingml/2006/main">
            <a:pPr>
              <a:defRPr sz="1650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650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    return false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650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return if (prediction.confidence &lt; 0.40)</a:t>
            </a:r>
          </a:p>
          <a:p xmlns:a="http://schemas.openxmlformats.org/drawingml/2006/main">
            <a:pPr>
              <a:defRPr sz="1650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650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  unknown() else prediction</a:t>
            </a:r>
          </a:p>
        </p:txBody>
      </p:sp>
    </p:spTree>
    <p:extLst>
      <p:ext uri="{BB962C8B-B14F-4D97-AF65-F5344CB8AC3E}">
        <p14:creationId xmlns:p14="http://schemas.microsoft.com/office/powerpoint/2010/main" val="27600809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B6E9CE-9210-4A78-BEA9-4C2956CBD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CE4267-D959-4569-AC90-20C2C75E6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A04006-A10D-4FAC-A49C-672A04E27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AF15D4-6676-4952-8DFB-CD7BB4100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Comparação no corpus sintético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BAE95D-E2D5-41CD-9D71-ED43FAA6F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2E4A84-DA18-4118-88EB-72F415EED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MAESTRO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005871-FC8B-403A-B5EC-3302D1ECC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42</a:t>
            </a:r>
          </a:p>
        </p:txBody>
      </p:sp>
      <p:graphicFrame>
        <p:nvGraphicFramePr>
          <p:cNvPr id="17" name=""/>
          <p:cNvGraphicFramePr/>
          <p:nvPr/>
        </p:nvGraphicFramePr>
        <p:xfrm>
          <a:off xmlns:a="http://schemas.openxmlformats.org/drawingml/2006/main" x="609600" y="1762125"/>
          <a:ext xmlns:a="http://schemas.openxmlformats.org/drawingml/2006/main" cx="10953750" cy="35814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810000"/>
                <a:gridCol w="3571875"/>
                <a:gridCol w="3571875"/>
              </a:tblGrid>
              <a:tr h="71628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</a:rPr>
                        <a:t>Métrica</a:t>
                      </a:r>
                    </a:p>
                  </a:txBody>
                  <a:tcPr marL="91440" marR="91440" marT="45720" marB="45720">
                    <a:solidFill>
                      <a:srgbClr val="3C4C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</a:rPr>
                        <a:t>Jev</a:t>
                      </a:r>
                    </a:p>
                  </a:txBody>
                  <a:tcPr marL="91440" marR="91440" marT="45720" marB="45720">
                    <a:solidFill>
                      <a:srgbClr val="3C4C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</a:rPr>
                        <a:t>Local</a:t>
                      </a:r>
                    </a:p>
                  </a:txBody>
                  <a:tcPr marL="91440" marR="91440" marT="45720" marB="45720">
                    <a:solidFill>
                      <a:srgbClr val="3C4C1E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Acerto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54/60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48/60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Macro-F1</a:t>
                      </a:r>
                    </a:p>
                  </a:txBody>
                  <a:tcPr marL="91440" marR="91440" marT="45720" marB="45720">
                    <a:solidFill>
                      <a:srgbClr val="ED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0,9010</a:t>
                      </a:r>
                    </a:p>
                  </a:txBody>
                  <a:tcPr marL="91440" marR="91440" marT="45720" marB="45720">
                    <a:solidFill>
                      <a:srgbClr val="ED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0,8026</a:t>
                      </a:r>
                    </a:p>
                  </a:txBody>
                  <a:tcPr marL="91440" marR="91440" marT="45720" marB="45720">
                    <a:solidFill>
                      <a:srgbClr val="EDF9FB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p95 no host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2.100,575 ms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0,293 ms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ECE</a:t>
                      </a:r>
                    </a:p>
                  </a:txBody>
                  <a:tcPr marL="91440" marR="91440" marT="45720" marB="45720">
                    <a:solidFill>
                      <a:srgbClr val="ED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0,0787</a:t>
                      </a:r>
                    </a:p>
                  </a:txBody>
                  <a:tcPr marL="91440" marR="91440" marT="45720" marB="45720">
                    <a:solidFill>
                      <a:srgbClr val="ED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0,0810</a:t>
                      </a:r>
                    </a:p>
                  </a:txBody>
                  <a:tcPr marL="91440" marR="91440" marT="45720" marB="45720">
                    <a:solidFill>
                      <a:srgbClr val="EDF9FB"/>
                    </a:solidFill>
                  </a:tcPr>
                </a:tc>
              </a:tr>
            </a:tbl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F0F572-3870-4DBC-AA23-61665D5AE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197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474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1425" b="0">
                <a:solidFill>
                  <a:srgbClr val="52645B"/>
                </a:solidFill>
                <a:latin typeface="Lato"/>
                <a:ea typeface="Lato"/>
                <a:cs typeface="Lato"/>
              </a:rPr>
              <a:t>Uma rodada · 60 falas sintéticas · custo Jev US$ 0,001472394</a:t>
            </a:r>
          </a:p>
        </p:txBody>
      </p:sp>
    </p:spTree>
    <p:extLst>
      <p:ext uri="{BB962C8B-B14F-4D97-AF65-F5344CB8AC3E}">
        <p14:creationId xmlns:p14="http://schemas.microsoft.com/office/powerpoint/2010/main" val="1314429600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8739E2-56C0-4CC4-912E-80C5D1A02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F47E73-4371-412A-B6DA-DFAD29DF6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454DFE-0AE3-40DC-85F5-AADB2437E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F376DE-7483-450F-960E-25C06E3A7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Um erro crítico manteve o experimento em HOLD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8AE2E2-5067-4057-84F9-8AC7C19A1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9F5123-D33F-4C65-AFE5-1B21E262A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MAESTRO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39DF12-8754-4FC4-894E-E31DF72FE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43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815557-9875-4FDF-8066-EEBD32412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106680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3600" b="1">
                <a:solidFill>
                  <a:srgbClr val="1D2723"/>
                </a:solidFill>
                <a:latin typeface="Lato"/>
                <a:ea typeface="Lato"/>
                <a:cs typeface="Lato"/>
              </a:rPr>
              <a:t>CANCEL → CONFIRM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5A04AE-3E60-4511-AD28-E072F4E34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524375"/>
            <a:ext cx="103822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52645B"/>
                </a:solidFill>
                <a:latin typeface="Lato"/>
                <a:ea typeface="Lato"/>
                <a:cs typeface="Lato"/>
              </a:rPr>
              <a:t>Probabilidade da escolha: 0,75. Melhor média não basta para uso operacional.</a:t>
            </a:r>
          </a:p>
        </p:txBody>
      </p:sp>
    </p:spTree>
    <p:extLst>
      <p:ext uri="{BB962C8B-B14F-4D97-AF65-F5344CB8AC3E}">
        <p14:creationId xmlns:p14="http://schemas.microsoft.com/office/powerpoint/2010/main" val="302791611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7A6DDA-EF38-4C59-B011-32FFCE4AB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2EB4E2-B753-4882-B611-5A98EFB41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F411E8-FD56-4CCD-8A24-203BC574E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C2EA7C-61E4-4FBD-872A-AE9418F6E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Demo: Maestro + Jev + Gazebo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26B40E-0F08-445F-9088-E74DF6478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11C0C2-6140-4E96-B942-30E030FFF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MAESTRO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BB7C60-822B-4F48-AE9A-3C4963AC6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44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E00A6B-C276-4440-813C-646D2578E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7667625" cy="413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B"/>
          </a:solidFill>
          <a:ln xmlns:a="http://schemas.openxmlformats.org/drawingml/2006/main" w="19050">
            <a:solidFill>
              <a:srgbClr val="8FD9E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D2254A-C4BC-4A5E-A7EC-7E7FE0A6E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52750"/>
            <a:ext cx="6572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2775" b="1">
                <a:solidFill>
                  <a:srgbClr val="3C4C1E"/>
                </a:solidFill>
                <a:latin typeface="Lato"/>
                <a:ea typeface="Lato"/>
                <a:cs typeface="Lato"/>
              </a:rPr>
              <a:t>INSERIR VÍDEO ORIGINAL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21B9AB-A768-49B8-B0C4-F0ED1BEBF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5260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80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Demonstração local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E50E29-0B70-4FAA-ADD7-E29F9CDC0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571750"/>
            <a:ext cx="2857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650" b="0">
                <a:solidFill>
                  <a:srgbClr val="1D2723"/>
                </a:solidFill>
                <a:latin typeface="Lato"/>
                <a:ea typeface="Lato"/>
                <a:cs typeface="Lato"/>
              </a:rPr>
              <a:t>Android → Jev → confirmação → robô simulado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75D537-2790-480E-90A2-EB92F76EE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91200"/>
            <a:ext cx="1038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00" b="0">
                <a:solidFill>
                  <a:srgbClr val="52645B"/>
                </a:solidFill>
                <a:latin typeface="Lato"/>
                <a:ea typeface="Lato"/>
                <a:cs typeface="Lato"/>
              </a:rPr>
              <a:t>Fonte: vídeo próprio a inserir</a:t>
            </a:r>
          </a:p>
        </p:txBody>
      </p:sp>
    </p:spTree>
    <p:extLst>
      <p:ext uri="{BB962C8B-B14F-4D97-AF65-F5344CB8AC3E}">
        <p14:creationId xmlns:p14="http://schemas.microsoft.com/office/powerpoint/2010/main" val="1438097683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BE8A18-04DA-4F6B-811C-BFCF98995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091C53-D159-4018-9F32-91DB02E4B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FEF326-22C5-4232-9B87-7EE5975ED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1B20A4-43C4-41A8-BA73-3D128E454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Reserva de demonstração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035CA5-044D-4C54-9636-2AC448122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10A502-5745-4379-8328-9D9D6E99F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MAESTRO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1A784B-9FB4-4067-93FB-AFA57129A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45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FFB151-225F-4552-B9E5-444AEF063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7667625" cy="413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B"/>
          </a:solidFill>
          <a:ln xmlns:a="http://schemas.openxmlformats.org/drawingml/2006/main" w="19050">
            <a:solidFill>
              <a:srgbClr val="8FD9E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D432E6-0FCF-4520-8A59-1C3ABC6B1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52750"/>
            <a:ext cx="6572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2775" b="1">
                <a:solidFill>
                  <a:srgbClr val="3C4C1E"/>
                </a:solidFill>
                <a:latin typeface="Lato"/>
                <a:ea typeface="Lato"/>
                <a:cs typeface="Lato"/>
              </a:rPr>
              <a:t>INSERIR VÍDEO ORIGINAL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B7E251-AB70-4BEF-9965-7C1AED484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5260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80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Fallback offline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F0CC8A-7BCD-45F6-B332-22763ED11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571750"/>
            <a:ext cx="2857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650" b="0">
                <a:solidFill>
                  <a:srgbClr val="1D2723"/>
                </a:solidFill>
                <a:latin typeface="Lato"/>
                <a:ea typeface="Lato"/>
                <a:cs typeface="Lato"/>
              </a:rPr>
              <a:t>Fixture mock local; não executa o robô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33378F-AAE8-49FC-9ABF-B08DBBB7B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91200"/>
            <a:ext cx="1038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00" b="0">
                <a:solidFill>
                  <a:srgbClr val="52645B"/>
                </a:solidFill>
                <a:latin typeface="Lato"/>
                <a:ea typeface="Lato"/>
                <a:cs typeface="Lato"/>
              </a:rPr>
              <a:t>Fonte: results/offline-demo</a:t>
            </a:r>
          </a:p>
        </p:txBody>
      </p:sp>
    </p:spTree>
    <p:extLst>
      <p:ext uri="{BB962C8B-B14F-4D97-AF65-F5344CB8AC3E}">
        <p14:creationId xmlns:p14="http://schemas.microsoft.com/office/powerpoint/2010/main" val="1222867486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8331A9-21E8-4CF7-B092-CFDE871CF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80BB8D-68C5-4FCE-975F-D5D33117B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38DA6D-DB55-42FC-8B85-2E8658276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CB610C-2BFE-414D-ACAF-674B7B9BE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Conclusão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7B1D82-D95D-47E7-9159-EA837A9D8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33C1B2-3DD1-45B7-A13B-DF8022111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MAESTRO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8356F3-EFE2-4859-AEE0-029C5122F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46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C6E348-F809-4786-BCA5-53F65E64A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240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14EE63-8620-429B-8394-535D07272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1619250"/>
            <a:ext cx="101822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1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Jev é uma hipótese útil de classificação tipada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2C669A-AF3D-4937-AEA8-CE5A16263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241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844826-34D4-4792-8C2B-E525B1404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2419350"/>
            <a:ext cx="101822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1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RLCD pede avaliação reproduzível de calibração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6E2B05-4BBF-4A4E-8554-654D9EF77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242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EE64AC-2214-45AE-8A09-9D4BF47B3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3219450"/>
            <a:ext cx="101822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1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No Maestro, alvo, estado e confirmação ficam fora do modelo</a:t>
            </a:r>
          </a:p>
        </p:txBody>
      </p:sp>
    </p:spTree>
    <p:extLst>
      <p:ext uri="{BB962C8B-B14F-4D97-AF65-F5344CB8AC3E}">
        <p14:creationId xmlns:p14="http://schemas.microsoft.com/office/powerpoint/2010/main" val="1854995174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A2A175-249E-4563-97DB-39B4BCD4A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C5BD70-08AF-4B5A-9059-B73A02EC0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6A16F1-E3AC-47AE-817A-A18B2ED4F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C2A227-B842-4218-8B23-592ED4971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Para discutir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C4CC3E-9398-472A-B40C-D7DFE673D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DAB455-8B64-4C94-AA13-0FA6E7FEB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JEV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F07A92-C4EB-4E1E-96D1-876993D8B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47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855AE5-2066-4244-88F1-154AAFAED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240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0B2A05-9631-4D4E-BF9B-0985A8EF3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1619250"/>
            <a:ext cx="101822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1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Como isolar o efeito do treino chamado RLCD?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7200ED-5C8E-4D80-B2C5-76915EDC2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241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6DA143-0C84-4451-B5DA-2F4BA450D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2419350"/>
            <a:ext cx="101822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1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Que teste com ASR real reabriria o HOLD?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E060DC-D1DE-4C10-A528-3E9BE0F8E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242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A8C7D1-5478-472F-A5D3-224FA6546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3219450"/>
            <a:ext cx="101822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1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Quanto custa um falso aceite diante do robô?</a:t>
            </a:r>
          </a:p>
        </p:txBody>
      </p:sp>
    </p:spTree>
    <p:extLst>
      <p:ext uri="{BB962C8B-B14F-4D97-AF65-F5344CB8AC3E}">
        <p14:creationId xmlns:p14="http://schemas.microsoft.com/office/powerpoint/2010/main" val="426006141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F37BF1-50D1-4E35-BED8-25662974B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218892-2F34-4BF5-9FF0-4048A8030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0F9ABD-F914-400C-B951-403C6BEDD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3824FF-893D-4189-B272-C673250DD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Obrigado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5890D8-6371-4288-ADBA-095139F80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CC6CC1-EAEF-4AE1-9192-B3D5DF27B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JEV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42ED87-C556-4AF6-8568-FD35347CD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48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0F1E58-F0F2-4428-B5E3-837C4C5DE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106680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3600" b="1">
                <a:solidFill>
                  <a:srgbClr val="1D2723"/>
                </a:solidFill>
                <a:latin typeface="Lato"/>
                <a:ea typeface="Lato"/>
                <a:cs typeface="Lato"/>
              </a:rPr>
              <a:t>Obrigado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36A633-3AFB-4118-80A0-B872ACD08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524375"/>
            <a:ext cx="103822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52645B"/>
                </a:solidFill>
                <a:latin typeface="Lato"/>
                <a:ea typeface="Lato"/>
                <a:cs typeface="Lato"/>
              </a:rPr>
              <a:t>Jev · Reinforcement Learning · Maestro Agrícola</a:t>
            </a:r>
          </a:p>
        </p:txBody>
      </p:sp>
    </p:spTree>
    <p:extLst>
      <p:ext uri="{BB962C8B-B14F-4D97-AF65-F5344CB8AC3E}">
        <p14:creationId xmlns:p14="http://schemas.microsoft.com/office/powerpoint/2010/main" val="187128580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2026-09-27T02:43:25.9820000Z</dcterms:created>
  <dcterms:modified xsi:type="dcterms:W3CDTF">2026-09-27T02:43:25.9830000Z</dcterms:modified>
</coreProperties>
</file>