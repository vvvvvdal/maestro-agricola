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c99e6ecc2c4957" /><Relationship Type="http://schemas.openxmlformats.org/officeDocument/2006/relationships/extended-properties" Target="/docProps/app.xml" Id="R8f7949bde2be4922" /><Relationship Type="http://schemas.openxmlformats.org/officeDocument/2006/relationships/officeDocument" Target="/ppt/presentation.xml" Id="R2655c543739a4d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44f94b8fc2416c"/>
  </p:sldMasterIdLst>
  <p:notesMasterIdLst>
    <p:notesMasterId xmlns:r="http://schemas.openxmlformats.org/officeDocument/2006/relationships" r:id="R3daed35e015144ba"/>
  </p:notesMasterIdLst>
  <p:sldIdLst>
    <p:sldId xmlns:r="http://schemas.openxmlformats.org/officeDocument/2006/relationships" id="256" r:id="R0dfd49fbdf8d4330"/>
    <p:sldId xmlns:r="http://schemas.openxmlformats.org/officeDocument/2006/relationships" id="257" r:id="Rc7ba289a435c4260"/>
    <p:sldId xmlns:r="http://schemas.openxmlformats.org/officeDocument/2006/relationships" id="258" r:id="R1b6e5c691b314314"/>
    <p:sldId xmlns:r="http://schemas.openxmlformats.org/officeDocument/2006/relationships" id="259" r:id="R5cb1378b71324911"/>
    <p:sldId xmlns:r="http://schemas.openxmlformats.org/officeDocument/2006/relationships" id="260" r:id="Rb5ab0d7ee8064d00"/>
    <p:sldId xmlns:r="http://schemas.openxmlformats.org/officeDocument/2006/relationships" id="261" r:id="R1b0d57c419574686"/>
    <p:sldId xmlns:r="http://schemas.openxmlformats.org/officeDocument/2006/relationships" id="262" r:id="R70738e08d5f04f8f"/>
    <p:sldId xmlns:r="http://schemas.openxmlformats.org/officeDocument/2006/relationships" id="263" r:id="Rbacc5b24781e4454"/>
    <p:sldId xmlns:r="http://schemas.openxmlformats.org/officeDocument/2006/relationships" id="264" r:id="R7611281ed6d7461b"/>
    <p:sldId xmlns:r="http://schemas.openxmlformats.org/officeDocument/2006/relationships" id="265" r:id="Rdcc19b7659354d29"/>
    <p:sldId xmlns:r="http://schemas.openxmlformats.org/officeDocument/2006/relationships" id="266" r:id="Rc7c37ee152584b73"/>
    <p:sldId xmlns:r="http://schemas.openxmlformats.org/officeDocument/2006/relationships" id="267" r:id="Rc1cf590fc9124b18"/>
    <p:sldId xmlns:r="http://schemas.openxmlformats.org/officeDocument/2006/relationships" id="268" r:id="R551bb725937943f2"/>
    <p:sldId xmlns:r="http://schemas.openxmlformats.org/officeDocument/2006/relationships" id="269" r:id="Rb73e67b87d7047a5"/>
    <p:sldId xmlns:r="http://schemas.openxmlformats.org/officeDocument/2006/relationships" id="270" r:id="Re07cc4c38064400b"/>
    <p:sldId xmlns:r="http://schemas.openxmlformats.org/officeDocument/2006/relationships" id="271" r:id="R349e6d45ac9d440f"/>
    <p:sldId xmlns:r="http://schemas.openxmlformats.org/officeDocument/2006/relationships" id="272" r:id="Rd2154cfb794f4816"/>
    <p:sldId xmlns:r="http://schemas.openxmlformats.org/officeDocument/2006/relationships" id="273" r:id="R868c74d9e19b4467"/>
    <p:sldId xmlns:r="http://schemas.openxmlformats.org/officeDocument/2006/relationships" id="274" r:id="Rf2eff75af2564c7e"/>
    <p:sldId xmlns:r="http://schemas.openxmlformats.org/officeDocument/2006/relationships" id="275" r:id="R67213fe62e984831"/>
    <p:sldId xmlns:r="http://schemas.openxmlformats.org/officeDocument/2006/relationships" id="276" r:id="R39e28a4da67d4e2d"/>
    <p:sldId xmlns:r="http://schemas.openxmlformats.org/officeDocument/2006/relationships" id="277" r:id="R6cd598399adf46e1"/>
    <p:sldId xmlns:r="http://schemas.openxmlformats.org/officeDocument/2006/relationships" id="278" r:id="R86ff8cf2b8ee4593"/>
    <p:sldId xmlns:r="http://schemas.openxmlformats.org/officeDocument/2006/relationships" id="279" r:id="Ra18057edbf054aa4"/>
    <p:sldId xmlns:r="http://schemas.openxmlformats.org/officeDocument/2006/relationships" id="280" r:id="R1ff59f0b3b2f4d8d"/>
    <p:sldId xmlns:r="http://schemas.openxmlformats.org/officeDocument/2006/relationships" id="281" r:id="Rc7528b08793c4ddd"/>
    <p:sldId xmlns:r="http://schemas.openxmlformats.org/officeDocument/2006/relationships" id="282" r:id="R7860d3211b724bdd"/>
    <p:sldId xmlns:r="http://schemas.openxmlformats.org/officeDocument/2006/relationships" id="283" r:id="Rd0e72ab406b94202"/>
    <p:sldId xmlns:r="http://schemas.openxmlformats.org/officeDocument/2006/relationships" id="284" r:id="R74c05051ecdb4f8f"/>
    <p:sldId xmlns:r="http://schemas.openxmlformats.org/officeDocument/2006/relationships" id="285" r:id="R86aec2fb441748ff"/>
    <p:sldId xmlns:r="http://schemas.openxmlformats.org/officeDocument/2006/relationships" id="286" r:id="R542f151d888f4f28"/>
    <p:sldId xmlns:r="http://schemas.openxmlformats.org/officeDocument/2006/relationships" id="287" r:id="Ra93ce91fe04d4b2f"/>
    <p:sldId xmlns:r="http://schemas.openxmlformats.org/officeDocument/2006/relationships" id="288" r:id="R28695a9dd50c42e8"/>
    <p:sldId xmlns:r="http://schemas.openxmlformats.org/officeDocument/2006/relationships" id="289" r:id="Rf31f27983044455b"/>
    <p:sldId xmlns:r="http://schemas.openxmlformats.org/officeDocument/2006/relationships" id="290" r:id="R55e667f00aee4ade"/>
    <p:sldId xmlns:r="http://schemas.openxmlformats.org/officeDocument/2006/relationships" id="291" r:id="R9322fae8b28b4603"/>
    <p:sldId xmlns:r="http://schemas.openxmlformats.org/officeDocument/2006/relationships" id="292" r:id="R07ca913ff95d4774"/>
    <p:sldId xmlns:r="http://schemas.openxmlformats.org/officeDocument/2006/relationships" id="293" r:id="R833173aa185e4b49"/>
    <p:sldId xmlns:r="http://schemas.openxmlformats.org/officeDocument/2006/relationships" id="294" r:id="R242d15fd846e4401"/>
    <p:sldId xmlns:r="http://schemas.openxmlformats.org/officeDocument/2006/relationships" id="295" r:id="R0e39640f61d64a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52ffe8207b4600" /><Relationship Type="http://schemas.openxmlformats.org/officeDocument/2006/relationships/slideMaster" Target="/ppt/slideMasters/slideMaster1.xml" Id="Ra344f94b8fc2416c" /><Relationship Type="http://schemas.openxmlformats.org/officeDocument/2006/relationships/notesMaster" Target="/ppt/notesMasters/notesMaster1.xml" Id="R3daed35e015144ba" /><Relationship Type="http://schemas.openxmlformats.org/officeDocument/2006/relationships/presProps" Target="/ppt/presProps.xml" Id="R28888e27547c40e6" /><Relationship Type="http://schemas.openxmlformats.org/officeDocument/2006/relationships/tableStyles" Target="/ppt/tableStyles.xml" Id="R5e086362d87941c4" /><Relationship Type="http://schemas.openxmlformats.org/officeDocument/2006/relationships/slide" Target="/ppt/slides/slide1.xml" Id="R0dfd49fbdf8d4330" /><Relationship Type="http://schemas.openxmlformats.org/officeDocument/2006/relationships/slide" Target="/ppt/slides/slide2.xml" Id="Rc7ba289a435c4260" /><Relationship Type="http://schemas.openxmlformats.org/officeDocument/2006/relationships/slide" Target="/ppt/slides/slide3.xml" Id="R1b6e5c691b314314" /><Relationship Type="http://schemas.openxmlformats.org/officeDocument/2006/relationships/slide" Target="/ppt/slides/slide4.xml" Id="R5cb1378b71324911" /><Relationship Type="http://schemas.openxmlformats.org/officeDocument/2006/relationships/slide" Target="/ppt/slides/slide5.xml" Id="Rb5ab0d7ee8064d00" /><Relationship Type="http://schemas.openxmlformats.org/officeDocument/2006/relationships/slide" Target="/ppt/slides/slide6.xml" Id="R1b0d57c419574686" /><Relationship Type="http://schemas.openxmlformats.org/officeDocument/2006/relationships/slide" Target="/ppt/slides/slide7.xml" Id="R70738e08d5f04f8f" /><Relationship Type="http://schemas.openxmlformats.org/officeDocument/2006/relationships/slide" Target="/ppt/slides/slide8.xml" Id="Rbacc5b24781e4454" /><Relationship Type="http://schemas.openxmlformats.org/officeDocument/2006/relationships/slide" Target="/ppt/slides/slide9.xml" Id="R7611281ed6d7461b" /><Relationship Type="http://schemas.openxmlformats.org/officeDocument/2006/relationships/slide" Target="/ppt/slides/slide10.xml" Id="Rdcc19b7659354d29" /><Relationship Type="http://schemas.openxmlformats.org/officeDocument/2006/relationships/slide" Target="/ppt/slides/slide11.xml" Id="Rc7c37ee152584b73" /><Relationship Type="http://schemas.openxmlformats.org/officeDocument/2006/relationships/slide" Target="/ppt/slides/slide12.xml" Id="Rc1cf590fc9124b18" /><Relationship Type="http://schemas.openxmlformats.org/officeDocument/2006/relationships/slide" Target="/ppt/slides/slide13.xml" Id="R551bb725937943f2" /><Relationship Type="http://schemas.openxmlformats.org/officeDocument/2006/relationships/slide" Target="/ppt/slides/slide14.xml" Id="Rb73e67b87d7047a5" /><Relationship Type="http://schemas.openxmlformats.org/officeDocument/2006/relationships/slide" Target="/ppt/slides/slide15.xml" Id="Re07cc4c38064400b" /><Relationship Type="http://schemas.openxmlformats.org/officeDocument/2006/relationships/slide" Target="/ppt/slides/slide16.xml" Id="R349e6d45ac9d440f" /><Relationship Type="http://schemas.openxmlformats.org/officeDocument/2006/relationships/slide" Target="/ppt/slides/slide17.xml" Id="Rd2154cfb794f4816" /><Relationship Type="http://schemas.openxmlformats.org/officeDocument/2006/relationships/slide" Target="/ppt/slides/slide18.xml" Id="R868c74d9e19b4467" /><Relationship Type="http://schemas.openxmlformats.org/officeDocument/2006/relationships/slide" Target="/ppt/slides/slide19.xml" Id="Rf2eff75af2564c7e" /><Relationship Type="http://schemas.openxmlformats.org/officeDocument/2006/relationships/slide" Target="/ppt/slides/slide20.xml" Id="R67213fe62e984831" /><Relationship Type="http://schemas.openxmlformats.org/officeDocument/2006/relationships/slide" Target="/ppt/slides/slide21.xml" Id="R39e28a4da67d4e2d" /><Relationship Type="http://schemas.openxmlformats.org/officeDocument/2006/relationships/slide" Target="/ppt/slides/slide22.xml" Id="R6cd598399adf46e1" /><Relationship Type="http://schemas.openxmlformats.org/officeDocument/2006/relationships/slide" Target="/ppt/slides/slide23.xml" Id="R86ff8cf2b8ee4593" /><Relationship Type="http://schemas.openxmlformats.org/officeDocument/2006/relationships/slide" Target="/ppt/slides/slide24.xml" Id="Ra18057edbf054aa4" /><Relationship Type="http://schemas.openxmlformats.org/officeDocument/2006/relationships/slide" Target="/ppt/slides/slide25.xml" Id="R1ff59f0b3b2f4d8d" /><Relationship Type="http://schemas.openxmlformats.org/officeDocument/2006/relationships/slide" Target="/ppt/slides/slide26.xml" Id="Rc7528b08793c4ddd" /><Relationship Type="http://schemas.openxmlformats.org/officeDocument/2006/relationships/slide" Target="/ppt/slides/slide27.xml" Id="R7860d3211b724bdd" /><Relationship Type="http://schemas.openxmlformats.org/officeDocument/2006/relationships/slide" Target="/ppt/slides/slide28.xml" Id="Rd0e72ab406b94202" /><Relationship Type="http://schemas.openxmlformats.org/officeDocument/2006/relationships/slide" Target="/ppt/slides/slide29.xml" Id="R74c05051ecdb4f8f" /><Relationship Type="http://schemas.openxmlformats.org/officeDocument/2006/relationships/slide" Target="/ppt/slides/slide30.xml" Id="R86aec2fb441748ff" /><Relationship Type="http://schemas.openxmlformats.org/officeDocument/2006/relationships/slide" Target="/ppt/slides/slide31.xml" Id="R542f151d888f4f28" /><Relationship Type="http://schemas.openxmlformats.org/officeDocument/2006/relationships/slide" Target="/ppt/slides/slide32.xml" Id="Ra93ce91fe04d4b2f" /><Relationship Type="http://schemas.openxmlformats.org/officeDocument/2006/relationships/slide" Target="/ppt/slides/slide33.xml" Id="R28695a9dd50c42e8" /><Relationship Type="http://schemas.openxmlformats.org/officeDocument/2006/relationships/slide" Target="/ppt/slides/slide34.xml" Id="Rf31f27983044455b" /><Relationship Type="http://schemas.openxmlformats.org/officeDocument/2006/relationships/slide" Target="/ppt/slides/slide35.xml" Id="R55e667f00aee4ade" /><Relationship Type="http://schemas.openxmlformats.org/officeDocument/2006/relationships/slide" Target="/ppt/slides/slide36.xml" Id="R9322fae8b28b4603" /><Relationship Type="http://schemas.openxmlformats.org/officeDocument/2006/relationships/slide" Target="/ppt/slides/slide37.xml" Id="R07ca913ff95d4774" /><Relationship Type="http://schemas.openxmlformats.org/officeDocument/2006/relationships/slide" Target="/ppt/slides/slide38.xml" Id="R833173aa185e4b49" /><Relationship Type="http://schemas.openxmlformats.org/officeDocument/2006/relationships/slide" Target="/ppt/slides/slide39.xml" Id="R242d15fd846e4401" /><Relationship Type="http://schemas.openxmlformats.org/officeDocument/2006/relationships/slide" Target="/ppt/slides/slide40.xml" Id="R0e39640f61d64a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412783f2c84e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36e6d9e3144fd1" /><Relationship Type="http://schemas.openxmlformats.org/officeDocument/2006/relationships/notesMaster" Target="/ppt/notesMasters/notesMaster1.xml" Id="R0f10edb4d3a34d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c2525fb0624a31" /><Relationship Type="http://schemas.openxmlformats.org/officeDocument/2006/relationships/notesMaster" Target="/ppt/notesMasters/notesMaster1.xml" Id="Rcd8a8e60348f42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eab5d562444c85" /><Relationship Type="http://schemas.openxmlformats.org/officeDocument/2006/relationships/notesMaster" Target="/ppt/notesMasters/notesMaster1.xml" Id="R7cf97b0c9df143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5f47dd997048e4" /><Relationship Type="http://schemas.openxmlformats.org/officeDocument/2006/relationships/notesMaster" Target="/ppt/notesMasters/notesMaster1.xml" Id="Ra160413a7a7a42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26927678f84e5b" /><Relationship Type="http://schemas.openxmlformats.org/officeDocument/2006/relationships/notesMaster" Target="/ppt/notesMasters/notesMaster1.xml" Id="Re8404faa404541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d1fc477deb4c2d" /><Relationship Type="http://schemas.openxmlformats.org/officeDocument/2006/relationships/notesMaster" Target="/ppt/notesMasters/notesMaster1.xml" Id="Rfb0fb123fd3147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62f6315ee74a92" /><Relationship Type="http://schemas.openxmlformats.org/officeDocument/2006/relationships/notesMaster" Target="/ppt/notesMasters/notesMaster1.xml" Id="R7fd9a4753ca14d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7b57d621df49f8" /><Relationship Type="http://schemas.openxmlformats.org/officeDocument/2006/relationships/notesMaster" Target="/ppt/notesMasters/notesMaster1.xml" Id="R192e7cd712b745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740b01477b4fb8" /><Relationship Type="http://schemas.openxmlformats.org/officeDocument/2006/relationships/notesMaster" Target="/ppt/notesMasters/notesMaster1.xml" Id="R58729784dbb24b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fb9cde055c4752" /><Relationship Type="http://schemas.openxmlformats.org/officeDocument/2006/relationships/notesMaster" Target="/ppt/notesMasters/notesMaster1.xml" Id="R7fb6ba59e3574e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70bd1b336244df" /><Relationship Type="http://schemas.openxmlformats.org/officeDocument/2006/relationships/notesMaster" Target="/ppt/notesMasters/notesMaster1.xml" Id="Raf99a6a8d34449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8a2d27ca1f469c" /><Relationship Type="http://schemas.openxmlformats.org/officeDocument/2006/relationships/notesMaster" Target="/ppt/notesMasters/notesMaster1.xml" Id="R3b33d09705e743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89e26f3b6e4fcf" /><Relationship Type="http://schemas.openxmlformats.org/officeDocument/2006/relationships/notesMaster" Target="/ppt/notesMasters/notesMaster1.xml" Id="Rc44c26bdcbcc4d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1ed9368475424e" /><Relationship Type="http://schemas.openxmlformats.org/officeDocument/2006/relationships/notesMaster" Target="/ppt/notesMasters/notesMaster1.xml" Id="R265353f9099f4a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72bd9185304e82" /><Relationship Type="http://schemas.openxmlformats.org/officeDocument/2006/relationships/notesMaster" Target="/ppt/notesMasters/notesMaster1.xml" Id="Rf79ff49ea0ba4b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020156df2d475b" /><Relationship Type="http://schemas.openxmlformats.org/officeDocument/2006/relationships/notesMaster" Target="/ppt/notesMasters/notesMaster1.xml" Id="Rf1595dae356a412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8fc2c59a97465b" /><Relationship Type="http://schemas.openxmlformats.org/officeDocument/2006/relationships/notesMaster" Target="/ppt/notesMasters/notesMaster1.xml" Id="R6fae13a85ba948b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c7437de3cf24741" /><Relationship Type="http://schemas.openxmlformats.org/officeDocument/2006/relationships/notesMaster" Target="/ppt/notesMasters/notesMaster1.xml" Id="R73a66a4748b3492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d0437069684598" /><Relationship Type="http://schemas.openxmlformats.org/officeDocument/2006/relationships/notesMaster" Target="/ppt/notesMasters/notesMaster1.xml" Id="Rec7d76647f044ab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ae7e10aeb29451b" /><Relationship Type="http://schemas.openxmlformats.org/officeDocument/2006/relationships/notesMaster" Target="/ppt/notesMasters/notesMaster1.xml" Id="R670f3838436f471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649eca2d22143fb" /><Relationship Type="http://schemas.openxmlformats.org/officeDocument/2006/relationships/notesMaster" Target="/ppt/notesMasters/notesMaster1.xml" Id="R1cb70f5cedd8445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ce3945fd2494fa9" /><Relationship Type="http://schemas.openxmlformats.org/officeDocument/2006/relationships/notesMaster" Target="/ppt/notesMasters/notesMaster1.xml" Id="Rbb1148592362480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f9f76acfb874c9a" /><Relationship Type="http://schemas.openxmlformats.org/officeDocument/2006/relationships/notesMaster" Target="/ppt/notesMasters/notesMaster1.xml" Id="R7e01a63f4add440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deb0b68c7f04b81" /><Relationship Type="http://schemas.openxmlformats.org/officeDocument/2006/relationships/notesMaster" Target="/ppt/notesMasters/notesMaster1.xml" Id="Rc7a00879d23d43a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15577113a6b4520" /><Relationship Type="http://schemas.openxmlformats.org/officeDocument/2006/relationships/notesMaster" Target="/ppt/notesMasters/notesMaster1.xml" Id="R348d571c196446d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5c6c04dfcdc468c" /><Relationship Type="http://schemas.openxmlformats.org/officeDocument/2006/relationships/notesMaster" Target="/ppt/notesMasters/notesMaster1.xml" Id="R1c9aa9a515c7468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32fcc71a02f4152" /><Relationship Type="http://schemas.openxmlformats.org/officeDocument/2006/relationships/notesMaster" Target="/ppt/notesMasters/notesMaster1.xml" Id="R5a696aae25f04ac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c7ed22910434343" /><Relationship Type="http://schemas.openxmlformats.org/officeDocument/2006/relationships/notesMaster" Target="/ppt/notesMasters/notesMaster1.xml" Id="R1dd57c8fa73145f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abcb023b23a4b6f" /><Relationship Type="http://schemas.openxmlformats.org/officeDocument/2006/relationships/notesMaster" Target="/ppt/notesMasters/notesMaster1.xml" Id="Rac30faefaf1340f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9489e69f3f94c05" /><Relationship Type="http://schemas.openxmlformats.org/officeDocument/2006/relationships/notesMaster" Target="/ppt/notesMasters/notesMaster1.xml" Id="Raee29f4b65d04de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cff4e8f95e84fa2" /><Relationship Type="http://schemas.openxmlformats.org/officeDocument/2006/relationships/notesMaster" Target="/ppt/notesMasters/notesMaster1.xml" Id="Re437e46059b6460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819b3b25c76419d" /><Relationship Type="http://schemas.openxmlformats.org/officeDocument/2006/relationships/notesMaster" Target="/ppt/notesMasters/notesMaster1.xml" Id="R3824dcc55313472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fdbfc933913486c" /><Relationship Type="http://schemas.openxmlformats.org/officeDocument/2006/relationships/notesMaster" Target="/ppt/notesMasters/notesMaster1.xml" Id="Red578fe3e2744e5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2dc5356d62442bc" /><Relationship Type="http://schemas.openxmlformats.org/officeDocument/2006/relationships/notesMaster" Target="/ppt/notesMasters/notesMaster1.xml" Id="Re661495d1f1548a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899416268e145c7" /><Relationship Type="http://schemas.openxmlformats.org/officeDocument/2006/relationships/notesMaster" Target="/ppt/notesMasters/notesMaster1.xml" Id="R7c9322cb98ce48c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21a8c27c6334f3a" /><Relationship Type="http://schemas.openxmlformats.org/officeDocument/2006/relationships/notesMaster" Target="/ppt/notesMasters/notesMaster1.xml" Id="Ra4bcd78e881f452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89d17bb32d84430" /><Relationship Type="http://schemas.openxmlformats.org/officeDocument/2006/relationships/notesMaster" Target="/ppt/notesMasters/notesMaster1.xml" Id="R8d3656bbb4224c1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2400f03fd094dee" /><Relationship Type="http://schemas.openxmlformats.org/officeDocument/2006/relationships/notesMaster" Target="/ppt/notesMasters/notesMaster1.xml" Id="R7d598e5ec39147c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661b8d00a054930" /><Relationship Type="http://schemas.openxmlformats.org/officeDocument/2006/relationships/notesMaster" Target="/ppt/notesMasters/notesMaster1.xml" Id="Rf05373b5de02418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f4c8e727db148b3" /><Relationship Type="http://schemas.openxmlformats.org/officeDocument/2006/relationships/notesMaster" Target="/ppt/notesMasters/notesMaster1.xml" Id="Raabfead7349b4b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a pergunta central: quando uma decisão probabilística tipada ajuda uma interface robótica?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sintético. Separar conversa da decisão de roteamento.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Noul não deve substituir verificação de idade real. Exemplo conceitual de interpretação de texto; resposta numérica não é chamada real. Fonte: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https://typesafe.ai/team e https://typesafe.ai/blog/introducing-system-one-models-and-jev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https://docs.typesafe.ai/primitives/choice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afirmar zero tokens nem chamada gratuita. Fonte: TypeSafe pricing e results do repo.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Multiplicadores promocionais não são medidas do Maestro.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com JSON mode também pode emitir estrutura; teste desempenho, custo e formato na mesma tarefa.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da documentação oficial de Choice, capturado em 26 set. 2026. Fonte: https://docs.typesafe.ai/primitives/choice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Executar no site ao vivo; não pré-fixar a resposta.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Reserva para demo autenticada. Fallback: request/response publicados no quick start.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Pseudocódigo baseado no quick start; a sintaxe precisa ser ajustada ao SDK/API em uso. Fonte: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Descrição pública da TypeSafe, sem inventar reward ou algoritmo. https://docs.typesafe.ai/introduction/machine-learning-primer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didático. Accuracy e calibração respondem perguntas diferentes.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ECE, apresentar bins com tamanho n; amostra pequena limita inferência.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RLCD é descrição pública do fornecedor, não prova de superioridade. https://docs.typesafe.ai/introduction/machine-learning-primer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https://x.com/heystefan_/status/2101369117496521042.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https://x.com/dani_avila7/status/2101885477158547753.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https://jevtypesafeai.com/tools/pr-judge.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https://threadnavigator.com/thread/2100372930282573876/.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https://x.com/jpschroeder/status/2100347770867458384.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laya-mlx reporta 7,39–13,42 ms mediana, uma pergunta curta e modelo carregado; não comparar diretamente com Jev. https://x.com/luizcarvalhocom/status/2102055194070593894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Adaptado do pitch docs/pitch/storyboard.md. Não apresentar mock como hardware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Adaptado do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resumido; DAT/MockDeviceKit, Android, TargetResolver, WebSocket e ROS.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docs/privacy-data-flow.md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classificador local não é detector geral de CPF. Fonte: RemoteTranscriptGate.kt, tools/jev_local_proxy.py e docs/tasks/jev-remote-privacy-gate.md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JevIntentClassifier.kt, MainActivity.kt, docs/tasks/mission-preview-contract.md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Trecho real de mobile/android/app/src/main/java/br/org/agroturtles/maestro/platform/JevProxyChoiceEvaluator.kt. Chave e rubrica fora do Android; modelo jev-1.13.0 no proxy.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Trecho editado para projeção, fiel à lógica de JevIntentClassifier.kt. O guard de CANCEL explícito está desligado por padrão.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docs/study-groups/jev-rl-2026-10-01/results/jev-final-recovery-presentation.md. ECE não prova calibração geral.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docs/tasks/jev-experimental-decision.md. Não atribuir o erro à rota de missão composta.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Área para gravação ou demo ao vivo. Identificar claramente simulação e mock.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vídeo offline ou três capturas do diretório results/offline-demo. Legenda obrigatória: fixture mock local — não executa o robô.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Decisão operacional atual: 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debate.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e abrir perguntas.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ec6412612548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2cf602fd2d45ad" /><Relationship Type="http://schemas.openxmlformats.org/officeDocument/2006/relationships/slideLayout" Target="/ppt/slideLayouts/slideLayout1.xml" Id="Rc137b6ea37b04c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37b6ea37b04c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08406f371402b" /><Relationship Type="http://schemas.openxmlformats.org/officeDocument/2006/relationships/notesSlide" Target="/ppt/notesSlides/notesSlide1.xml" Id="Rbea32b0ee85847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ea578eda648b9" /><Relationship Type="http://schemas.openxmlformats.org/officeDocument/2006/relationships/notesSlide" Target="/ppt/notesSlides/notesSlide2.xml" Id="R58277456eb6c45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183ae7c514e6c" /><Relationship Type="http://schemas.openxmlformats.org/officeDocument/2006/relationships/notesSlide" Target="/ppt/notesSlides/notesSlide3.xml" Id="Rbd5b7c69329942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2ac6c0f6e484a" /><Relationship Type="http://schemas.openxmlformats.org/officeDocument/2006/relationships/notesSlide" Target="/ppt/notesSlides/notesSlide4.xml" Id="R2ce41c64da9740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cbe1481e74a8d" /><Relationship Type="http://schemas.openxmlformats.org/officeDocument/2006/relationships/notesSlide" Target="/ppt/notesSlides/notesSlide5.xml" Id="Rb04ebab43f524c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a70b96f454b33" /><Relationship Type="http://schemas.openxmlformats.org/officeDocument/2006/relationships/notesSlide" Target="/ppt/notesSlides/notesSlide6.xml" Id="Rc3c30c6d89ab47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d83a4bf1a487f" /><Relationship Type="http://schemas.openxmlformats.org/officeDocument/2006/relationships/notesSlide" Target="/ppt/notesSlides/notesSlide7.xml" Id="R84e7adb8ffef45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0f1676c44440b" /><Relationship Type="http://schemas.openxmlformats.org/officeDocument/2006/relationships/notesSlide" Target="/ppt/notesSlides/notesSlide8.xml" Id="Rd1b8fde5aa0041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19b0837314086" /><Relationship Type="http://schemas.openxmlformats.org/officeDocument/2006/relationships/image" Target="/ppt/media/image.png" Id="Re3c960eeeff64b37" /><Relationship Type="http://schemas.openxmlformats.org/officeDocument/2006/relationships/notesSlide" Target="/ppt/notesSlides/notesSlide9.xml" Id="R6b4e6c4c7f784c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6010c5f814ec1" /><Relationship Type="http://schemas.openxmlformats.org/officeDocument/2006/relationships/notesSlide" Target="/ppt/notesSlides/notesSlide10.xml" Id="R982853eace7141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2f3f532834555" /><Relationship Type="http://schemas.openxmlformats.org/officeDocument/2006/relationships/notesSlide" Target="/ppt/notesSlides/notesSlide11.xml" Id="Rc2042c35ae6c42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1920e46fc45b5" /><Relationship Type="http://schemas.openxmlformats.org/officeDocument/2006/relationships/notesSlide" Target="/ppt/notesSlides/notesSlide12.xml" Id="Rb46f4fc90a2b44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3d207f0c241b7" /><Relationship Type="http://schemas.openxmlformats.org/officeDocument/2006/relationships/notesSlide" Target="/ppt/notesSlides/notesSlide13.xml" Id="R2128638527a34a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f2a487d424fbf" /><Relationship Type="http://schemas.openxmlformats.org/officeDocument/2006/relationships/notesSlide" Target="/ppt/notesSlides/notesSlide14.xml" Id="R8a36398f61dd45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bfa76350a4f69" /><Relationship Type="http://schemas.openxmlformats.org/officeDocument/2006/relationships/notesSlide" Target="/ppt/notesSlides/notesSlide15.xml" Id="R0150f4a5ef9f4f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e3bb49834414e" /><Relationship Type="http://schemas.openxmlformats.org/officeDocument/2006/relationships/notesSlide" Target="/ppt/notesSlides/notesSlide16.xml" Id="Rc444717ff00e4d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e13aa3be842e3" /><Relationship Type="http://schemas.openxmlformats.org/officeDocument/2006/relationships/notesSlide" Target="/ppt/notesSlides/notesSlide17.xml" Id="R3589a22423244e3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d2fecbfc84f56" /><Relationship Type="http://schemas.openxmlformats.org/officeDocument/2006/relationships/notesSlide" Target="/ppt/notesSlides/notesSlide18.xml" Id="R9b6950fce47842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453fa40bc4ff9" /><Relationship Type="http://schemas.openxmlformats.org/officeDocument/2006/relationships/notesSlide" Target="/ppt/notesSlides/notesSlide19.xml" Id="R5ace856419224ad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df7783f1d4c86" /><Relationship Type="http://schemas.openxmlformats.org/officeDocument/2006/relationships/notesSlide" Target="/ppt/notesSlides/notesSlide20.xml" Id="R44e18932643c4a8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c87450b7942d9" /><Relationship Type="http://schemas.openxmlformats.org/officeDocument/2006/relationships/notesSlide" Target="/ppt/notesSlides/notesSlide21.xml" Id="R33e2f2d337a8440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5803a49474102" /><Relationship Type="http://schemas.openxmlformats.org/officeDocument/2006/relationships/notesSlide" Target="/ppt/notesSlides/notesSlide22.xml" Id="R3649de33ed954f1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007ddc7d5495d" /><Relationship Type="http://schemas.openxmlformats.org/officeDocument/2006/relationships/notesSlide" Target="/ppt/notesSlides/notesSlide23.xml" Id="R94f292ebcac247b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4c15d765549bf" /><Relationship Type="http://schemas.openxmlformats.org/officeDocument/2006/relationships/notesSlide" Target="/ppt/notesSlides/notesSlide24.xml" Id="R645e6d67eeb7417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0e4a08f7e4611" /><Relationship Type="http://schemas.openxmlformats.org/officeDocument/2006/relationships/notesSlide" Target="/ppt/notesSlides/notesSlide25.xml" Id="Ra6d1f66d73704d5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074978bbf413a" /><Relationship Type="http://schemas.openxmlformats.org/officeDocument/2006/relationships/notesSlide" Target="/ppt/notesSlides/notesSlide26.xml" Id="R1f5f63e93b4f414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a802cf8164445" /><Relationship Type="http://schemas.openxmlformats.org/officeDocument/2006/relationships/notesSlide" Target="/ppt/notesSlides/notesSlide27.xml" Id="R3bb233174aad4f3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420c34b1c4faf" /><Relationship Type="http://schemas.openxmlformats.org/officeDocument/2006/relationships/notesSlide" Target="/ppt/notesSlides/notesSlide28.xml" Id="R3769255847cf474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82e3c3f9f42a8" /><Relationship Type="http://schemas.openxmlformats.org/officeDocument/2006/relationships/notesSlide" Target="/ppt/notesSlides/notesSlide29.xml" Id="R8697b6eae8eb453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951e754754681" /><Relationship Type="http://schemas.openxmlformats.org/officeDocument/2006/relationships/notesSlide" Target="/ppt/notesSlides/notesSlide30.xml" Id="Rc0373a464b47445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8b135d8674ec8" /><Relationship Type="http://schemas.openxmlformats.org/officeDocument/2006/relationships/notesSlide" Target="/ppt/notesSlides/notesSlide31.xml" Id="R8a91ee8ea0f64c2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6232c7e0f4f2d" /><Relationship Type="http://schemas.openxmlformats.org/officeDocument/2006/relationships/notesSlide" Target="/ppt/notesSlides/notesSlide32.xml" Id="Rc8858a4fb9e4454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176bf451a46ac" /><Relationship Type="http://schemas.openxmlformats.org/officeDocument/2006/relationships/notesSlide" Target="/ppt/notesSlides/notesSlide33.xml" Id="Rdab2acc2503e4a6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c2331b62c4da0" /><Relationship Type="http://schemas.openxmlformats.org/officeDocument/2006/relationships/notesSlide" Target="/ppt/notesSlides/notesSlide34.xml" Id="R91dee31b852641b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b38541ae44b3d" /><Relationship Type="http://schemas.openxmlformats.org/officeDocument/2006/relationships/notesSlide" Target="/ppt/notesSlides/notesSlide35.xml" Id="Rafd4b514994f43c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be7e1fd584de4" /><Relationship Type="http://schemas.openxmlformats.org/officeDocument/2006/relationships/notesSlide" Target="/ppt/notesSlides/notesSlide36.xml" Id="R1975779a60e94b8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2a22279ca43c4" /><Relationship Type="http://schemas.openxmlformats.org/officeDocument/2006/relationships/notesSlide" Target="/ppt/notesSlides/notesSlide37.xml" Id="R551b8ce38742450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b3b6c26c843d3" /><Relationship Type="http://schemas.openxmlformats.org/officeDocument/2006/relationships/notesSlide" Target="/ppt/notesSlides/notesSlide38.xml" Id="R5d46c5fdc84e4a8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de03c9917492a" /><Relationship Type="http://schemas.openxmlformats.org/officeDocument/2006/relationships/notesSlide" Target="/ppt/notesSlides/notesSlide39.xml" Id="R6960bb4aeac8496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c738a23a64a45" /><Relationship Type="http://schemas.openxmlformats.org/officeDocument/2006/relationships/notesSlide" Target="/ppt/notesSlides/notesSlide40.xml" Id="Reef79815230a4d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AC9BC-F06E-4ED3-912A-EE542EE5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C72BA-161A-406E-9494-C68B5603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2BAB2-2E93-4DA5-897A-F7CFD01F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29292-3DFD-439C-A380-B1F781A9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63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Jev, Reinforcement Learning e decisões calibradas em um sistema robótico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CF5FD-B2A8-42EF-B680-DFA44EDB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3A47A-28C9-4F61-B911-9147468F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B1FD4-D4BC-4D36-8579-A49C2E85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3DD85-FD50-4B92-B482-EC1DDADC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JEV  ×  MAESTRO AGRÍCOLA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2308B-5420-450A-8A36-D07A5B73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Grupo de estudos de Reinforcement Learning · 1º out. 2026</a:t>
            </a:r>
          </a:p>
        </p:txBody>
      </p:sp>
    </p:spTree>
    <p:extLst>
      <p:ext uri="{BB962C8B-B14F-4D97-AF65-F5344CB8AC3E}">
        <p14:creationId xmlns:p14="http://schemas.microsoft.com/office/powerpoint/2010/main" val="2082407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FA77A-375A-4EF3-AA4C-084CF04C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BF5B1-000F-481A-A2FF-BA236A59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09A80-AA28-40FA-A9DF-7743D44A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D2D5A-DD78-4685-ACC0-50B15416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 bot de WhatsApp precisa encaminhar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EABA6-F765-4983-BD02-EB4B0DA2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66D4F-98D4-4AA5-9B38-B94B1834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6BCD0-2611-4655-99EF-BC5884DE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CC5EF-F92B-46C2-85A7-162A13A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“Minha cobrança veio duplicada. Consegue resolver?”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8A2C4-82EC-4268-A870-8C4D9735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O bot pode conversar como humano; em algum ponto, precisa escolher um destino concreto.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4DFA5-B363-42B3-ACA4-BBF698B6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TÉCNICO   ·   FINANCEIRO   ·   COMERCIAL   ·   HUMANO</a:t>
            </a:r>
          </a:p>
        </p:txBody>
      </p:sp>
    </p:spTree>
    <p:extLst>
      <p:ext uri="{BB962C8B-B14F-4D97-AF65-F5344CB8AC3E}">
        <p14:creationId xmlns:p14="http://schemas.microsoft.com/office/powerpoint/2010/main" val="653431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63820-CCD7-4FA1-80D3-7A674702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E6A6C-2492-4D88-B590-578A53B4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A81E8-E95D-418F-A46C-AD258F60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0D88B-8756-4471-B0ED-7BE588AE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Quando usar if; quando perguntar ao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FA549-4141-4895-959B-73FFF1AB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29057-733F-4B41-B5A7-D0D5B677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8B0CB-FFFA-460E-B63C-3A77E5B7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973E1-A8C8-40E4-862C-C9836D7D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24025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4E5B7-CA02-4396-9902-54E6905F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44958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(idade &gt;= 18) {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resposta = "sim"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 else {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resposta = "não"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05FA9-1FCD-413B-8F28-748D212C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24025"/>
            <a:ext cx="5619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A4A02-D823-4D9F-9DE9-F0C99E3D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51625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state: "Ela disse que já é maior de idade"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question: Noul(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"A frase afirma maioridade?"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)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answer: P(sim) → política → sim/não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93244-5980-4018-BE52-850733B2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Idade numérica conhecida: use if. Texto ambíguo: classificação probabilística.</a:t>
            </a:r>
          </a:p>
        </p:txBody>
      </p:sp>
    </p:spTree>
    <p:extLst>
      <p:ext uri="{BB962C8B-B14F-4D97-AF65-F5344CB8AC3E}">
        <p14:creationId xmlns:p14="http://schemas.microsoft.com/office/powerpoint/2010/main" val="9646381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A37A1-BC15-4C16-B5E5-C7C64671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DB79F-C59D-4642-AFE4-0E96067E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3978B-CDBC-49C9-99D4-010A6ECC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BF83F-4027-49D2-A0C6-0A9490D8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que é o Jev?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AE9DC-6954-4B62-9D2A-1A908B93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DCBC4-3275-4639-97CE-83759E01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E5A07-C338-4A89-9C27-CBA27E5C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782B4-3A20-43BE-AC29-84A38F21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DAA1B-4236-4F6E-93B7-C8B5F9AC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Modelo da TypeSafe para decisões tipadas sobre um estado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B59B1-583E-4CFF-A82B-27F92A23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98027-BF2D-4A81-AFFF-871D3962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Diogo Almeida trabalhou na OpenAI antes da TypeSafe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210F0-E5AB-4788-97CA-40AAC99B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9EE0B-749C-469D-B8E8-A9BEB4C5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Credencial é contexto; qualidade exige avaliação independente</a:t>
            </a:r>
          </a:p>
        </p:txBody>
      </p:sp>
    </p:spTree>
    <p:extLst>
      <p:ext uri="{BB962C8B-B14F-4D97-AF65-F5344CB8AC3E}">
        <p14:creationId xmlns:p14="http://schemas.microsoft.com/office/powerpoint/2010/main" val="15322586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55563-6C97-4ACB-A809-62431CE3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B5470-D26A-424E-9D79-872FF6E2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F9627-8175-4319-9A88-D4BD5F59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BDA4E-7A40-4736-87CE-A83B7F55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contrato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2CEFE-2F9D-45A4-80E8-147BEA08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48EB8-EC95-47F2-8645-7E4F945E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6ABDF-C45C-426F-82CD-A065A6D5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8DA20-9DFB-4481-9F1E-CA09EA10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DB95A-5F6A-47EB-BC5A-1C13BFFB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state + questions + opções ou critérios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8A6F1-C74B-4F94-B98E-6A5BFD0A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83F05-483B-4BF2-A7EC-1D51F2E8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Choice → escolha, probabilidades e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0DE7E-0D57-4100-BE07-72CD0277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60AD4-BDC1-4F2C-9F39-1BC615B8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Noul → probabilidade de sim; Score → nota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C36E4-B585-425A-AF88-E1693DC7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C94EA-59F2-45F9-84B5-53AE70A6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Seu código valida e age após a resposta</a:t>
            </a:r>
          </a:p>
        </p:txBody>
      </p:sp>
    </p:spTree>
    <p:extLst>
      <p:ext uri="{BB962C8B-B14F-4D97-AF65-F5344CB8AC3E}">
        <p14:creationId xmlns:p14="http://schemas.microsoft.com/office/powerpoint/2010/main" val="9245400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7A000-B7CD-40B3-99B4-ECD33F96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CEE1C-41BB-45F9-A693-9464592A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E6E10-2F1E-49C7-BABA-DDFD9DB8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9096D-8A24-4D14-B73A-79297AA2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Tokens de saída: o ponto econômico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B6E7F-E46C-4E1B-BB45-CE9D8A21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A2554-F526-47BF-96BF-DC65B281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CF3D3-C16D-4D15-92E1-C459CD4A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69F5C-4ECB-455F-AD72-CF15800E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Preço anunciado de output tokens: zero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A58F6-8C48-46FD-8B9B-74CBEBD6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Jev ainda contabiliza tokens de saída. No nosso harness: 69–71 por chamada. Há custo de entrada e de rede.</a:t>
            </a:r>
          </a:p>
        </p:txBody>
      </p:sp>
    </p:spTree>
    <p:extLst>
      <p:ext uri="{BB962C8B-B14F-4D97-AF65-F5344CB8AC3E}">
        <p14:creationId xmlns:p14="http://schemas.microsoft.com/office/powerpoint/2010/main" val="7655658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4C619-CADA-4310-881A-DA7429BE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675FF-99DC-4ADF-8468-F66158E4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95D4F-2FF3-4FC1-9F3D-F2DB76AA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83D39-8D74-414A-BF89-6970EA3C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Velocidade só importa junto com qualidade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AF926-13C5-4917-9779-471C35D3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47690-BA1A-455E-A420-CDB74B40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113D6-95EE-4851-9B67-73A9B59C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6DE58-FEC3-491E-AB8E-2BC1C88C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BFE1E-C35C-4EA0-BB6B-DD2FCF53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Alegações da TypeSafe vêm de workflows próprios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6C806-47F2-4186-9658-2CD2A6DD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02F63-982E-4489-A471-E7520A5A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Compare a mesma tarefa, p95 e qualidade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343C4-AE75-4D89-9D16-C71B409A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E544D-FDE4-4DD2-A908-A5660F08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Inclua custo de rede e custo do erro</a:t>
            </a:r>
          </a:p>
        </p:txBody>
      </p:sp>
    </p:spTree>
    <p:extLst>
      <p:ext uri="{BB962C8B-B14F-4D97-AF65-F5344CB8AC3E}">
        <p14:creationId xmlns:p14="http://schemas.microsoft.com/office/powerpoint/2010/main" val="15718194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2807B-B4D6-42B1-931B-FA4014C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AC9FC-74E9-4003-BFE1-F21C1CB8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C066E-54B4-4047-A79D-2769AA14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B4B5E-6EF4-48E5-9026-FF6E8606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LLM versus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31A31-7BEB-4010-80E9-8354DBEC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70E72-8262-4D29-92A5-DAD7E5F0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6F39B-16B1-419B-A097-E6269660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53750" cy="4210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191000"/>
                <a:gridCol w="4095750"/>
              </a:tblGrid>
              <a:tr h="7016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Critério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LLM generativo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Texto ou JSON gerado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Escolha/probabilidade tipada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Flexibilidade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Alta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Catálogo delimitado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Validação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Schema + política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Catálogo + política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Tokens de saída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Geração textual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Resposta compacta; preço anunciado zero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Melhor uso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Explicar e redigir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Roteamento e decisão fechada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5299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8F57C-B1A4-4B72-A27C-71BA1903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5A197-2BD6-4678-A035-F55D33A8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30E72-31D0-45E6-8512-EDE53068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633F3-D5B7-418D-B975-1BC3AB87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Choice na documentação oficial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7DB56-C9C8-490F-8128-4CA2A102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774F2-F861-4D15-BA48-FD43631D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00755-6114-4E0C-A3D1-62DCD010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960eeeff64b37"/>
          <a:stretch xmlns:a="http://schemas.openxmlformats.org/drawingml/2006/main"/>
        </p:blipFill>
        <p:spPr>
          <a:xfrm xmlns:a="http://schemas.openxmlformats.org/drawingml/2006/main">
            <a:off x="1653284" y="1447800"/>
            <a:ext cx="8866381" cy="4276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2824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467B6-035E-458D-AB46-C794105B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35243-36DE-401A-A1EF-7E15A741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2F95E-834B-498A-A45A-1E815A49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0B918-C245-45CC-8BA1-FEAE83F4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Playground: encaminhar uma mensagem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9DC43-9C09-4023-9921-870BDF4A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65D5F-1B61-4473-9AAE-6E5DA2C2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DB37D-11EA-4EC7-AC29-9D521906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0A881-4F73-45C0-9F8F-0B512636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2870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1D0C5-D48D-4DFF-AB92-8433F8E2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9829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state: "A integração de pagamento falhou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e a fatura foi cobrada duas vezes."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Choice: FINANCEIRO | TÉCNICO |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  COMERCIAL | HUMANO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6745A-F6DC-43DA-91F3-0207026F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720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Antes de executar: qual opção a sala espera?</a:t>
            </a:r>
          </a:p>
        </p:txBody>
      </p:sp>
    </p:spTree>
    <p:extLst>
      <p:ext uri="{BB962C8B-B14F-4D97-AF65-F5344CB8AC3E}">
        <p14:creationId xmlns:p14="http://schemas.microsoft.com/office/powerpoint/2010/main" val="6393935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C99BF-965B-44CD-AAC3-22832627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591E0-44F1-4CAB-A72D-8ECFCEB3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49E3E-1C3C-4F6A-888A-E13819C6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15F81-E571-4416-A72D-1A78FA69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Playground da TypeSafe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DC591-1EB5-4E48-9B67-9256AB1B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5D967-2E4A-4110-9FA6-C2EB6C8B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9245F-37C6-412E-9B1C-F1821413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2DAEE-EA3B-4F34-83F4-FC9B5682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5375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814D8-660B-40DB-82E2-CA84DB63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90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ÁREA PARA PLAYGROUND AO VIVO</a:t>
            </a:r>
          </a:p>
        </p:txBody>
      </p:sp>
    </p:spTree>
    <p:extLst>
      <p:ext uri="{BB962C8B-B14F-4D97-AF65-F5344CB8AC3E}">
        <p14:creationId xmlns:p14="http://schemas.microsoft.com/office/powerpoint/2010/main" val="479604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18EAF-1460-4C51-9F0B-695DB61B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58D4D-1666-4E93-A3FF-B3C91F48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FC675-3C67-4740-936D-C1D96DC7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FC30C-27C2-4427-92BC-1729E96B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 chamada em código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82914-A6BF-4042-83C5-12FC1190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BC39E-8FCC-44A5-90F6-D65B5770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710C8-E303-4D3D-92E1-F9476495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DF0EA-54C9-407C-8C2E-5F1D76F1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71625"/>
            <a:ext cx="1066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DC21A-73EB-4DBC-B4D3-36848D03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33550"/>
            <a:ext cx="1021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POST https://api.typesafe.ai/v1/systemone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{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"state": "...",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"model": "jev-...",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"questions": [{ "type": "choice", ... }]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route(validate(answers["departamento"]))</a:t>
            </a:r>
          </a:p>
        </p:txBody>
      </p:sp>
    </p:spTree>
    <p:extLst>
      <p:ext uri="{BB962C8B-B14F-4D97-AF65-F5344CB8AC3E}">
        <p14:creationId xmlns:p14="http://schemas.microsoft.com/office/powerpoint/2010/main" val="20418994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9CA7E-2963-4706-B939-453C5115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BDEA9-E5A6-4B98-AFFB-57B40F00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FEC8F-8EE9-4E89-909C-F2913F6C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28B87-2770-494F-94C2-171D1709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 básico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A83AD-0AD8-4E11-B740-63761E34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9750D-B5DD-4D40-88DA-98AF899F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3BF29-32FC-44FA-8DFB-CCBEC879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1D0B2-5578-4FA3-BD01-B29E971B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6EDCD-FDC9-4314-8D9B-5BD443D0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estado s, ação a, novo estado s’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C3472-6B49-402D-ABEF-6BE8D352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01E7E-7F34-4166-9892-4D7CDAF1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recompensa do ambiente 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9A76F-D5AF-4659-A3A3-49569F16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ECAC5-FA42-48AD-8612-057DF7BC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π(a|s) busca retorno esperado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87BA5-3A82-4C06-8DF1-4761DE6C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610039-D9EF-4F52-8BA3-3FCC75B0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ação sob a política aprendida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A558E-2CD9-41CE-8BE6-62B53634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9B97B-E1FF-47FB-8A6F-EF186662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recompensa mal definida induz atalhos</a:t>
            </a:r>
          </a:p>
        </p:txBody>
      </p:sp>
    </p:spTree>
    <p:extLst>
      <p:ext uri="{BB962C8B-B14F-4D97-AF65-F5344CB8AC3E}">
        <p14:creationId xmlns:p14="http://schemas.microsoft.com/office/powerpoint/2010/main" val="15688087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A0AC88-7B82-4682-A881-D532F357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38C28-CDB2-4998-9FF5-062D0892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C0B45-5EED-492F-B746-28C6FF70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CA351-C41A-4DFF-A27C-33C9E778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RLHF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8B40A-D46F-41F1-A025-213DDB01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A7BA8-AD48-4650-B127-787AAD7B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4BAD3-5041-48CD-A47C-62C76232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9A821-E640-4F49-A797-9E3001C6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67DC1-4E3C-4733-99BD-86A2060D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respostas alternativas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5BB0A-E03C-4FEA-B29E-7C97820F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0A064-DB8B-4D60-80C1-8B3FFE55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comparações/preferências humanas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E37C5-95EE-4D91-8B87-ABE64D3C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F8456-EB84-43CD-8FCB-AB6E6B69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favorece respostas preferidas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C0CD9-C7CC-4C08-9CA6-81F7DD82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57D89-A0E0-4914-B96E-62E7826B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resposta alinhada à preferência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18DA6-BF33-4384-BC50-9E3CF1C6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331BE-0662-42E7-B878-5730BD96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preferência não mede calibração</a:t>
            </a:r>
          </a:p>
        </p:txBody>
      </p:sp>
    </p:spTree>
    <p:extLst>
      <p:ext uri="{BB962C8B-B14F-4D97-AF65-F5344CB8AC3E}">
        <p14:creationId xmlns:p14="http://schemas.microsoft.com/office/powerpoint/2010/main" val="7218847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A6A50-4799-447A-9727-8A08F4D4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3F37B-790A-47BF-95A2-DB7E7926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EE99E-8512-467B-AF42-CDA460F3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F01AC-E36F-4532-A323-E045873C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RLVR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F14CF-D506-4A84-A6B4-563D23C4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349A2-7E72-40E0-A21B-C5382184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6CACD-E4D5-4833-8390-1D85A757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35B32-EE9C-437C-903E-B28C332B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0905D-6A37-4A02-A30B-995BB1CF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tarefa com resposta verificável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8077F-C157-46F0-9579-A23152B4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C1354-2E35-403D-91E2-5859EB83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teste, prova ou resposta objetiva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06775-AAA6-473C-A97C-2A4807A7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B6D2A-2A16-4A53-8501-7BB2A00A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favorece respostas verificadas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B7873-BA09-4E3A-95D2-DC5041C0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06E48-A668-41AA-A039-79BF22F4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resposta correta no verificador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ED814-38D9-4D53-9947-B0E0A20F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5CF100-B631-465D-8195-5F77D873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acerto não calibra probabilidades</a:t>
            </a:r>
          </a:p>
        </p:txBody>
      </p:sp>
    </p:spTree>
    <p:extLst>
      <p:ext uri="{BB962C8B-B14F-4D97-AF65-F5344CB8AC3E}">
        <p14:creationId xmlns:p14="http://schemas.microsoft.com/office/powerpoint/2010/main" val="18091208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6717CE-B1AF-4466-A49C-CCE5CAC2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DA529-FB9C-4C44-80CB-A00C2D1C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D0605-06C4-40FF-A291-61DA2D47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96CAB-CC73-423B-8587-245762E9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EA1BD-A135-4CA8-A6F2-E988B662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B5D1A-EC95-47F1-B2C2-DE58DFD9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AF3FC-717C-4ED9-BCC4-227507A5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9F9EF-5B04-419F-93AB-FB3C033C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4DDCE-17BF-4B93-B479-3193C331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estados e decisões tipadas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A6F1A-DA31-439A-BD0B-B22D00E8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859A3-A67A-4EB7-8AAD-F96BC2BD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objetivo público de decisão calibrada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BA020-38DB-4E1B-BF17-4143776D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24D98-B29E-4B85-8AD5-43613FD6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receita interna não divulgada em detalhe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B6C51-4FCC-416D-AEAE-0E734D0D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2945D-5A2B-423A-A251-C02A8C15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escolha + distribuição probabilística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9366E-BC48-4862-8B06-545F6672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75A93-A20B-40B9-A690-85D906F1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claim pede avaliação independente</a:t>
            </a:r>
          </a:p>
        </p:txBody>
      </p:sp>
    </p:spTree>
    <p:extLst>
      <p:ext uri="{BB962C8B-B14F-4D97-AF65-F5344CB8AC3E}">
        <p14:creationId xmlns:p14="http://schemas.microsoft.com/office/powerpoint/2010/main" val="8219512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69873-0523-485B-9C24-CBB26516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FDB1D-FD91-45DF-AD60-302EAB2E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08A88-509C-4EBE-B5C3-5BBC5006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C6A01-951A-4ABC-B56D-1B5DB3C1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Calibração: o que 0,8 deveria significar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2B943-55C7-493F-A8FB-64119F1D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8BB4D-6B62-418C-B285-28C97AFA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B90AB-FF04-404E-A40D-1198B3E1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62FBF-643A-427E-94B1-DEFC2A66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100 decisões com p = 0,8  →  cerca de 80 acertos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62619-A8F0-431E-B60B-44E68C49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É uma frequência em grupo de casos comparáveis, não promessa para um caso individual.</a:t>
            </a:r>
          </a:p>
        </p:txBody>
      </p:sp>
    </p:spTree>
    <p:extLst>
      <p:ext uri="{BB962C8B-B14F-4D97-AF65-F5344CB8AC3E}">
        <p14:creationId xmlns:p14="http://schemas.microsoft.com/office/powerpoint/2010/main" val="10224023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0678A-067C-416E-9BD1-EE261386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ECF2C-0387-4FC5-A6FB-6383E14C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0E969-0899-47A6-97AC-43761AC9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B3B57-EBE2-41F5-B497-7CEB4ECE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Três medidas, três perguntas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9ED9B-4139-4B5F-A304-FDA9F131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F7D8D-3AF0-4684-9BB7-D0A1868E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E134E-DD5B-48B9-83FF-85519860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E2D57-8032-4B22-BAEF-A5EC5104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790C5-7514-491D-9096-C86EEBC4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Accuracy / macro-F1: qual opção foi escolhida?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5B063-4C54-4186-891B-47E1113E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99CFD-AE85-43AE-BA49-D51FCEB7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Brier / ECE: as probabilidades batem com a frequência?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D74CB-DBC8-444C-8560-CB484EAA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62B86-15EF-4349-B40D-55E5DFD4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Falsos aceites: qual erro pode iniciar uma ação perigosa?</a:t>
            </a:r>
          </a:p>
        </p:txBody>
      </p:sp>
    </p:spTree>
    <p:extLst>
      <p:ext uri="{BB962C8B-B14F-4D97-AF65-F5344CB8AC3E}">
        <p14:creationId xmlns:p14="http://schemas.microsoft.com/office/powerpoint/2010/main" val="2360762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AD00C-62D9-4D2E-AB5A-4665E98D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871E1-CC65-436B-9EBA-7FD814B2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2549E-77CB-49A0-BF78-4E756115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C66E7-B623-4A00-AF87-9D9B35D4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RL, RLHF, RLVR e RLCD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3AC68-618F-46E1-B562-C9259F4C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3CFCF-5747-4AD1-A5BF-855245C5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98632-5DBD-4510-899B-80DD3DB5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19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53750" cy="3476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2571750"/>
                <a:gridCol w="3048000"/>
                <a:gridCol w="3524250"/>
              </a:tblGrid>
              <a:tr h="6953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Família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Sinal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 que busca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Limite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Recompensa ambiente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Retorno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Reward mal definida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RLHF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Preferência humana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Resposta preferida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Não garante calibração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RLVR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Verificador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Acerto verificável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Escopo do verificador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RLCD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Objetivo TypeSafe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Decisão calibrada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Receita e ablações não públicas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7382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E0AEF-EB98-49AC-A75E-E93C13BD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7593E-F47A-42AF-958F-DD130A57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7BE69-3019-4B15-9173-33B9C114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0DC06-FA85-4976-8B0A-D29DB746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Emojis conforme a frase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83882-21AF-4879-B565-83D33DEF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12585-1964-46D4-A76B-71542EFC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E131E-DC7B-4186-A000-340C457D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ACBD5-3013-4272-9CB1-9E1620DB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7EF96-2AF7-4373-888E-122CA13D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A7303-EB7D-4941-B046-CB986640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Stefan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344C9-F3A4-4204-A08B-AC0522D2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Texto → catálogo de emojis →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54B30-7D14-48F7-B8AE-8F468C28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https://x.com/heystefan_/status/2101369117496521042</a:t>
            </a:r>
          </a:p>
        </p:txBody>
      </p:sp>
    </p:spTree>
    <p:extLst>
      <p:ext uri="{BB962C8B-B14F-4D97-AF65-F5344CB8AC3E}">
        <p14:creationId xmlns:p14="http://schemas.microsoft.com/office/powerpoint/2010/main" val="10338550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0DC0F-6040-42EC-B988-8BAC4F69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50E05-D9C0-47B6-9371-41782E1A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FB557-0A8E-418E-9EDE-CF8E7C6D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F08BC-33D4-44AA-BF09-B6144EC6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Escolher a skill antes do contexto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7A077-6299-4AA2-AE7E-CF5CF334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EBBB5-956D-4625-9E84-3264BEB4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510E9-5064-477A-B8CB-B5D12353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17A5A-E3DA-4C86-9750-3DAA3C03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9216A-8DBB-4B73-A7C2-9412AB69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02EAE-F5F9-4835-9C9F-3E4EBC01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Daniel Avila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8D7B8-8DF1-4F90-BB82-549E2A4E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Pedido → catálogo de skills → carregar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1F14F-E291-4677-834A-558EA958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https://x.com/dani_avila7/status/2101885477158547753</a:t>
            </a:r>
          </a:p>
        </p:txBody>
      </p:sp>
    </p:spTree>
    <p:extLst>
      <p:ext uri="{BB962C8B-B14F-4D97-AF65-F5344CB8AC3E}">
        <p14:creationId xmlns:p14="http://schemas.microsoft.com/office/powerpoint/2010/main" val="14793793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DF1AE-5198-43A2-8D57-92097467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E0427-A4C1-4053-8FA2-CFB87A39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B2CB2-1D91-4ABD-B71D-8977B05F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7829D-9E73-43A1-A999-04A47143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Triagem de PR e economia de 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7B618-CFB0-4624-9E9C-A5DF7F7F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EB459-B1FA-4F3B-813B-3B286516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52D0D-DE9E-4A1E-B94A-F09544B1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D1811-5174-4F82-88ED-BC65976C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F54D7-4388-4217-A3E5-2CF80786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0B408-9E91-43D5-9475-E9EA8920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PR Judge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B2776-458B-497B-8A50-A36E6941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Diff limitado → SAFE / REVIEW / BLOCK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44D64-598D-4F97-B190-7894908C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https://jevtypesafeai.com/tools/pr-judge</a:t>
            </a:r>
          </a:p>
        </p:txBody>
      </p:sp>
    </p:spTree>
    <p:extLst>
      <p:ext uri="{BB962C8B-B14F-4D97-AF65-F5344CB8AC3E}">
        <p14:creationId xmlns:p14="http://schemas.microsoft.com/office/powerpoint/2010/main" val="1737113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74BFD-74F3-444C-9062-254B0462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F20BB-FEDC-4B2F-826E-0D4AD6A5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26663-78D2-4061-B0FA-4CB51FB8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8EC07-A8F9-4C97-B4DC-38A6BD7A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Xadrez: Jev, Fable e Astra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1C857-625E-4958-8312-4CE8D190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9D148-CB6E-4F41-B7AC-91646A71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ED485-5C57-4E46-A8FE-F97288C2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B228E-4477-4125-A0ED-25C348B0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2C3DC-CE2C-44F5-BCDB-2949788F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595A8-536A-4971-B972-FF03CE78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Thread pública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6E933-7A05-45FD-8ABD-CB31817A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Blitz 5+0; Jev vence Fable no tempo; Astra dá 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4BC5E-0A54-4A18-AEDF-7416A166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https://threadnavigator.com/thread/2100372930282573876/</a:t>
            </a:r>
          </a:p>
        </p:txBody>
      </p:sp>
    </p:spTree>
    <p:extLst>
      <p:ext uri="{BB962C8B-B14F-4D97-AF65-F5344CB8AC3E}">
        <p14:creationId xmlns:p14="http://schemas.microsoft.com/office/powerpoint/2010/main" val="141028839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3413D-DD13-4B90-B664-AC02F707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5BF74-F5FD-4862-9F09-0DEBEA35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23EEB-20CF-46A6-B49D-1EA792D8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67A41-A2D2-4CD8-8037-CF118183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JevPilot em simulação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5C898-4726-4080-A262-12285A24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A2217-78B0-4472-858E-3CA0989B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08EE6-056D-469B-AA68-FB9E3BBA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49C3A-ED5B-4868-8BA6-7CF22CAB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F1C44-7143-422C-B137-5F7CBF14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65C1D-5E2F-46CA-8B1E-3CCC97FE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Justin Schroeder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652C9-5F98-4524-9DB2-4B0070C6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HighwayEnv → ações fechadas → freio em código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08CB4-89AF-43E4-AF4C-857806BB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https://x.com/jpschroeder/status/2100347770867458384</a:t>
            </a:r>
          </a:p>
        </p:txBody>
      </p:sp>
    </p:spTree>
    <p:extLst>
      <p:ext uri="{BB962C8B-B14F-4D97-AF65-F5344CB8AC3E}">
        <p14:creationId xmlns:p14="http://schemas.microsoft.com/office/powerpoint/2010/main" val="18677251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5E313-1CFC-4E12-89CB-A5F053C6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C235D-0FAD-468B-9816-68B76E86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F55E2-87AE-4E38-B912-6280C073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C31F7-B4A1-4AB1-8732-A56433BB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 rápido, mas ainda pode errar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44BF3-F7EB-4A98-9A16-AD1D640C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39D37-9EFB-4B1E-B78D-F23C2BAA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7F3A6-A00C-4956-A861-1858225C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5C6C9-31BA-4FD8-B4B2-3D53EE44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22671-29D6-4E95-8CB1-895B2BC6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 tipada não garante decisão correta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743F3-FFAD-462A-93BB-1D2B5CD3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62F81-6383-45DF-8A5A-5EB7A90E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Laya: latência curta reportada em M3 Max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E2CD4-72F8-4283-9F1C-12DCF0B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218F2-4069-44F8-9644-234A4930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Sem comparação pareada Jev × Laya no Android</a:t>
            </a:r>
          </a:p>
        </p:txBody>
      </p:sp>
    </p:spTree>
    <p:extLst>
      <p:ext uri="{BB962C8B-B14F-4D97-AF65-F5344CB8AC3E}">
        <p14:creationId xmlns:p14="http://schemas.microsoft.com/office/powerpoint/2010/main" val="14487001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1A95C-A819-4A61-AB1C-87503850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9F5DE-224B-4607-B357-3AAFB3E5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EAF26-F961-489E-A9DD-A7ED35DF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CBF58-CA5B-4C89-9B3C-A6FBF793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Maestro: contexto do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7B0B3-9EFB-4029-863D-640CDDE1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252AF-ADAF-475B-A02C-0468F08B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2F80E-B944-4585-99E6-61CE92BC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FBEDF-8F54-42EE-A1FF-FABE7B35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Máquinas autônomas ainda pedem uma interface de operador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273FE-0729-4466-80D5-3B7F7793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AgroTurtles · AI Glasses Brasil 2026 · MVP pré-hardware</a:t>
            </a:r>
          </a:p>
        </p:txBody>
      </p:sp>
    </p:spTree>
    <p:extLst>
      <p:ext uri="{BB962C8B-B14F-4D97-AF65-F5344CB8AC3E}">
        <p14:creationId xmlns:p14="http://schemas.microsoft.com/office/powerpoint/2010/main" val="19122215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A46F1-D356-4024-BD90-942DC3D1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BBD5B-F909-4D2A-868D-3108AA8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6DF71-88B0-4845-950E-0559EF5F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2FC18-8F54-459F-8495-5D224E3E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 ideia: olhar, falar, confirmar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D4E5E-A50B-4C98-9A34-DF09606F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03C57-157F-40CD-B95E-640A902E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C2808-B5A5-4564-99F0-2B59F842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D5644-07BB-4749-8306-C8D5A711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B9670-79A6-46A5-B5AD-167A487F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Olhar: QR/marcador ou talhão mapeado define alvo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6DF1F-39F5-4B8E-8823-1771C5B8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7AAE9-F92F-4FD7-B7EC-5064B778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Falar: comando em linguagem natural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89A39-9451-4532-93DC-546FABD3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37E3F-CA87-48FD-AC5D-0EB58DD7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Confirmar por áudio antes da ação física</a:t>
            </a:r>
          </a:p>
        </p:txBody>
      </p:sp>
    </p:spTree>
    <p:extLst>
      <p:ext uri="{BB962C8B-B14F-4D97-AF65-F5344CB8AC3E}">
        <p14:creationId xmlns:p14="http://schemas.microsoft.com/office/powerpoint/2010/main" val="10510880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0BA52-CF3A-455A-98C7-C51F3CA1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55513-6D24-40C4-B3FC-76905E5D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1F31E-66AF-45B5-A904-6ABDAA1A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BD77E-BB3E-4A8B-846B-BD56F67B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Do comando ao robô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F81C4-DECE-499D-B013-307D5C1D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C4D75-7521-4F0E-9398-7CDDDA82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486DF-790C-45C0-A57A-49137783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99756-4A41-45F9-A5B7-7381B0AD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CÂMERA / VOZ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9BD97-70B3-45C3-9CC9-BDD6952F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002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552C3-BA05-4A35-BAD5-E2B1A391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DECISÃO TIPADA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098B8-E4FB-4D32-8E44-5C125836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0002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8A386-C3F7-4765-B7CF-6AA0AEA4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00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REGRAS + ESTADO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27C95-1503-4905-B1FE-BA72BA1A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CONFIRMAÇÃO  →  COMMAND JSON  →  ROS / GAZEBO</a:t>
            </a:r>
          </a:p>
        </p:txBody>
      </p:sp>
    </p:spTree>
    <p:extLst>
      <p:ext uri="{BB962C8B-B14F-4D97-AF65-F5344CB8AC3E}">
        <p14:creationId xmlns:p14="http://schemas.microsoft.com/office/powerpoint/2010/main" val="18842816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13C03-98B5-49C1-927D-8D908433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AF4FC-C8FC-4997-9BE8-7ABB4508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BBB47-8CBC-4AFD-A182-D9AF165A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4670E-920C-4837-B357-8511BA26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QR: captura sob demanda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6FEAE-9148-40B1-A428-60DD9CA1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AB18A-DCDD-4DF4-9899-CFEDD872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06AD0-7CA4-4B10-AED0-E5D7B495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4B263-88A2-47E6-9721-F15C142B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E0280-A5E5-49EC-BEBD-13BF83B8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Frame temporário na memória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E3E1E-0530-4DDA-BB4A-DC83BDAB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D4351-92AE-416E-BDDE-D05A806F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Decoder local extrai target_id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135BB-4B09-4928-B366-45D0C5E0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06450-5420-4A42-AB28-01A34E97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Foto, áudio e transcrição não são persistidos por padrão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DD128-2C0F-4ABB-B2EE-0703E187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E8D5F-36A0-4C82-91EB-C21C3658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 fala segue fluxo separado</a:t>
            </a:r>
          </a:p>
        </p:txBody>
      </p:sp>
    </p:spTree>
    <p:extLst>
      <p:ext uri="{BB962C8B-B14F-4D97-AF65-F5344CB8AC3E}">
        <p14:creationId xmlns:p14="http://schemas.microsoft.com/office/powerpoint/2010/main" val="127170981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098877-1FA6-42B3-8AE4-63144197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DCFE2-B6BC-4FF2-8E7D-6FDF8A49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04069-63A6-489E-8AAB-E8D09A86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41306-E767-484A-9FD2-84C5726F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Antes de enviar uma transcrição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0ABA4-2082-4114-BD2A-0DD5CB6E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35607-A6B8-4E22-8B5C-58C4BDFA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F8F01-CA72-4CEE-A43F-E0B43141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BFC4E-FBDE-49F3-AEDB-9EE7B22E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1F05B-2E02-411E-A389-62F28D67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Consentimento de sessão no mockDebug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6E89C-0F78-42DA-9476-87F87487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9D61B-17A4-4266-8D0B-B3502C56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Gate no app e no proxy antes da rede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E9799-445F-4181-8021-405B8787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A604E-99D0-4645-9A6C-13A80B2E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Padrões evidentes: CPF/CNPJ, e-mail, telefone,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AAE5C-5F10-47F7-94D1-0C81FFA1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5EE8D-B8AE-40F8-BACC-35BFA648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Não é detector geral de dado pessoal nem anonimização</a:t>
            </a:r>
          </a:p>
        </p:txBody>
      </p:sp>
    </p:spTree>
    <p:extLst>
      <p:ext uri="{BB962C8B-B14F-4D97-AF65-F5344CB8AC3E}">
        <p14:creationId xmlns:p14="http://schemas.microsoft.com/office/powerpoint/2010/main" val="4455445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B7864-8447-4198-9D61-24B2B324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2265E-238A-45E8-BB5E-F651DF1D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0E705-45BC-46D0-A1DD-4B6DFA5E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84A46-BF06-4444-866A-D5B6B4FC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Seis classes Jev; missão composta fora delas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007E4-8F5C-409F-AB66-2DCCF936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F8574-8B3F-4CF4-80A1-F45FF281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D9124-23F7-4CEB-9A90-A50D5555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D4F48-BB2F-4C26-BF8A-55EF2570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43100"/>
            <a:ext cx="10763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SPRAY  ·  DOCK  ·  UNDOCK</a:t>
            </a:r>
          </a:p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CONFIRM  ·  CANCEL  · 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C8A9C-E61A-42A0-B8F9-6ECB5615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052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MISSION_PREVIEW e consultas: rotas locais separadas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4ACC3-4CE0-4C12-AB8B-9C0CBB3E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434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Missão composta: parser/executor determinísticos + confirmação por ação física</a:t>
            </a:r>
          </a:p>
        </p:txBody>
      </p:sp>
    </p:spTree>
    <p:extLst>
      <p:ext uri="{BB962C8B-B14F-4D97-AF65-F5344CB8AC3E}">
        <p14:creationId xmlns:p14="http://schemas.microsoft.com/office/powerpoint/2010/main" val="80654841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94BC6-4DF7-420C-945A-3F07487D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FF138-EDE9-4A0C-9144-74139F08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1F5C0-2DB1-4673-9997-D73E5769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7B873-E336-4D50-BF07-745C476B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Código real: Android chama proxy 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F5451-943D-4F64-BD0F-24F4CE93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6E137-9FFF-47F9-8E93-ADE2625B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02B68-B4C1-4797-80F8-86F86386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04A59-3840-4768-8B20-8434CC50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066800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E4B3B-59AC-45B4-9325-0E46B7DF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57375"/>
            <a:ext cx="10210800" cy="3419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val body = JSONObject()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.put("transcript", text).toString()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val request = Request.Builder()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.url(LOOPBACK_URL).post(body).build()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const val LOOPBACK_URL =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"http://127.0.0.1:8787/v1/intent"</a:t>
            </a:r>
          </a:p>
        </p:txBody>
      </p:sp>
    </p:spTree>
    <p:extLst>
      <p:ext uri="{BB962C8B-B14F-4D97-AF65-F5344CB8AC3E}">
        <p14:creationId xmlns:p14="http://schemas.microsoft.com/office/powerpoint/2010/main" val="196457619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D90F2-A659-4493-9D0E-C8B59004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B222B-B3B1-42E5-BA1E-BB36D9A4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77DCC-14D5-4653-852F-B6A73019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A364C-0AD2-4405-994B-017EBFA7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Código real: validar ou recusar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52AF6-DDB3-4CB9-BEA7-AD9F2295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21BCA-E8D8-464E-AC01-B2269FC8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4F188-A4AC-4C82-8F19-25CEF23C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86E50-E3A8-44EF-84A6-1BF5BE7B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7632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468F5-83AC-4C2D-87EF-9B3B102C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10306050" cy="40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(choice !in SUPPORTED_LABELS ||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probabilities.keys != SUPPORTED_LABELS) return false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(probabilities.values.any { !it.isFinite() })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return false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(abs(probabilities.values.sum() - 1.0) &gt; 0.001)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return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return if (prediction.confidence &lt; 0.40)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unknown() else prediction</a:t>
            </a:r>
          </a:p>
        </p:txBody>
      </p:sp>
    </p:spTree>
    <p:extLst>
      <p:ext uri="{BB962C8B-B14F-4D97-AF65-F5344CB8AC3E}">
        <p14:creationId xmlns:p14="http://schemas.microsoft.com/office/powerpoint/2010/main" val="155332305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35615-B663-446A-B4FB-49DAB2F7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83870-DA57-489B-B7BC-A2D9C308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9108B-3D0E-463A-8C37-B26FCCC5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44B4B-1544-442B-B12F-AC7E8B29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Comparação no corpus sintético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48C22-2F7F-4F4F-82E8-C0A911EE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1E0BC-D251-4C42-884B-CD62EA3B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F7BE3-F87D-4E85-AA67-101FF7AC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34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53750" cy="3581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10000"/>
                <a:gridCol w="3571875"/>
                <a:gridCol w="3571875"/>
              </a:tblGrid>
              <a:tr h="7162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Métrica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Local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Acerto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54/60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48/60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Macro-F1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0,9010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0,8026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p95 no host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2.100,575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0,293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ECE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0,0787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0,0810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B72AD-317C-4632-8E3A-5DB58487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Uma rodada · 60 falas sintéticas · custo Jev US$ 0,001472394</a:t>
            </a:r>
          </a:p>
        </p:txBody>
      </p:sp>
    </p:spTree>
    <p:extLst>
      <p:ext uri="{BB962C8B-B14F-4D97-AF65-F5344CB8AC3E}">
        <p14:creationId xmlns:p14="http://schemas.microsoft.com/office/powerpoint/2010/main" val="106499153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99B5A-9C19-4EDF-BECF-23DA65DC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415BB-7E3F-451F-AA52-B6B604DC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3D3AD-C622-46FA-99E4-0C16B30A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AD0A1-FF4E-48AB-83BF-C5B976BF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 erro crítico manteve o experimento em HOLD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83AD1-AA81-42DC-AEDC-EB207CF1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B9326-E405-4B91-A854-F272D960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BDBC5-12BC-42B8-9C02-A8FA5DAB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EFAF8-ECDC-44BD-B099-1A8679A9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CANCEL → CONFIRM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485D7-90A6-4583-AE6B-5F2E090F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Probabilidade da escolha: 0,75. Melhor média não basta para uso operacional.</a:t>
            </a:r>
          </a:p>
        </p:txBody>
      </p:sp>
    </p:spTree>
    <p:extLst>
      <p:ext uri="{BB962C8B-B14F-4D97-AF65-F5344CB8AC3E}">
        <p14:creationId xmlns:p14="http://schemas.microsoft.com/office/powerpoint/2010/main" val="68892840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9FEBE-12EB-4C20-BE92-8E753E2D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A21FD-A458-43E7-9086-EC24D6C7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7914A-4401-4000-A4FD-0D1DE7E6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D2E22-1699-4711-8C5F-FC0A5CAF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Demo: Maestro + Jev + Gazebo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6738E-695B-4C62-BBCE-CB245088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25FC7-FE8E-4E8A-8CD9-656FB8C0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883FB-AB41-4054-95A6-6E477751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D1C87-B35D-4F84-B6F5-0B9D21FE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9C21B-C19E-4D1B-99FD-8C0B71D9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1F652-442D-488B-B286-51B00420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Demonstração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154DA-689A-4536-8FA1-7F91BBBD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Android → Jev → confirmação → robô simulado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41711-4CFD-4664-9179-19C89D07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vídeo próprio a inserir</a:t>
            </a:r>
          </a:p>
        </p:txBody>
      </p:sp>
    </p:spTree>
    <p:extLst>
      <p:ext uri="{BB962C8B-B14F-4D97-AF65-F5344CB8AC3E}">
        <p14:creationId xmlns:p14="http://schemas.microsoft.com/office/powerpoint/2010/main" val="140840129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8F418-6EFE-4A9F-9B63-65729201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B8688-168E-4AF5-ABA7-959A141E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B3F7F-ADFF-4FDF-AC59-1C684E67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BB1E9-C09A-476B-8C73-92C20D19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Reserva de demonstração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B72B9-15E6-4B19-BBE0-CA5C87DE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10D39-3463-429E-9B68-D7A501DA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B25BF-9942-4984-908A-C62C12B6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2D440-4D93-4A44-BBD4-5B5A88CD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5763B-B58F-462E-8E6B-67571D0D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D5C24-6DD5-443B-83E7-7BC89EE9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Fallback offline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CC9F2-934A-44E8-A86B-A8DB9F87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Fixture mock local; não executa o robô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D257D-3403-4B39-83AF-289FCBBB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results/offline-demo</a:t>
            </a:r>
          </a:p>
        </p:txBody>
      </p:sp>
    </p:spTree>
    <p:extLst>
      <p:ext uri="{BB962C8B-B14F-4D97-AF65-F5344CB8AC3E}">
        <p14:creationId xmlns:p14="http://schemas.microsoft.com/office/powerpoint/2010/main" val="163321144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91297-0002-4F48-A126-42AD8AE6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6AA66-68D9-49D6-A2F7-C042E21B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138CB-862D-47D6-AAFA-40F045A5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2748A-7D24-4FA2-BF30-55AD56DE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Conclusão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78F4B-8FC4-4C09-BC68-1C0B0526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04F51-01CC-40EE-924E-BF6A712D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39DFE-3FF2-40F7-9B69-7A00486C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40440-19A7-4FC7-BA2F-88B3B30F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A3459-5F8B-41A8-B29B-61110809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é uma hipótese útil de classificação tipada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9DB61-A97E-40FC-A947-E038DA4D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CA0DF-08BB-4952-9C2C-EE208FC4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RLCD pede avaliação reproduzível de calibração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F5C02-3691-4FD5-B251-9BDCC661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ED4E0-A788-4F4C-9A99-169278E5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 Maestro, alvo, estado e confirmação ficam fora do modelo</a:t>
            </a:r>
          </a:p>
        </p:txBody>
      </p:sp>
    </p:spTree>
    <p:extLst>
      <p:ext uri="{BB962C8B-B14F-4D97-AF65-F5344CB8AC3E}">
        <p14:creationId xmlns:p14="http://schemas.microsoft.com/office/powerpoint/2010/main" val="287062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06A9E-160A-43AB-A160-7FBAB175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A9498-9F7E-43EF-AEF6-03DDBFA2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7730C-64AC-428E-818E-F7B96E09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BAB5F-C400-42D2-8BEF-C55A63C0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Para discutir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439E6-CB93-47DA-ABCF-3100BFCE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11A7B-42A9-4A2D-B7A5-6C032A28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0B2C0-50F5-4616-A762-93A4B9F1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2CAF2-FA85-4737-BA47-41D41418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A1206-DEEA-4D54-B827-F1E985CA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Qual reward e quais ablações demonstrariam RLCD?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DA09A-8D9A-461F-AA8A-136E05BD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1D4CE-410A-42AC-AEDD-3E4AB988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Que holdout com ASR real reabriria o HOLD?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33FDF-8296-4BB6-ABED-11B53176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FFB4B-66FA-4FB3-B0B0-01CC05FB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Quanto custa um falso aceite diante do robô?</a:t>
            </a:r>
          </a:p>
        </p:txBody>
      </p:sp>
    </p:spTree>
    <p:extLst>
      <p:ext uri="{BB962C8B-B14F-4D97-AF65-F5344CB8AC3E}">
        <p14:creationId xmlns:p14="http://schemas.microsoft.com/office/powerpoint/2010/main" val="140894755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CD094-DA7B-49FA-8816-0E04675E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0D8A0-E320-46CD-B7CF-7986CE04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D5EEC-0CEC-4468-8B53-C8FC1A71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0FB38-4418-4BED-825B-E9ECA766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Obrigado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C4BE7-E27D-474B-90EC-0187688A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E157B-E59B-4ED0-A3B7-B3CDA5AD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FC5E6-9D16-4EF5-AD92-798E9822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FF12C-68CC-4766-AB36-1F0FF586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Obrigado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4DDAE-2CD8-4AD0-AA84-59EAEE49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Jev · Reinforcement Learning · Maestro Agrícola</a:t>
            </a:r>
          </a:p>
        </p:txBody>
      </p:sp>
    </p:spTree>
    <p:extLst>
      <p:ext uri="{BB962C8B-B14F-4D97-AF65-F5344CB8AC3E}">
        <p14:creationId xmlns:p14="http://schemas.microsoft.com/office/powerpoint/2010/main" val="2014017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2026-09-27T00:56:33.9760000Z</dcterms:created>
  <dcterms:modified xsi:type="dcterms:W3CDTF">2026-09-27T00:56:33.9760000Z</dcterms:modified>
</coreProperties>
</file>