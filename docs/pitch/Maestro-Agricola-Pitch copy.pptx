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Clique para mover o slide</a:t>
            </a:r>
            <a:endParaRPr b="0" lang="pt-B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t-BR" sz="2000" spc="-1" strike="noStrike">
                <a:latin typeface="Arial"/>
              </a:rPr>
              <a:t>Clique para editar o formato de notas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t-BR" sz="1400" spc="-1" strike="noStrike">
                <a:latin typeface="Times New Roman"/>
              </a:rPr>
              <a:t>&lt;cabeçalho&gt;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pt-BR" sz="1400" spc="-1" strike="noStrike">
                <a:latin typeface="Times New Roman"/>
              </a:rPr>
              <a:t>&lt;data/hora&gt;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pt-BR" sz="1400" spc="-1" strike="noStrike">
                <a:latin typeface="Times New Roman"/>
              </a:defRPr>
            </a:lvl1pPr>
          </a:lstStyle>
          <a:p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FECE0E06-6AF3-481C-BC17-A90DF0CC7FCD}" type="slidenum">
              <a:rPr b="0" lang="pt-BR" sz="1400" spc="-1" strike="noStrike">
                <a:latin typeface="Times New Roman"/>
              </a:rPr>
              <a:t>&lt;número&gt;</a:t>
            </a:fld>
            <a:endParaRPr b="0" lang="pt-B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Imagine um operador no meio da lavoura, com as mãos ocupadas, acompanhando um robô autônomo. A máquina já navega; mesmo assim, indicar uma nova área ainda pode exigir parar e abrir uma tela. O Maestro Agrícola muda essa conversa: olhar, falar e confirmar.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[Sources]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- docs/proposta/versao-resumida.md, equipe AgroTurtles, revisão de 18 ago. 2026.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- Imagem original gerada para esta apresentação com OpenAI Image Generation em 16 ago. 2026; sem fotografia externa.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- Identidade visual e logos: assets/brand, equipe AgroTurtles, 18 ago. 2026.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defRPr b="0" lang="pt-BR" sz="2400" spc="-1" strike="noStrike">
                <a:latin typeface="Times New Roman"/>
              </a:defRPr>
            </a:lvl1pPr>
          </a:lstStyle>
          <a:p>
            <a:endParaRPr b="0" lang="pt-BR" sz="24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No sol, na poeira e com luvas, um notebook ou tablet adiciona atrito justamente onde a interface deveria desaparecer. Nosso usuário inicial é o operador que acompanha uma máquina conectada e precisa indicar rapidamente uma área de trabalho. O problema não é a autonomia do robô. É a forma como o humano conversa com ela.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[Sources]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- docs/proposta/versao-tecnica.md, equipe AgroTurtles, revisão de 18 ago. 2026.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- Identidade visual e logos: assets/brand, equipe AgroTurtles, 18 ago. 2026.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defRPr b="0" lang="pt-BR" sz="2400" spc="-1" strike="noStrike">
                <a:latin typeface="Times New Roman"/>
              </a:defRPr>
            </a:lvl1pPr>
          </a:lstStyle>
          <a:p>
            <a:endParaRPr b="0" lang="pt-BR" sz="24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A jornada tem três </a:t>
            </a:r>
            <a:r>
              <a:rPr b="0" lang="pt-BR" sz="2000" spc="-1" strike="noStrike">
                <a:latin typeface="Arial"/>
              </a:rPr>
              <a:t>ações. Olhar: uma </a:t>
            </a:r>
            <a:r>
              <a:rPr b="0" lang="pt-BR" sz="2000" spc="-1" strike="noStrike">
                <a:latin typeface="Arial"/>
              </a:rPr>
              <a:t>placa legível e seu </a:t>
            </a:r>
            <a:r>
              <a:rPr b="0" lang="pt-BR" sz="2000" spc="-1" strike="noStrike">
                <a:latin typeface="Arial"/>
              </a:rPr>
              <a:t>QR identificam o </a:t>
            </a:r>
            <a:r>
              <a:rPr b="0" lang="pt-BR" sz="2000" spc="-1" strike="noStrike">
                <a:latin typeface="Arial"/>
              </a:rPr>
              <a:t>plot três, associado </a:t>
            </a:r>
            <a:r>
              <a:rPr b="0" lang="pt-BR" sz="2000" spc="-1" strike="noStrike">
                <a:latin typeface="Arial"/>
              </a:rPr>
              <a:t>a uma pose segura. </a:t>
            </a:r>
            <a:r>
              <a:rPr b="0" lang="pt-BR" sz="2000" spc="-1" strike="noStrike">
                <a:latin typeface="Arial"/>
              </a:rPr>
              <a:t>Falar: o </a:t>
            </a:r>
            <a:r>
              <a:rPr b="0" lang="pt-BR" sz="2000" spc="-1" strike="noStrike">
                <a:latin typeface="Arial"/>
              </a:rPr>
              <a:t>reconhecimento </a:t>
            </a:r>
            <a:r>
              <a:rPr b="0" lang="pt-BR" sz="2000" spc="-1" strike="noStrike">
                <a:latin typeface="Arial"/>
              </a:rPr>
              <a:t>nativo transcreve a </a:t>
            </a:r>
            <a:r>
              <a:rPr b="0" lang="pt-BR" sz="2000" spc="-1" strike="noStrike">
                <a:latin typeface="Arial"/>
              </a:rPr>
              <a:t>voz; depois, um </a:t>
            </a:r>
            <a:r>
              <a:rPr b="0" lang="pt-BR" sz="2000" spc="-1" strike="noStrike">
                <a:latin typeface="Arial"/>
              </a:rPr>
              <a:t>classificador </a:t>
            </a:r>
            <a:r>
              <a:rPr b="0" lang="pt-BR" sz="2000" spc="-1" strike="noStrike">
                <a:latin typeface="Arial"/>
              </a:rPr>
              <a:t>softmax de 65 </a:t>
            </a:r>
            <a:r>
              <a:rPr b="0" lang="pt-BR" sz="2000" spc="-1" strike="noStrike">
                <a:latin typeface="Arial"/>
              </a:rPr>
              <a:t>kilobytes, treinado </a:t>
            </a:r>
            <a:r>
              <a:rPr b="0" lang="pt-BR" sz="2000" spc="-1" strike="noStrike">
                <a:latin typeface="Arial"/>
              </a:rPr>
              <a:t>com 96 frases, roda </a:t>
            </a:r>
            <a:r>
              <a:rPr b="0" lang="pt-BR" sz="2000" spc="-1" strike="noStrike">
                <a:latin typeface="Arial"/>
              </a:rPr>
              <a:t>no celular e retorna </a:t>
            </a:r>
            <a:r>
              <a:rPr b="0" lang="pt-BR" sz="2000" spc="-1" strike="noStrike">
                <a:latin typeface="Arial"/>
              </a:rPr>
              <a:t>pulverizar, </a:t>
            </a:r>
            <a:r>
              <a:rPr b="0" lang="pt-BR" sz="2000" spc="-1" strike="noStrike">
                <a:latin typeface="Arial"/>
              </a:rPr>
              <a:t>confirmar, cancelar </a:t>
            </a:r>
            <a:r>
              <a:rPr b="0" lang="pt-BR" sz="2000" spc="-1" strike="noStrike">
                <a:latin typeface="Arial"/>
              </a:rPr>
              <a:t>ou desconhecido. </a:t>
            </a:r>
            <a:r>
              <a:rPr b="0" lang="pt-BR" sz="2000" spc="-1" strike="noStrike">
                <a:latin typeface="Arial"/>
              </a:rPr>
              <a:t>Se o operador </a:t>
            </a:r>
            <a:r>
              <a:rPr b="0" lang="pt-BR" sz="2000" spc="-1" strike="noStrike">
                <a:latin typeface="Arial"/>
              </a:rPr>
              <a:t>disser “no plot três”, </a:t>
            </a:r>
            <a:r>
              <a:rPr b="0" lang="pt-BR" sz="2000" spc="-1" strike="noStrike">
                <a:latin typeface="Arial"/>
              </a:rPr>
              <a:t>o ID falado também </a:t>
            </a:r>
            <a:r>
              <a:rPr b="0" lang="pt-BR" sz="2000" spc="-1" strike="noStrike">
                <a:latin typeface="Arial"/>
              </a:rPr>
              <a:t>é validado. </a:t>
            </a:r>
            <a:r>
              <a:rPr b="0" lang="pt-BR" sz="2000" spc="-1" strike="noStrike">
                <a:latin typeface="Arial"/>
              </a:rPr>
              <a:t>Confirmar: o </a:t>
            </a:r>
            <a:r>
              <a:rPr b="0" lang="pt-BR" sz="2000" spc="-1" strike="noStrike">
                <a:latin typeface="Arial"/>
              </a:rPr>
              <a:t>Maestro repete o </a:t>
            </a:r>
            <a:r>
              <a:rPr b="0" lang="pt-BR" sz="2000" spc="-1" strike="noStrike">
                <a:latin typeface="Arial"/>
              </a:rPr>
              <a:t>alvo. Abaixo de </a:t>
            </a:r>
            <a:r>
              <a:rPr b="0" lang="pt-BR" sz="2000" spc="-1" strike="noStrike">
                <a:latin typeface="Arial"/>
              </a:rPr>
              <a:t>40% de confiança, </a:t>
            </a:r>
            <a:r>
              <a:rPr b="0" lang="pt-BR" sz="2000" spc="-1" strike="noStrike">
                <a:latin typeface="Arial"/>
              </a:rPr>
              <a:t>ou se voz e câmera </a:t>
            </a:r>
            <a:r>
              <a:rPr b="0" lang="pt-BR" sz="2000" spc="-1" strike="noStrike">
                <a:latin typeface="Arial"/>
              </a:rPr>
              <a:t>discordarem, nada </a:t>
            </a:r>
            <a:r>
              <a:rPr b="0" lang="pt-BR" sz="2000" spc="-1" strike="noStrike">
                <a:latin typeface="Arial"/>
              </a:rPr>
              <a:t>é enviado.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[Sources]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- </a:t>
            </a:r>
            <a:r>
              <a:rPr b="0" lang="pt-BR" sz="2000" spc="-1" strike="noStrike">
                <a:latin typeface="Arial"/>
              </a:rPr>
              <a:t>shared/ai/intent_mo</a:t>
            </a:r>
            <a:r>
              <a:rPr b="0" lang="pt-BR" sz="2000" spc="-1" strike="noStrike">
                <a:latin typeface="Arial"/>
              </a:rPr>
              <a:t>del.json e </a:t>
            </a:r>
            <a:r>
              <a:rPr b="0" lang="pt-BR" sz="2000" spc="-1" strike="noStrike">
                <a:latin typeface="Arial"/>
              </a:rPr>
              <a:t>shared/ai/evaluation</a:t>
            </a:r>
            <a:r>
              <a:rPr b="0" lang="pt-BR" sz="2000" spc="-1" strike="noStrike">
                <a:latin typeface="Arial"/>
              </a:rPr>
              <a:t>.json, equipe </a:t>
            </a:r>
            <a:r>
              <a:rPr b="0" lang="pt-BR" sz="2000" spc="-1" strike="noStrike">
                <a:latin typeface="Arial"/>
              </a:rPr>
              <a:t>AgroTurtles, 18 </a:t>
            </a:r>
            <a:r>
              <a:rPr b="0" lang="pt-BR" sz="2000" spc="-1" strike="noStrike">
                <a:latin typeface="Arial"/>
              </a:rPr>
              <a:t>ago. 2026.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- </a:t>
            </a:r>
            <a:r>
              <a:rPr b="0" lang="pt-BR" sz="2000" spc="-1" strike="noStrike">
                <a:latin typeface="Arial"/>
              </a:rPr>
              <a:t>shared/target/target</a:t>
            </a:r>
            <a:r>
              <a:rPr b="0" lang="pt-BR" sz="2000" spc="-1" strike="noStrike">
                <a:latin typeface="Arial"/>
              </a:rPr>
              <a:t>_resolution_cases.j</a:t>
            </a:r>
            <a:r>
              <a:rPr b="0" lang="pt-BR" sz="2000" spc="-1" strike="noStrike">
                <a:latin typeface="Arial"/>
              </a:rPr>
              <a:t>son, equipe </a:t>
            </a:r>
            <a:r>
              <a:rPr b="0" lang="pt-BR" sz="2000" spc="-1" strike="noStrike">
                <a:latin typeface="Arial"/>
              </a:rPr>
              <a:t>AgroTurtles, 18 </a:t>
            </a:r>
            <a:r>
              <a:rPr b="0" lang="pt-BR" sz="2000" spc="-1" strike="noStrike">
                <a:latin typeface="Arial"/>
              </a:rPr>
              <a:t>ago. 2026.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- Meta Wearables </a:t>
            </a:r>
            <a:r>
              <a:rPr b="0" lang="pt-BR" sz="2000" spc="-1" strike="noStrike">
                <a:latin typeface="Arial"/>
              </a:rPr>
              <a:t>DAT </a:t>
            </a:r>
            <a:r>
              <a:rPr b="0" lang="pt-BR" sz="2000" spc="-1" strike="noStrike">
                <a:latin typeface="Arial"/>
              </a:rPr>
              <a:t>CameraAccess: </a:t>
            </a:r>
            <a:r>
              <a:rPr b="0" lang="pt-BR" sz="2000" spc="-1" strike="noStrike">
                <a:latin typeface="Arial"/>
              </a:rPr>
              <a:t>https://github.com/f</a:t>
            </a:r>
            <a:r>
              <a:rPr b="0" lang="pt-BR" sz="2000" spc="-1" strike="noStrike">
                <a:latin typeface="Arial"/>
              </a:rPr>
              <a:t>acebook/meta-</a:t>
            </a:r>
            <a:r>
              <a:rPr b="0" lang="pt-BR" sz="2000" spc="-1" strike="noStrike">
                <a:latin typeface="Arial"/>
              </a:rPr>
              <a:t>wearables-dat-</a:t>
            </a:r>
            <a:r>
              <a:rPr b="0" lang="pt-BR" sz="2000" spc="-1" strike="noStrike">
                <a:latin typeface="Arial"/>
              </a:rPr>
              <a:t>android/tree/main/s</a:t>
            </a:r>
            <a:r>
              <a:rPr b="0" lang="pt-BR" sz="2000" spc="-1" strike="noStrike">
                <a:latin typeface="Arial"/>
              </a:rPr>
              <a:t>amples/</a:t>
            </a:r>
            <a:r>
              <a:rPr b="0" lang="pt-BR" sz="2000" spc="-1" strike="noStrike">
                <a:latin typeface="Arial"/>
              </a:rPr>
              <a:t>CameraAccess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- Identidade visual e </a:t>
            </a:r>
            <a:r>
              <a:rPr b="0" lang="pt-BR" sz="2000" spc="-1" strike="noStrike">
                <a:latin typeface="Arial"/>
              </a:rPr>
              <a:t>logos: </a:t>
            </a:r>
            <a:r>
              <a:rPr b="0" lang="pt-BR" sz="2000" spc="-1" strike="noStrike">
                <a:latin typeface="Arial"/>
              </a:rPr>
              <a:t>assets/brand, </a:t>
            </a:r>
            <a:r>
              <a:rPr b="0" lang="pt-BR" sz="2000" spc="-1" strike="noStrike">
                <a:latin typeface="Arial"/>
              </a:rPr>
              <a:t>equipe AgroTurtles, </a:t>
            </a:r>
            <a:r>
              <a:rPr b="0" lang="pt-BR" sz="2000" spc="-1" strike="noStrike">
                <a:latin typeface="Arial"/>
              </a:rPr>
              <a:t>18 ago. 2026.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defRPr b="0" lang="pt-BR" sz="2400" spc="-1" strike="noStrike">
                <a:latin typeface="Times New Roman"/>
              </a:defRPr>
            </a:lvl1pPr>
          </a:lstStyle>
          <a:p>
            <a:endParaRPr b="0" lang="pt-BR" sz="24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Por dentro, a câmera entra pelo DAT. Voz e TTS usam recursos nativos do celular, com o telefone como fallback. Kotlin e Swift consomem a mesma IA, o mesmo catálogo de plots e o mesmo contrato. Após a confirmação, um JSON com validade curta chega ao bridge, que valida e entrega uma meta ao Nav2 no Gazebo. Como o DAT público não documenta pose ou IMU, o MVP usa um alvo mapeado; GPS do operador não vira destino do robô.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[Sources]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- Meta Wearables Developer Center: https://wearables.developer.meta.com/docs/develop/dat/getting-started-toolkit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- Meta Wearables DAT Android e iOS CameraAccess samples: https://github.com/facebook/meta-wearables-dat-android/tree/main/samples/CameraAccess e https://github.com/facebook/meta-wearables-dat-ios/tree/main/samples/CameraAccess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- A ausência de pose/IMU é uma inferência a partir das APIs públicas consultadas; validar novamente contra a versão do SDK usada no evento.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- docs/architecture.md, equipe AgroTurtles, revisão de 18 ago. 2026.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- Identidade visual e logos: assets/brand, equipe AgroTurtles, 18 ago. 2026.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defRPr b="0" lang="pt-BR" sz="2400" spc="-1" strike="noStrike">
                <a:latin typeface="Times New Roman"/>
              </a:defRPr>
            </a:lvl1pPr>
          </a:lstStyle>
          <a:p>
            <a:endParaRPr b="0" lang="pt-BR" sz="24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Hoje já provamos três </a:t>
            </a:r>
            <a:r>
              <a:rPr b="0" lang="pt-BR" sz="2000" spc="-1" strike="noStrike">
                <a:latin typeface="Arial"/>
              </a:rPr>
              <a:t>sinais: a placa </a:t>
            </a:r>
            <a:r>
              <a:rPr b="0" lang="pt-BR" sz="2000" spc="-1" strike="noStrike">
                <a:latin typeface="Arial"/>
              </a:rPr>
              <a:t>completa foi </a:t>
            </a:r>
            <a:r>
              <a:rPr b="0" lang="pt-BR" sz="2000" spc="-1" strike="noStrike">
                <a:latin typeface="Arial"/>
              </a:rPr>
              <a:t>decodificada como </a:t>
            </a:r>
            <a:r>
              <a:rPr b="0" lang="pt-BR" sz="2000" spc="-1" strike="noStrike">
                <a:latin typeface="Arial"/>
              </a:rPr>
              <a:t>plot três; a política </a:t>
            </a:r>
            <a:r>
              <a:rPr b="0" lang="pt-BR" sz="2000" spc="-1" strike="noStrike">
                <a:latin typeface="Arial"/>
              </a:rPr>
              <a:t>local obteve 15 de </a:t>
            </a:r>
            <a:r>
              <a:rPr b="0" lang="pt-BR" sz="2000" spc="-1" strike="noStrike">
                <a:latin typeface="Arial"/>
              </a:rPr>
              <a:t>16 acertos </a:t>
            </a:r>
            <a:r>
              <a:rPr b="0" lang="pt-BR" sz="2000" spc="-1" strike="noStrike">
                <a:latin typeface="Arial"/>
              </a:rPr>
              <a:t>operacionais; e o </a:t>
            </a:r>
            <a:r>
              <a:rPr b="0" lang="pt-BR" sz="2000" spc="-1" strike="noStrike">
                <a:latin typeface="Arial"/>
              </a:rPr>
              <a:t>cliente recebeu </a:t>
            </a:r>
            <a:r>
              <a:rPr b="0" lang="pt-BR" sz="2000" spc="-1" strike="noStrike">
                <a:latin typeface="Arial"/>
              </a:rPr>
              <a:t>ACCEPTED, ativou </a:t>
            </a:r>
            <a:r>
              <a:rPr b="0" lang="pt-BR" sz="2000" spc="-1" strike="noStrike">
                <a:latin typeface="Arial"/>
              </a:rPr>
              <a:t>o Nav2 e mudou a </a:t>
            </a:r>
            <a:r>
              <a:rPr b="0" lang="pt-BR" sz="2000" spc="-1" strike="noStrike">
                <a:latin typeface="Arial"/>
              </a:rPr>
              <a:t>odometria do </a:t>
            </a:r>
            <a:r>
              <a:rPr b="0" lang="pt-BR" sz="2000" spc="-1" strike="noStrike">
                <a:latin typeface="Arial"/>
              </a:rPr>
              <a:t>TurtleBot. </a:t>
            </a:r>
            <a:r>
              <a:rPr b="0" lang="pt-BR" sz="2000" spc="-1" strike="noStrike">
                <a:latin typeface="Arial"/>
              </a:rPr>
              <a:t>“Cancelar” foi </a:t>
            </a:r>
            <a:r>
              <a:rPr b="0" lang="pt-BR" sz="2000" spc="-1" strike="noStrike">
                <a:latin typeface="Arial"/>
              </a:rPr>
              <a:t>recusado sem </a:t>
            </a:r>
            <a:r>
              <a:rPr b="0" lang="pt-BR" sz="2000" spc="-1" strike="noStrike">
                <a:latin typeface="Arial"/>
              </a:rPr>
              <a:t>movimento. O </a:t>
            </a:r>
            <a:r>
              <a:rPr b="0" lang="pt-BR" sz="2000" spc="-1" strike="noStrike">
                <a:latin typeface="Arial"/>
              </a:rPr>
              <a:t>desenho cobre IA, </a:t>
            </a:r>
            <a:r>
              <a:rPr b="0" lang="pt-BR" sz="2000" spc="-1" strike="noStrike">
                <a:latin typeface="Arial"/>
              </a:rPr>
              <a:t>câmera e voz, </a:t>
            </a:r>
            <a:r>
              <a:rPr b="0" lang="pt-BR" sz="2000" spc="-1" strike="noStrike">
                <a:latin typeface="Arial"/>
              </a:rPr>
              <a:t>áudio, privacidade e </a:t>
            </a:r>
            <a:r>
              <a:rPr b="0" lang="pt-BR" sz="2000" spc="-1" strike="noStrike">
                <a:latin typeface="Arial"/>
              </a:rPr>
              <a:t>captura sob </a:t>
            </a:r>
            <a:r>
              <a:rPr b="0" lang="pt-BR" sz="2000" spc="-1" strike="noStrike">
                <a:latin typeface="Arial"/>
              </a:rPr>
              <a:t>demanda. O </a:t>
            </a:r>
            <a:r>
              <a:rPr b="0" lang="pt-BR" sz="2000" spc="-1" strike="noStrike">
                <a:latin typeface="Arial"/>
              </a:rPr>
              <a:t>próximo gate é </a:t>
            </a:r>
            <a:r>
              <a:rPr b="0" lang="pt-BR" sz="2000" spc="-1" strike="noStrike">
                <a:latin typeface="Arial"/>
              </a:rPr>
              <a:t>compilar nos dois </a:t>
            </a:r>
            <a:r>
              <a:rPr b="0" lang="pt-BR" sz="2000" spc="-1" strike="noStrike">
                <a:latin typeface="Arial"/>
              </a:rPr>
              <a:t>aparelhos e validar </a:t>
            </a:r>
            <a:r>
              <a:rPr b="0" lang="pt-BR" sz="2000" spc="-1" strike="noStrike">
                <a:latin typeface="Arial"/>
              </a:rPr>
              <a:t>DAT, latência, </a:t>
            </a:r>
            <a:r>
              <a:rPr b="0" lang="pt-BR" sz="2000" spc="-1" strike="noStrike">
                <a:latin typeface="Arial"/>
              </a:rPr>
              <a:t>bateria e rota </a:t>
            </a:r>
            <a:r>
              <a:rPr b="0" lang="pt-BR" sz="2000" spc="-1" strike="noStrike">
                <a:latin typeface="Arial"/>
              </a:rPr>
              <a:t>Bluetooth com os </a:t>
            </a:r>
            <a:r>
              <a:rPr b="0" lang="pt-BR" sz="2000" spc="-1" strike="noStrike">
                <a:latin typeface="Arial"/>
              </a:rPr>
              <a:t>óculos reais.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[Sources]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- </a:t>
            </a:r>
            <a:r>
              <a:rPr b="0" lang="pt-BR" sz="2000" spc="-1" strike="noStrike">
                <a:latin typeface="Arial"/>
              </a:rPr>
              <a:t>tests/test_qr_target</a:t>
            </a:r>
            <a:r>
              <a:rPr b="0" lang="pt-BR" sz="2000" spc="-1" strike="noStrike">
                <a:latin typeface="Arial"/>
              </a:rPr>
              <a:t>_detector.py e </a:t>
            </a:r>
            <a:r>
              <a:rPr b="0" lang="pt-BR" sz="2000" spc="-1" strike="noStrike">
                <a:latin typeface="Arial"/>
              </a:rPr>
              <a:t>make vision-smoke, </a:t>
            </a:r>
            <a:r>
              <a:rPr b="0" lang="pt-BR" sz="2000" spc="-1" strike="noStrike">
                <a:latin typeface="Arial"/>
              </a:rPr>
              <a:t>equipe AgroTurtles, </a:t>
            </a:r>
            <a:r>
              <a:rPr b="0" lang="pt-BR" sz="2000" spc="-1" strike="noStrike">
                <a:latin typeface="Arial"/>
              </a:rPr>
              <a:t>18 ago. 2026.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- </a:t>
            </a:r>
            <a:r>
              <a:rPr b="0" lang="pt-BR" sz="2000" spc="-1" strike="noStrike">
                <a:latin typeface="Arial"/>
              </a:rPr>
              <a:t>shared/ai/evaluation</a:t>
            </a:r>
            <a:r>
              <a:rPr b="0" lang="pt-BR" sz="2000" spc="-1" strike="noStrike">
                <a:latin typeface="Arial"/>
              </a:rPr>
              <a:t>.json, conjunto </a:t>
            </a:r>
            <a:r>
              <a:rPr b="0" lang="pt-BR" sz="2000" spc="-1" strike="noStrike">
                <a:latin typeface="Arial"/>
              </a:rPr>
              <a:t>separado de 16 </a:t>
            </a:r>
            <a:r>
              <a:rPr b="0" lang="pt-BR" sz="2000" spc="-1" strike="noStrike">
                <a:latin typeface="Arial"/>
              </a:rPr>
              <a:t>frases, equipe </a:t>
            </a:r>
            <a:r>
              <a:rPr b="0" lang="pt-BR" sz="2000" spc="-1" strike="noStrike">
                <a:latin typeface="Arial"/>
              </a:rPr>
              <a:t>AgroTurtles, 18 </a:t>
            </a:r>
            <a:r>
              <a:rPr b="0" lang="pt-BR" sz="2000" spc="-1" strike="noStrike">
                <a:latin typeface="Arial"/>
              </a:rPr>
              <a:t>ago. 2026.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- docs/testing.md e </a:t>
            </a:r>
            <a:r>
              <a:rPr b="0" lang="pt-BR" sz="2000" spc="-1" strike="noStrike">
                <a:latin typeface="Arial"/>
              </a:rPr>
              <a:t>docs/tasks/submiss</a:t>
            </a:r>
            <a:r>
              <a:rPr b="0" lang="pt-BR" sz="2000" spc="-1" strike="noStrike">
                <a:latin typeface="Arial"/>
              </a:rPr>
              <a:t>ion-readiness.md: </a:t>
            </a:r>
            <a:r>
              <a:rPr b="0" lang="pt-BR" sz="2000" spc="-1" strike="noStrike">
                <a:latin typeface="Arial"/>
              </a:rPr>
              <a:t>ACCEPTED, Nav2 </a:t>
            </a:r>
            <a:r>
              <a:rPr b="0" lang="pt-BR" sz="2000" spc="-1" strike="noStrike">
                <a:latin typeface="Arial"/>
              </a:rPr>
              <a:t>ativo e odometria </a:t>
            </a:r>
            <a:r>
              <a:rPr b="0" lang="pt-BR" sz="2000" spc="-1" strike="noStrike">
                <a:latin typeface="Arial"/>
              </a:rPr>
              <a:t>alterada, execução </a:t>
            </a:r>
            <a:r>
              <a:rPr b="0" lang="pt-BR" sz="2000" spc="-1" strike="noStrike">
                <a:latin typeface="Arial"/>
              </a:rPr>
              <a:t>de 18 ago. 2026.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- Identidade visual e </a:t>
            </a:r>
            <a:r>
              <a:rPr b="0" lang="pt-BR" sz="2000" spc="-1" strike="noStrike">
                <a:latin typeface="Arial"/>
              </a:rPr>
              <a:t>logos: </a:t>
            </a:r>
            <a:r>
              <a:rPr b="0" lang="pt-BR" sz="2000" spc="-1" strike="noStrike">
                <a:latin typeface="Arial"/>
              </a:rPr>
              <a:t>assets/brand, </a:t>
            </a:r>
            <a:r>
              <a:rPr b="0" lang="pt-BR" sz="2000" spc="-1" strike="noStrike">
                <a:latin typeface="Arial"/>
              </a:rPr>
              <a:t>equipe AgroTurtles, </a:t>
            </a:r>
            <a:r>
              <a:rPr b="0" lang="pt-BR" sz="2000" spc="-1" strike="noStrike">
                <a:latin typeface="Arial"/>
              </a:rPr>
              <a:t>18 ago. 2026.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defRPr b="0" lang="pt-BR" sz="2400" spc="-1" strike="noStrike">
                <a:latin typeface="Times New Roman"/>
              </a:defRPr>
            </a:lvl1pPr>
          </a:lstStyle>
          <a:p>
            <a:endParaRPr b="0" lang="pt-BR" sz="24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O Maestro conecta interface multimodal e robótica com protocolo aberto, confirmação obrigatória e ROS 2, sem se prender a um fabricante. O futuro do campo não precisa de mais uma tela. Precisa entender alvo, intenção e segurança. Maestro Agrícola: olhe, fale, confirme.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[Sources]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- docs/submission/final-form.md, equipe AgroTurtles, revisão de 18 ago. 2026.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- Identidade visual e logos: assets/brand, equipe AgroTurtles, 18 ago. 2026.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defRPr b="0" lang="pt-BR" sz="2400" spc="-1" strike="noStrike">
                <a:latin typeface="Times New Roman"/>
              </a:defRPr>
            </a:lvl1pPr>
          </a:lstStyle>
          <a:p>
            <a:endParaRPr b="0" lang="pt-BR" sz="24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endParaRPr b="0" lang="pt-B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endParaRPr b="0" lang="pt-B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endParaRPr b="0" lang="pt-B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endParaRPr b="0" lang="pt-BR" sz="44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endParaRPr b="0" lang="pt-B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endParaRPr b="0" lang="pt-B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endParaRPr b="0" lang="pt-B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endParaRPr b="0" lang="pt-B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endParaRPr b="0" lang="pt-B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endParaRPr b="0" lang="pt-B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Clique para editar o formato do texto do título</a:t>
            </a:r>
            <a:endParaRPr b="0" lang="pt-B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Clique para editar o formato do texto da estrutura de tópicos</a:t>
            </a: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</a:rPr>
              <a:t>2.º nível da estrutura de tópicos</a:t>
            </a:r>
            <a:endParaRPr b="0" lang="pt-BR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</a:rPr>
              <a:t>3.º nível da estrutura de tópicos</a:t>
            </a:r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</a:rPr>
              <a:t>4.º nível da estrutura de tópicos</a:t>
            </a:r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</a:rPr>
              <a:t>5.º nível da estrutura de tópicos</a:t>
            </a:r>
            <a:endParaRPr b="0" lang="pt-BR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</a:rPr>
              <a:t>6.º nível da estrutura de tópicos</a:t>
            </a:r>
            <a:endParaRPr b="0" lang="pt-BR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</a:rPr>
              <a:t>7.º nível da estrutura de tópicos</a:t>
            </a:r>
            <a:endParaRPr b="0" lang="pt-B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over-accent"/>
          <p:cNvSpPr/>
          <p:nvPr/>
        </p:nvSpPr>
        <p:spPr>
          <a:xfrm>
            <a:off x="457200" y="476280"/>
            <a:ext cx="95040" cy="799920"/>
          </a:xfrm>
          <a:prstGeom prst="rect">
            <a:avLst/>
          </a:prstGeom>
          <a:solidFill>
            <a:srgbClr val="fcc9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cover-title"/>
          <p:cNvSpPr/>
          <p:nvPr/>
        </p:nvSpPr>
        <p:spPr>
          <a:xfrm>
            <a:off x="762120" y="399960"/>
            <a:ext cx="533376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pt-BR" sz="5700" spc="-1" strike="noStrike">
                <a:solidFill>
                  <a:srgbClr val="3c4c1e"/>
                </a:solidFill>
                <a:latin typeface="League Spartan"/>
                <a:ea typeface="League Spartan"/>
              </a:rPr>
              <a:t>Maestro Agrícola</a:t>
            </a:r>
            <a:endParaRPr b="0" lang="pt-BR" sz="5700" spc="-1" strike="noStrike">
              <a:latin typeface="Arial"/>
            </a:endParaRPr>
          </a:p>
        </p:txBody>
      </p:sp>
      <p:sp>
        <p:nvSpPr>
          <p:cNvPr id="46" name="cover-body"/>
          <p:cNvSpPr/>
          <p:nvPr/>
        </p:nvSpPr>
        <p:spPr>
          <a:xfrm>
            <a:off x="360000" y="2700000"/>
            <a:ext cx="495252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2100" spc="-1" strike="noStrike">
                <a:solidFill>
                  <a:srgbClr val="0f3c65"/>
                </a:solidFill>
                <a:latin typeface="League Spartan"/>
                <a:ea typeface="League Spartan"/>
              </a:rPr>
              <a:t>Uma interface hands-free para transformar intenção humana em ação segura no campo.</a:t>
            </a:r>
            <a:endParaRPr b="0" lang="pt-BR" sz="2100" spc="-1" strike="noStrike"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6238800" y="399960"/>
            <a:ext cx="5476680" cy="5600520"/>
          </a:xfrm>
          <a:prstGeom prst="roundRect">
            <a:avLst>
              <a:gd name="adj" fmla="val 313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footer-1"/>
          <p:cNvSpPr/>
          <p:nvPr/>
        </p:nvSpPr>
        <p:spPr>
          <a:xfrm>
            <a:off x="11334600" y="63342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  <a:buNone/>
            </a:pPr>
            <a:r>
              <a:rPr b="0" lang="pt-BR" sz="1200" spc="-1" strike="noStrike">
                <a:solidFill>
                  <a:srgbClr val="0f3c65"/>
                </a:solidFill>
                <a:latin typeface="League Spartan"/>
                <a:ea typeface="League Spartan"/>
              </a:rPr>
              <a:t>01</a:t>
            </a:r>
            <a:endParaRPr b="0" lang="pt-BR" sz="1200" spc="-1" strike="noStrike">
              <a:latin typeface="Arial"/>
            </a:endParaRPr>
          </a:p>
        </p:txBody>
      </p:sp>
      <p:pic>
        <p:nvPicPr>
          <p:cNvPr id="49" name="" descr=""/>
          <p:cNvPicPr/>
          <p:nvPr/>
        </p:nvPicPr>
        <p:blipFill>
          <a:blip r:embed="rId2"/>
          <a:stretch/>
        </p:blipFill>
        <p:spPr>
          <a:xfrm>
            <a:off x="462960" y="4857840"/>
            <a:ext cx="4941000" cy="1380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roblem-overline"/>
          <p:cNvSpPr/>
          <p:nvPr/>
        </p:nvSpPr>
        <p:spPr>
          <a:xfrm>
            <a:off x="457200" y="419040"/>
            <a:ext cx="28573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pt-BR" sz="1500" spc="-1" strike="noStrike">
                <a:solidFill>
                  <a:srgbClr val="0f3c65"/>
                </a:solidFill>
                <a:latin typeface="League Spartan"/>
                <a:ea typeface="League Spartan"/>
              </a:rPr>
              <a:t>O PROBLEMA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51" name="problem-thesis"/>
          <p:cNvSpPr/>
          <p:nvPr/>
        </p:nvSpPr>
        <p:spPr>
          <a:xfrm>
            <a:off x="457200" y="1504800"/>
            <a:ext cx="9810360" cy="238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pt-BR" sz="5550" spc="-1" strike="noStrike">
                <a:solidFill>
                  <a:srgbClr val="3c4c1e"/>
                </a:solidFill>
                <a:latin typeface="League Spartan"/>
                <a:ea typeface="League Spartan"/>
              </a:rPr>
              <a:t>A máquina é autônoma.</a:t>
            </a:r>
            <a:endParaRPr b="0" lang="pt-BR" sz="55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pt-BR" sz="5550" spc="-1" strike="noStrike">
                <a:solidFill>
                  <a:srgbClr val="3c4c1e"/>
                </a:solidFill>
                <a:latin typeface="League Spartan"/>
                <a:ea typeface="League Spartan"/>
              </a:rPr>
              <a:t>A interface ainda não.</a:t>
            </a:r>
            <a:endParaRPr b="0" lang="pt-BR" sz="5550" spc="-1" strike="noStrike">
              <a:latin typeface="Arial"/>
            </a:endParaRPr>
          </a:p>
        </p:txBody>
      </p:sp>
      <p:sp>
        <p:nvSpPr>
          <p:cNvPr id="52" name="problem-rule"/>
          <p:cNvSpPr/>
          <p:nvPr/>
        </p:nvSpPr>
        <p:spPr>
          <a:xfrm>
            <a:off x="457200" y="4343400"/>
            <a:ext cx="1618920" cy="56880"/>
          </a:xfrm>
          <a:prstGeom prst="rect">
            <a:avLst/>
          </a:prstGeom>
          <a:solidFill>
            <a:srgbClr val="fcc9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problem-detail"/>
          <p:cNvSpPr/>
          <p:nvPr/>
        </p:nvSpPr>
        <p:spPr>
          <a:xfrm>
            <a:off x="457200" y="4762440"/>
            <a:ext cx="1066752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2100" spc="-1" strike="noStrike">
                <a:solidFill>
                  <a:srgbClr val="0f3c65"/>
                </a:solidFill>
                <a:latin typeface="League Spartan"/>
                <a:ea typeface="League Spartan"/>
              </a:rPr>
              <a:t>Parar o trabalho  →  limpar as mãos  →  abrir uma tela  →  reprogramar a rota</a:t>
            </a:r>
            <a:endParaRPr b="0" lang="pt-BR" sz="2100" spc="-1" strike="noStrike">
              <a:latin typeface="Arial"/>
            </a:endParaRPr>
          </a:p>
        </p:txBody>
      </p:sp>
      <p:sp>
        <p:nvSpPr>
          <p:cNvPr id="54" name="problem-consequence"/>
          <p:cNvSpPr/>
          <p:nvPr/>
        </p:nvSpPr>
        <p:spPr>
          <a:xfrm>
            <a:off x="457200" y="5486400"/>
            <a:ext cx="7619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pt-BR" sz="1800" spc="-1" strike="noStrike">
                <a:solidFill>
                  <a:srgbClr val="3c4c1e"/>
                </a:solidFill>
                <a:latin typeface="League Spartan"/>
                <a:ea typeface="League Spartan"/>
              </a:rPr>
              <a:t>No sol, na poeira e no ritmo da operação.</a:t>
            </a:r>
            <a:endParaRPr b="0" lang="pt-BR" sz="1800" spc="-1" strike="noStrike">
              <a:latin typeface="Arial"/>
            </a:endParaRPr>
          </a:p>
        </p:txBody>
      </p:sp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11239560" y="6172200"/>
            <a:ext cx="456840" cy="456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-3"/>
          <p:cNvSpPr/>
          <p:nvPr/>
        </p:nvSpPr>
        <p:spPr>
          <a:xfrm>
            <a:off x="457200" y="361800"/>
            <a:ext cx="112773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pt-BR" sz="3900" spc="-1" strike="noStrike">
                <a:solidFill>
                  <a:srgbClr val="3c4c1e"/>
                </a:solidFill>
                <a:latin typeface="League Spartan"/>
                <a:ea typeface="League Spartan"/>
              </a:rPr>
              <a:t>Três ações substituem uma tela.</a:t>
            </a:r>
            <a:endParaRPr b="0" lang="pt-BR" sz="3900" spc="-1" strike="noStrike">
              <a:latin typeface="Arial"/>
            </a:endParaRPr>
          </a:p>
        </p:txBody>
      </p:sp>
      <p:sp>
        <p:nvSpPr>
          <p:cNvPr id="57" name="journey-line"/>
          <p:cNvSpPr/>
          <p:nvPr/>
        </p:nvSpPr>
        <p:spPr>
          <a:xfrm>
            <a:off x="1047600" y="3171960"/>
            <a:ext cx="9429480" cy="37800"/>
          </a:xfrm>
          <a:prstGeom prst="rect">
            <a:avLst/>
          </a:prstGeom>
          <a:solidFill>
            <a:srgbClr val="c9d1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journey-node-1"/>
          <p:cNvSpPr/>
          <p:nvPr/>
        </p:nvSpPr>
        <p:spPr>
          <a:xfrm>
            <a:off x="1428840" y="3000240"/>
            <a:ext cx="380520" cy="380520"/>
          </a:xfrm>
          <a:prstGeom prst="roundRect">
            <a:avLst>
              <a:gd name="adj" fmla="val 50000"/>
            </a:avLst>
          </a:prstGeom>
          <a:solidFill>
            <a:srgbClr val="fcc931"/>
          </a:solidFill>
          <a:ln w="19050">
            <a:solidFill>
              <a:srgbClr val="3c4c1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journey-label-1"/>
          <p:cNvSpPr/>
          <p:nvPr/>
        </p:nvSpPr>
        <p:spPr>
          <a:xfrm>
            <a:off x="1380960" y="2247840"/>
            <a:ext cx="28573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pt-BR" sz="1800" spc="-1" strike="noStrike">
                <a:solidFill>
                  <a:srgbClr val="3c4c1e"/>
                </a:solidFill>
                <a:latin typeface="League Spartan"/>
                <a:ea typeface="League Spartan"/>
              </a:rPr>
              <a:t>01  OLHAR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60" name="journey-body-1"/>
          <p:cNvSpPr/>
          <p:nvPr/>
        </p:nvSpPr>
        <p:spPr>
          <a:xfrm>
            <a:off x="1380960" y="3714840"/>
            <a:ext cx="276192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pt-BR" sz="1950" spc="-1" strike="noStrike">
                <a:solidFill>
                  <a:srgbClr val="0f3c65"/>
                </a:solidFill>
                <a:latin typeface="League Spartan"/>
                <a:ea typeface="League Spartan"/>
              </a:rPr>
              <a:t>Placa + QR resolvem o plot.</a:t>
            </a:r>
            <a:endParaRPr b="0" lang="pt-BR" sz="1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950" spc="-1" strike="noStrike">
                <a:solidFill>
                  <a:srgbClr val="0f3c65"/>
                </a:solidFill>
                <a:latin typeface="League Spartan"/>
                <a:ea typeface="League Spartan"/>
              </a:rPr>
              <a:t>O ID falado também é validado.</a:t>
            </a:r>
            <a:endParaRPr b="0" lang="pt-BR" sz="1950" spc="-1" strike="noStrike">
              <a:latin typeface="Arial"/>
            </a:endParaRPr>
          </a:p>
        </p:txBody>
      </p:sp>
      <p:sp>
        <p:nvSpPr>
          <p:cNvPr id="61" name="journey-node-2"/>
          <p:cNvSpPr/>
          <p:nvPr/>
        </p:nvSpPr>
        <p:spPr>
          <a:xfrm>
            <a:off x="5143680" y="3000240"/>
            <a:ext cx="380520" cy="380520"/>
          </a:xfrm>
          <a:prstGeom prst="roundRect">
            <a:avLst>
              <a:gd name="adj" fmla="val 50000"/>
            </a:avLst>
          </a:prstGeom>
          <a:solidFill>
            <a:srgbClr val="fcc931"/>
          </a:solidFill>
          <a:ln w="19050">
            <a:solidFill>
              <a:srgbClr val="3c4c1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journey-label-2"/>
          <p:cNvSpPr/>
          <p:nvPr/>
        </p:nvSpPr>
        <p:spPr>
          <a:xfrm>
            <a:off x="5095800" y="2247840"/>
            <a:ext cx="28573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pt-BR" sz="1800" spc="-1" strike="noStrike">
                <a:solidFill>
                  <a:srgbClr val="3c4c1e"/>
                </a:solidFill>
                <a:latin typeface="League Spartan"/>
                <a:ea typeface="League Spartan"/>
              </a:rPr>
              <a:t>02  FALAR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63" name="journey-body-2"/>
          <p:cNvSpPr/>
          <p:nvPr/>
        </p:nvSpPr>
        <p:spPr>
          <a:xfrm>
            <a:off x="5095800" y="3714840"/>
            <a:ext cx="276192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pt-BR" sz="1950" spc="-1" strike="noStrike">
                <a:solidFill>
                  <a:srgbClr val="0f3c65"/>
                </a:solidFill>
                <a:latin typeface="League Spartan"/>
                <a:ea typeface="League Spartan"/>
              </a:rPr>
              <a:t>Softmax local</a:t>
            </a:r>
            <a:endParaRPr b="0" lang="pt-BR" sz="1950" spc="-1" strike="noStrike">
              <a:latin typeface="Arial"/>
            </a:endParaRPr>
          </a:p>
          <a:p>
            <a:r>
              <a:rPr b="0" lang="pt-BR" sz="1950" spc="-1" strike="noStrike">
                <a:solidFill>
                  <a:srgbClr val="0f3c65"/>
                </a:solidFill>
                <a:latin typeface="League Spartan"/>
                <a:ea typeface="League Spartan"/>
              </a:rPr>
              <a:t>65 KB · 4 intenções</a:t>
            </a:r>
            <a:endParaRPr b="0" lang="pt-BR" sz="1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950" spc="-1" strike="noStrike">
                <a:solidFill>
                  <a:srgbClr val="0f3c65"/>
                </a:solidFill>
                <a:latin typeface="League Spartan"/>
                <a:ea typeface="League Spartan"/>
              </a:rPr>
              <a:t>limiar 0,40</a:t>
            </a:r>
            <a:endParaRPr b="0" lang="pt-BR" sz="1950" spc="-1" strike="noStrike">
              <a:latin typeface="Arial"/>
            </a:endParaRPr>
          </a:p>
        </p:txBody>
      </p:sp>
      <p:sp>
        <p:nvSpPr>
          <p:cNvPr id="64" name="journey-node-3"/>
          <p:cNvSpPr/>
          <p:nvPr/>
        </p:nvSpPr>
        <p:spPr>
          <a:xfrm>
            <a:off x="8858160" y="3000240"/>
            <a:ext cx="380520" cy="380520"/>
          </a:xfrm>
          <a:prstGeom prst="roundRect">
            <a:avLst>
              <a:gd name="adj" fmla="val 50000"/>
            </a:avLst>
          </a:prstGeom>
          <a:solidFill>
            <a:srgbClr val="fcc931"/>
          </a:solidFill>
          <a:ln w="19050">
            <a:solidFill>
              <a:srgbClr val="3c4c1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journey-label-3"/>
          <p:cNvSpPr/>
          <p:nvPr/>
        </p:nvSpPr>
        <p:spPr>
          <a:xfrm>
            <a:off x="8810640" y="2247840"/>
            <a:ext cx="28573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pt-BR" sz="1800" spc="-1" strike="noStrike">
                <a:solidFill>
                  <a:srgbClr val="3c4c1e"/>
                </a:solidFill>
                <a:latin typeface="League Spartan"/>
                <a:ea typeface="League Spartan"/>
              </a:rPr>
              <a:t>03  CONFIRMAR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66" name="journey-body-3"/>
          <p:cNvSpPr/>
          <p:nvPr/>
        </p:nvSpPr>
        <p:spPr>
          <a:xfrm>
            <a:off x="8810640" y="3714840"/>
            <a:ext cx="276192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1950" spc="-1" strike="noStrike">
                <a:solidFill>
                  <a:srgbClr val="0f3c65"/>
                </a:solidFill>
                <a:latin typeface="League Spartan"/>
                <a:ea typeface="League Spartan"/>
              </a:rPr>
              <a:t>Só o ‘sim’ libera o comando ao robô.</a:t>
            </a:r>
            <a:endParaRPr b="0" lang="pt-BR" sz="1950" spc="-1" strike="noStrike">
              <a:latin typeface="Arial"/>
            </a:endParaRPr>
          </a:p>
        </p:txBody>
      </p:sp>
      <p:sp>
        <p:nvSpPr>
          <p:cNvPr id="67" name="journey-safety"/>
          <p:cNvSpPr/>
          <p:nvPr/>
        </p:nvSpPr>
        <p:spPr>
          <a:xfrm>
            <a:off x="457200" y="5429160"/>
            <a:ext cx="10839240" cy="571320"/>
          </a:xfrm>
          <a:prstGeom prst="roundRect">
            <a:avLst>
              <a:gd name="adj" fmla="val 20000"/>
            </a:avLst>
          </a:prstGeom>
          <a:solidFill>
            <a:srgbClr val="fff4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journey-safety-text"/>
          <p:cNvSpPr/>
          <p:nvPr/>
        </p:nvSpPr>
        <p:spPr>
          <a:xfrm>
            <a:off x="704880" y="5562720"/>
            <a:ext cx="102866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pt-BR" sz="1870" spc="-1" strike="noStrike">
                <a:solidFill>
                  <a:srgbClr val="3c4c1e"/>
                </a:solidFill>
                <a:latin typeface="League Spartan"/>
                <a:ea typeface="League Spartan"/>
              </a:rPr>
              <a:t>Voz ≠ câmera ou falta de confirmação = nenhum comando.</a:t>
            </a:r>
            <a:endParaRPr b="0" lang="pt-BR" sz="1870" spc="-1" strike="noStrike">
              <a:latin typeface="Arial"/>
            </a:endParaRPr>
          </a:p>
        </p:txBody>
      </p:sp>
      <p:pic>
        <p:nvPicPr>
          <p:cNvPr id="69" name="" descr=""/>
          <p:cNvPicPr/>
          <p:nvPr/>
        </p:nvPicPr>
        <p:blipFill>
          <a:blip r:embed="rId1"/>
          <a:stretch/>
        </p:blipFill>
        <p:spPr>
          <a:xfrm>
            <a:off x="11239560" y="6172200"/>
            <a:ext cx="456840" cy="456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-4"/>
          <p:cNvSpPr/>
          <p:nvPr/>
        </p:nvSpPr>
        <p:spPr>
          <a:xfrm>
            <a:off x="457200" y="361800"/>
            <a:ext cx="112773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pt-BR" sz="3900" spc="-1" strike="noStrike">
                <a:solidFill>
                  <a:srgbClr val="3c4c1e"/>
                </a:solidFill>
                <a:latin typeface="League Spartan"/>
                <a:ea typeface="League Spartan"/>
              </a:rPr>
              <a:t>O ciclo completo já funciona em simulação.</a:t>
            </a:r>
            <a:endParaRPr b="0" lang="pt-BR" sz="3900" spc="-1" strike="noStrike">
              <a:latin typeface="Arial"/>
            </a:endParaRPr>
          </a:p>
        </p:txBody>
      </p:sp>
      <p:sp>
        <p:nvSpPr>
          <p:cNvPr id="71" name="architecture-arrow-1"/>
          <p:cNvSpPr/>
          <p:nvPr/>
        </p:nvSpPr>
        <p:spPr>
          <a:xfrm>
            <a:off x="2781360" y="3019320"/>
            <a:ext cx="323640" cy="266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cc931"/>
          </a:solidFill>
          <a:ln w="9525">
            <a:solidFill>
              <a:srgbClr val="3c4c1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architecture-arrow-2"/>
          <p:cNvSpPr/>
          <p:nvPr/>
        </p:nvSpPr>
        <p:spPr>
          <a:xfrm>
            <a:off x="5514840" y="3019320"/>
            <a:ext cx="323640" cy="266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cc931"/>
          </a:solidFill>
          <a:ln w="9525">
            <a:solidFill>
              <a:srgbClr val="3c4c1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architecture-arrow-3"/>
          <p:cNvSpPr/>
          <p:nvPr/>
        </p:nvSpPr>
        <p:spPr>
          <a:xfrm>
            <a:off x="8248680" y="3019320"/>
            <a:ext cx="323640" cy="266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cc931"/>
          </a:solidFill>
          <a:ln w="9525">
            <a:solidFill>
              <a:srgbClr val="3c4c1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architecture-node-1"/>
          <p:cNvSpPr/>
          <p:nvPr/>
        </p:nvSpPr>
        <p:spPr>
          <a:xfrm>
            <a:off x="457200" y="2238480"/>
            <a:ext cx="2238120" cy="2190240"/>
          </a:xfrm>
          <a:prstGeom prst="roundRect">
            <a:avLst>
              <a:gd name="adj" fmla="val 5217"/>
            </a:avLst>
          </a:prstGeom>
          <a:solidFill>
            <a:srgbClr val="fffdf5"/>
          </a:solidFill>
          <a:ln w="9525">
            <a:solidFill>
              <a:srgbClr val="c9d1b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architecture-accent-1"/>
          <p:cNvSpPr/>
          <p:nvPr/>
        </p:nvSpPr>
        <p:spPr>
          <a:xfrm>
            <a:off x="457200" y="2238480"/>
            <a:ext cx="2238120" cy="114120"/>
          </a:xfrm>
          <a:prstGeom prst="rect">
            <a:avLst/>
          </a:prstGeom>
          <a:solidFill>
            <a:srgbClr val="fcc9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architecture-title-1"/>
          <p:cNvSpPr/>
          <p:nvPr/>
        </p:nvSpPr>
        <p:spPr>
          <a:xfrm>
            <a:off x="647640" y="2543040"/>
            <a:ext cx="185688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pt-BR" sz="2020" spc="-1" strike="noStrike">
                <a:solidFill>
                  <a:srgbClr val="3c4c1e"/>
                </a:solidFill>
                <a:latin typeface="League Spartan"/>
                <a:ea typeface="League Spartan"/>
              </a:rPr>
              <a:t>AI Glasses</a:t>
            </a:r>
            <a:endParaRPr b="0" lang="pt-BR" sz="2020" spc="-1" strike="noStrike">
              <a:latin typeface="Arial"/>
            </a:endParaRPr>
          </a:p>
        </p:txBody>
      </p:sp>
      <p:sp>
        <p:nvSpPr>
          <p:cNvPr id="77" name="architecture-body-1"/>
          <p:cNvSpPr/>
          <p:nvPr/>
        </p:nvSpPr>
        <p:spPr>
          <a:xfrm>
            <a:off x="647640" y="3247920"/>
            <a:ext cx="185688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pt-BR" sz="1650" spc="-1" strike="noStrike">
                <a:solidFill>
                  <a:srgbClr val="0f3c65"/>
                </a:solidFill>
                <a:latin typeface="League Spartan"/>
                <a:ea typeface="League Spartan"/>
              </a:rPr>
              <a:t>câmera via DAT</a:t>
            </a:r>
            <a:endParaRPr b="0" lang="pt-BR" sz="16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pt-BR" sz="1650" spc="-1" strike="noStrike">
                <a:solidFill>
                  <a:srgbClr val="0f3c65"/>
                </a:solidFill>
                <a:latin typeface="League Spartan"/>
                <a:ea typeface="League Spartan"/>
              </a:rPr>
              <a:t>placa + QR</a:t>
            </a:r>
            <a:endParaRPr b="0" lang="pt-BR" sz="16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pt-BR" sz="1650" spc="-1" strike="noStrike">
                <a:solidFill>
                  <a:srgbClr val="0f3c65"/>
                </a:solidFill>
                <a:latin typeface="League Spartan"/>
                <a:ea typeface="League Spartan"/>
              </a:rPr>
              <a:t>voz/TTS nativos</a:t>
            </a:r>
            <a:endParaRPr b="0" lang="pt-BR" sz="1650" spc="-1" strike="noStrike">
              <a:latin typeface="Arial"/>
            </a:endParaRPr>
          </a:p>
        </p:txBody>
      </p:sp>
      <p:sp>
        <p:nvSpPr>
          <p:cNvPr id="78" name="architecture-node-2"/>
          <p:cNvSpPr/>
          <p:nvPr/>
        </p:nvSpPr>
        <p:spPr>
          <a:xfrm>
            <a:off x="3191040" y="2238480"/>
            <a:ext cx="2238120" cy="2190240"/>
          </a:xfrm>
          <a:prstGeom prst="roundRect">
            <a:avLst>
              <a:gd name="adj" fmla="val 5217"/>
            </a:avLst>
          </a:prstGeom>
          <a:solidFill>
            <a:srgbClr val="fffdf5"/>
          </a:solidFill>
          <a:ln w="9525">
            <a:solidFill>
              <a:srgbClr val="c9d1b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architecture-accent-2"/>
          <p:cNvSpPr/>
          <p:nvPr/>
        </p:nvSpPr>
        <p:spPr>
          <a:xfrm>
            <a:off x="3191040" y="2238480"/>
            <a:ext cx="2238120" cy="114120"/>
          </a:xfrm>
          <a:prstGeom prst="rect">
            <a:avLst/>
          </a:prstGeom>
          <a:solidFill>
            <a:srgbClr val="fcc9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architecture-title-2"/>
          <p:cNvSpPr/>
          <p:nvPr/>
        </p:nvSpPr>
        <p:spPr>
          <a:xfrm>
            <a:off x="3381480" y="2543040"/>
            <a:ext cx="185688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pt-BR" sz="2020" spc="-1" strike="noStrike">
                <a:solidFill>
                  <a:srgbClr val="3c4c1e"/>
                </a:solidFill>
                <a:latin typeface="League Spartan"/>
                <a:ea typeface="League Spartan"/>
              </a:rPr>
              <a:t>App nativo</a:t>
            </a:r>
            <a:endParaRPr b="0" lang="pt-BR" sz="2020" spc="-1" strike="noStrike">
              <a:latin typeface="Arial"/>
            </a:endParaRPr>
          </a:p>
        </p:txBody>
      </p:sp>
      <p:sp>
        <p:nvSpPr>
          <p:cNvPr id="81" name="architecture-body-2"/>
          <p:cNvSpPr/>
          <p:nvPr/>
        </p:nvSpPr>
        <p:spPr>
          <a:xfrm>
            <a:off x="3381480" y="3247920"/>
            <a:ext cx="185688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pt-BR" sz="1650" spc="-1" strike="noStrike">
                <a:solidFill>
                  <a:srgbClr val="0f3c65"/>
                </a:solidFill>
                <a:latin typeface="League Spartan"/>
                <a:ea typeface="League Spartan"/>
              </a:rPr>
              <a:t>Kotlin / Swift</a:t>
            </a:r>
            <a:endParaRPr b="0" lang="pt-BR" sz="16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pt-BR" sz="1650" spc="-1" strike="noStrike">
                <a:solidFill>
                  <a:srgbClr val="0f3c65"/>
                </a:solidFill>
                <a:latin typeface="League Spartan"/>
                <a:ea typeface="League Spartan"/>
              </a:rPr>
              <a:t>softmax · 65 KB</a:t>
            </a:r>
            <a:endParaRPr b="0" lang="pt-BR" sz="16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pt-BR" sz="1650" spc="-1" strike="noStrike">
                <a:solidFill>
                  <a:srgbClr val="0f3c65"/>
                </a:solidFill>
                <a:latin typeface="League Spartan"/>
                <a:ea typeface="League Spartan"/>
              </a:rPr>
              <a:t>confirmação</a:t>
            </a:r>
            <a:endParaRPr b="0" lang="pt-BR" sz="1650" spc="-1" strike="noStrike">
              <a:latin typeface="Arial"/>
            </a:endParaRPr>
          </a:p>
        </p:txBody>
      </p:sp>
      <p:sp>
        <p:nvSpPr>
          <p:cNvPr id="82" name="architecture-node-3"/>
          <p:cNvSpPr/>
          <p:nvPr/>
        </p:nvSpPr>
        <p:spPr>
          <a:xfrm>
            <a:off x="5924520" y="2238480"/>
            <a:ext cx="2238120" cy="2190240"/>
          </a:xfrm>
          <a:prstGeom prst="roundRect">
            <a:avLst>
              <a:gd name="adj" fmla="val 5217"/>
            </a:avLst>
          </a:prstGeom>
          <a:solidFill>
            <a:srgbClr val="fffdf5"/>
          </a:solidFill>
          <a:ln w="9525">
            <a:solidFill>
              <a:srgbClr val="c9d1b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architecture-accent-3"/>
          <p:cNvSpPr/>
          <p:nvPr/>
        </p:nvSpPr>
        <p:spPr>
          <a:xfrm>
            <a:off x="5924520" y="2238480"/>
            <a:ext cx="2238120" cy="114120"/>
          </a:xfrm>
          <a:prstGeom prst="rect">
            <a:avLst/>
          </a:prstGeom>
          <a:solidFill>
            <a:srgbClr val="fcc9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architecture-title-3"/>
          <p:cNvSpPr/>
          <p:nvPr/>
        </p:nvSpPr>
        <p:spPr>
          <a:xfrm>
            <a:off x="6114960" y="2543040"/>
            <a:ext cx="185688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pt-BR" sz="2020" spc="-1" strike="noStrike">
                <a:solidFill>
                  <a:srgbClr val="3c4c1e"/>
                </a:solidFill>
                <a:latin typeface="League Spartan"/>
                <a:ea typeface="League Spartan"/>
              </a:rPr>
              <a:t>WebSocket</a:t>
            </a:r>
            <a:endParaRPr b="0" lang="pt-BR" sz="2020" spc="-1" strike="noStrike">
              <a:latin typeface="Arial"/>
            </a:endParaRPr>
          </a:p>
        </p:txBody>
      </p:sp>
      <p:sp>
        <p:nvSpPr>
          <p:cNvPr id="85" name="architecture-body-3"/>
          <p:cNvSpPr/>
          <p:nvPr/>
        </p:nvSpPr>
        <p:spPr>
          <a:xfrm>
            <a:off x="6114960" y="3247920"/>
            <a:ext cx="185688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pt-BR" sz="1650" spc="-1" strike="noStrike">
                <a:solidFill>
                  <a:srgbClr val="0f3c65"/>
                </a:solidFill>
                <a:latin typeface="League Spartan"/>
                <a:ea typeface="League Spartan"/>
              </a:rPr>
              <a:t>JSON versionado</a:t>
            </a:r>
            <a:endParaRPr b="0" lang="pt-BR" sz="16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pt-BR" sz="1650" spc="-1" strike="noStrike">
                <a:solidFill>
                  <a:srgbClr val="0f3c65"/>
                </a:solidFill>
                <a:latin typeface="League Spartan"/>
                <a:ea typeface="League Spartan"/>
              </a:rPr>
              <a:t>expiração</a:t>
            </a:r>
            <a:endParaRPr b="0" lang="pt-BR" sz="16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pt-BR" sz="1650" spc="-1" strike="noStrike">
                <a:solidFill>
                  <a:srgbClr val="0f3c65"/>
                </a:solidFill>
                <a:latin typeface="League Spartan"/>
                <a:ea typeface="League Spartan"/>
              </a:rPr>
              <a:t>idempotência</a:t>
            </a:r>
            <a:endParaRPr b="0" lang="pt-BR" sz="1650" spc="-1" strike="noStrike">
              <a:latin typeface="Arial"/>
            </a:endParaRPr>
          </a:p>
        </p:txBody>
      </p:sp>
      <p:sp>
        <p:nvSpPr>
          <p:cNvPr id="86" name="architecture-node-4"/>
          <p:cNvSpPr/>
          <p:nvPr/>
        </p:nvSpPr>
        <p:spPr>
          <a:xfrm>
            <a:off x="8658360" y="2238480"/>
            <a:ext cx="2238120" cy="2190240"/>
          </a:xfrm>
          <a:prstGeom prst="roundRect">
            <a:avLst>
              <a:gd name="adj" fmla="val 5217"/>
            </a:avLst>
          </a:prstGeom>
          <a:solidFill>
            <a:srgbClr val="fffdf5"/>
          </a:solidFill>
          <a:ln w="9525">
            <a:solidFill>
              <a:srgbClr val="c9d1b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architecture-accent-4"/>
          <p:cNvSpPr/>
          <p:nvPr/>
        </p:nvSpPr>
        <p:spPr>
          <a:xfrm>
            <a:off x="8658360" y="2238480"/>
            <a:ext cx="2238120" cy="114120"/>
          </a:xfrm>
          <a:prstGeom prst="rect">
            <a:avLst/>
          </a:prstGeom>
          <a:solidFill>
            <a:srgbClr val="fcc9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architecture-title-4"/>
          <p:cNvSpPr/>
          <p:nvPr/>
        </p:nvSpPr>
        <p:spPr>
          <a:xfrm>
            <a:off x="8848800" y="2543040"/>
            <a:ext cx="185688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pt-BR" sz="2020" spc="-1" strike="noStrike">
                <a:solidFill>
                  <a:srgbClr val="3c4c1e"/>
                </a:solidFill>
                <a:latin typeface="League Spartan"/>
                <a:ea typeface="League Spartan"/>
              </a:rPr>
              <a:t>ROS 2 / Nav2</a:t>
            </a:r>
            <a:endParaRPr b="0" lang="pt-BR" sz="2020" spc="-1" strike="noStrike">
              <a:latin typeface="Arial"/>
            </a:endParaRPr>
          </a:p>
        </p:txBody>
      </p:sp>
      <p:sp>
        <p:nvSpPr>
          <p:cNvPr id="89" name="architecture-body-4"/>
          <p:cNvSpPr/>
          <p:nvPr/>
        </p:nvSpPr>
        <p:spPr>
          <a:xfrm>
            <a:off x="8848800" y="3247920"/>
            <a:ext cx="185688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pt-BR" sz="1650" spc="-1" strike="noStrike">
                <a:solidFill>
                  <a:srgbClr val="0f3c65"/>
                </a:solidFill>
                <a:latin typeface="League Spartan"/>
                <a:ea typeface="League Spartan"/>
              </a:rPr>
              <a:t>bridge</a:t>
            </a:r>
            <a:endParaRPr b="0" lang="pt-BR" sz="16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pt-BR" sz="1650" spc="-1" strike="noStrike">
                <a:solidFill>
                  <a:srgbClr val="0f3c65"/>
                </a:solidFill>
                <a:latin typeface="League Spartan"/>
                <a:ea typeface="League Spartan"/>
              </a:rPr>
              <a:t>Gazebo</a:t>
            </a:r>
            <a:endParaRPr b="0" lang="pt-BR" sz="16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pt-BR" sz="1650" spc="-1" strike="noStrike">
                <a:solidFill>
                  <a:srgbClr val="0f3c65"/>
                </a:solidFill>
                <a:latin typeface="League Spartan"/>
                <a:ea typeface="League Spartan"/>
              </a:rPr>
              <a:t>TurtleBot 4</a:t>
            </a:r>
            <a:endParaRPr b="0" lang="pt-BR" sz="1650" spc="-1" strike="noStrike">
              <a:latin typeface="Arial"/>
            </a:endParaRPr>
          </a:p>
        </p:txBody>
      </p:sp>
      <p:sp>
        <p:nvSpPr>
          <p:cNvPr id="90" name="architecture-decision"/>
          <p:cNvSpPr/>
          <p:nvPr/>
        </p:nvSpPr>
        <p:spPr>
          <a:xfrm>
            <a:off x="457200" y="4952880"/>
            <a:ext cx="10438920" cy="837720"/>
          </a:xfrm>
          <a:prstGeom prst="roundRect">
            <a:avLst>
              <a:gd name="adj" fmla="val 13636"/>
            </a:avLst>
          </a:prstGeom>
          <a:solidFill>
            <a:srgbClr val="fff4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architecture-decision-text"/>
          <p:cNvSpPr/>
          <p:nvPr/>
        </p:nvSpPr>
        <p:spPr>
          <a:xfrm>
            <a:off x="723960" y="5162400"/>
            <a:ext cx="990576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pt-BR" sz="1870" spc="-1" strike="noStrike">
                <a:solidFill>
                  <a:srgbClr val="3c4c1e"/>
                </a:solidFill>
                <a:latin typeface="League Spartan"/>
                <a:ea typeface="League Spartan"/>
              </a:rPr>
              <a:t>Alvo visual + ID falado; se discordarem, nada é enviado. GPS não vira destino.</a:t>
            </a:r>
            <a:endParaRPr b="0" lang="pt-BR" sz="1870" spc="-1" strike="noStrike">
              <a:latin typeface="Arial"/>
            </a:endParaRPr>
          </a:p>
        </p:txBody>
      </p:sp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11239560" y="6172200"/>
            <a:ext cx="456840" cy="456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itle-5"/>
          <p:cNvSpPr/>
          <p:nvPr/>
        </p:nvSpPr>
        <p:spPr>
          <a:xfrm>
            <a:off x="457200" y="361800"/>
            <a:ext cx="112773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pt-BR" sz="3900" spc="-1" strike="noStrike">
                <a:solidFill>
                  <a:srgbClr val="3c4c1e"/>
                </a:solidFill>
                <a:latin typeface="League Spartan"/>
                <a:ea typeface="League Spartan"/>
              </a:rPr>
              <a:t>A simulação já fecha o ciclo com falha segura.</a:t>
            </a:r>
            <a:endParaRPr b="0" lang="pt-BR" sz="3900" spc="-1" strike="noStrike">
              <a:latin typeface="Arial"/>
            </a:endParaRPr>
          </a:p>
        </p:txBody>
      </p:sp>
      <p:sp>
        <p:nvSpPr>
          <p:cNvPr id="94" name="evidence-intro"/>
          <p:cNvSpPr/>
          <p:nvPr/>
        </p:nvSpPr>
        <p:spPr>
          <a:xfrm>
            <a:off x="457200" y="1181160"/>
            <a:ext cx="1066752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endParaRPr b="0" lang="pt-BR" sz="1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950" spc="-1" strike="noStrike">
                <a:solidFill>
                  <a:srgbClr val="0f3c65"/>
                </a:solidFill>
                <a:latin typeface="League Spartan"/>
                <a:ea typeface="League Spartan"/>
              </a:rPr>
              <a:t>Três sinais reproduzíveis; o próximo gate é o hardware real.</a:t>
            </a:r>
            <a:endParaRPr b="0" lang="pt-BR" sz="1950" spc="-1" strike="noStrike">
              <a:latin typeface="Arial"/>
            </a:endParaRPr>
          </a:p>
        </p:txBody>
      </p:sp>
      <p:sp>
        <p:nvSpPr>
          <p:cNvPr id="95" name="evidence-card-1"/>
          <p:cNvSpPr/>
          <p:nvPr/>
        </p:nvSpPr>
        <p:spPr>
          <a:xfrm>
            <a:off x="457200" y="2238480"/>
            <a:ext cx="3219120" cy="2952360"/>
          </a:xfrm>
          <a:prstGeom prst="roundRect">
            <a:avLst>
              <a:gd name="adj" fmla="val 3871"/>
            </a:avLst>
          </a:prstGeom>
          <a:solidFill>
            <a:srgbClr val="fffdf5"/>
          </a:solidFill>
          <a:ln w="9525">
            <a:solidFill>
              <a:srgbClr val="c9d1b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evidence-stat-1"/>
          <p:cNvSpPr/>
          <p:nvPr/>
        </p:nvSpPr>
        <p:spPr>
          <a:xfrm>
            <a:off x="704880" y="2552760"/>
            <a:ext cx="2723760" cy="10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pt-BR" sz="5400" spc="-1" strike="noStrike">
                <a:solidFill>
                  <a:srgbClr val="3c4c1e"/>
                </a:solidFill>
                <a:latin typeface="League Spartan"/>
                <a:ea typeface="League Spartan"/>
              </a:rPr>
              <a:t>QR</a:t>
            </a:r>
            <a:endParaRPr b="0" lang="pt-BR" sz="5400" spc="-1" strike="noStrike">
              <a:latin typeface="Arial"/>
            </a:endParaRPr>
          </a:p>
        </p:txBody>
      </p:sp>
      <p:sp>
        <p:nvSpPr>
          <p:cNvPr id="97" name="evidence-header-1"/>
          <p:cNvSpPr/>
          <p:nvPr/>
        </p:nvSpPr>
        <p:spPr>
          <a:xfrm>
            <a:off x="704880" y="3695760"/>
            <a:ext cx="27237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pt-BR" sz="1950" spc="-1" strike="noStrike">
                <a:solidFill>
                  <a:srgbClr val="0f3c65"/>
                </a:solidFill>
                <a:latin typeface="League Spartan"/>
                <a:ea typeface="League Spartan"/>
              </a:rPr>
              <a:t>plot-03 detectado</a:t>
            </a:r>
            <a:endParaRPr b="0" lang="pt-BR" sz="1950" spc="-1" strike="noStrike">
              <a:latin typeface="Arial"/>
            </a:endParaRPr>
          </a:p>
        </p:txBody>
      </p:sp>
      <p:sp>
        <p:nvSpPr>
          <p:cNvPr id="98" name="evidence-detail-1"/>
          <p:cNvSpPr/>
          <p:nvPr/>
        </p:nvSpPr>
        <p:spPr>
          <a:xfrm>
            <a:off x="704880" y="4210200"/>
            <a:ext cx="272376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1580" spc="-1" strike="noStrike">
                <a:solidFill>
                  <a:srgbClr val="0f3c65"/>
                </a:solidFill>
                <a:latin typeface="League Spartan"/>
                <a:ea typeface="League Spartan"/>
              </a:rPr>
              <a:t>Placa completa decodificada localmente.</a:t>
            </a:r>
            <a:endParaRPr b="0" lang="pt-BR" sz="1580" spc="-1" strike="noStrike">
              <a:latin typeface="Arial"/>
            </a:endParaRPr>
          </a:p>
        </p:txBody>
      </p:sp>
      <p:sp>
        <p:nvSpPr>
          <p:cNvPr id="99" name="evidence-card-2"/>
          <p:cNvSpPr/>
          <p:nvPr/>
        </p:nvSpPr>
        <p:spPr>
          <a:xfrm>
            <a:off x="4133880" y="2238480"/>
            <a:ext cx="3219120" cy="2952360"/>
          </a:xfrm>
          <a:prstGeom prst="roundRect">
            <a:avLst>
              <a:gd name="adj" fmla="val 3871"/>
            </a:avLst>
          </a:prstGeom>
          <a:solidFill>
            <a:srgbClr val="fffdf5"/>
          </a:solidFill>
          <a:ln w="9525">
            <a:solidFill>
              <a:srgbClr val="c9d1b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evidence-stat-2"/>
          <p:cNvSpPr/>
          <p:nvPr/>
        </p:nvSpPr>
        <p:spPr>
          <a:xfrm>
            <a:off x="4381560" y="2552760"/>
            <a:ext cx="2723760" cy="10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pt-BR" sz="5400" spc="-1" strike="noStrike">
                <a:solidFill>
                  <a:srgbClr val="3c4c1e"/>
                </a:solidFill>
                <a:latin typeface="League Spartan"/>
                <a:ea typeface="League Spartan"/>
              </a:rPr>
              <a:t>15/16</a:t>
            </a:r>
            <a:endParaRPr b="0" lang="pt-BR" sz="5400" spc="-1" strike="noStrike">
              <a:latin typeface="Arial"/>
            </a:endParaRPr>
          </a:p>
        </p:txBody>
      </p:sp>
      <p:sp>
        <p:nvSpPr>
          <p:cNvPr id="101" name="evidence-header-2"/>
          <p:cNvSpPr/>
          <p:nvPr/>
        </p:nvSpPr>
        <p:spPr>
          <a:xfrm>
            <a:off x="4381560" y="3695760"/>
            <a:ext cx="27237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pt-BR" sz="1950" spc="-1" strike="noStrike">
                <a:solidFill>
                  <a:srgbClr val="0f3c65"/>
                </a:solidFill>
                <a:latin typeface="League Spartan"/>
                <a:ea typeface="League Spartan"/>
              </a:rPr>
              <a:t>IA operacional</a:t>
            </a:r>
            <a:endParaRPr b="0" lang="pt-BR" sz="1950" spc="-1" strike="noStrike">
              <a:latin typeface="Arial"/>
            </a:endParaRPr>
          </a:p>
        </p:txBody>
      </p:sp>
      <p:sp>
        <p:nvSpPr>
          <p:cNvPr id="102" name="evidence-detail-2"/>
          <p:cNvSpPr/>
          <p:nvPr/>
        </p:nvSpPr>
        <p:spPr>
          <a:xfrm>
            <a:off x="4381560" y="4210200"/>
            <a:ext cx="272376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1580" spc="-1" strike="noStrike">
                <a:solidFill>
                  <a:srgbClr val="0f3c65"/>
                </a:solidFill>
                <a:latin typeface="League Spartan"/>
                <a:ea typeface="League Spartan"/>
              </a:rPr>
              <a:t>96 frases; a restante virou UNKNOWN.</a:t>
            </a:r>
            <a:endParaRPr b="0" lang="pt-BR" sz="1580" spc="-1" strike="noStrike">
              <a:latin typeface="Arial"/>
            </a:endParaRPr>
          </a:p>
        </p:txBody>
      </p:sp>
      <p:sp>
        <p:nvSpPr>
          <p:cNvPr id="103" name="evidence-card-3"/>
          <p:cNvSpPr/>
          <p:nvPr/>
        </p:nvSpPr>
        <p:spPr>
          <a:xfrm>
            <a:off x="7810560" y="2238480"/>
            <a:ext cx="3219120" cy="2952360"/>
          </a:xfrm>
          <a:prstGeom prst="roundRect">
            <a:avLst>
              <a:gd name="adj" fmla="val 3871"/>
            </a:avLst>
          </a:prstGeom>
          <a:solidFill>
            <a:srgbClr val="fffdf5"/>
          </a:solidFill>
          <a:ln w="9525">
            <a:solidFill>
              <a:srgbClr val="c9d1b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evidence-stat-3"/>
          <p:cNvSpPr/>
          <p:nvPr/>
        </p:nvSpPr>
        <p:spPr>
          <a:xfrm>
            <a:off x="8058240" y="2552760"/>
            <a:ext cx="2723760" cy="10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pt-BR" sz="5400" spc="-1" strike="noStrike">
                <a:solidFill>
                  <a:srgbClr val="3c4c1e"/>
                </a:solidFill>
                <a:latin typeface="League Spartan"/>
                <a:ea typeface="League Spartan"/>
              </a:rPr>
              <a:t>ROS 2</a:t>
            </a:r>
            <a:endParaRPr b="0" lang="pt-BR" sz="5400" spc="-1" strike="noStrike">
              <a:latin typeface="Arial"/>
            </a:endParaRPr>
          </a:p>
        </p:txBody>
      </p:sp>
      <p:sp>
        <p:nvSpPr>
          <p:cNvPr id="105" name="evidence-header-3"/>
          <p:cNvSpPr/>
          <p:nvPr/>
        </p:nvSpPr>
        <p:spPr>
          <a:xfrm>
            <a:off x="8058240" y="3695760"/>
            <a:ext cx="27237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pt-BR" sz="1950" spc="-1" strike="noStrike">
                <a:solidFill>
                  <a:srgbClr val="0f3c65"/>
                </a:solidFill>
                <a:latin typeface="League Spartan"/>
                <a:ea typeface="League Spartan"/>
              </a:rPr>
              <a:t>movimento provado</a:t>
            </a:r>
            <a:endParaRPr b="0" lang="pt-BR" sz="1950" spc="-1" strike="noStrike">
              <a:latin typeface="Arial"/>
            </a:endParaRPr>
          </a:p>
        </p:txBody>
      </p:sp>
      <p:sp>
        <p:nvSpPr>
          <p:cNvPr id="106" name="evidence-detail-3"/>
          <p:cNvSpPr/>
          <p:nvPr/>
        </p:nvSpPr>
        <p:spPr>
          <a:xfrm>
            <a:off x="8058240" y="4210200"/>
            <a:ext cx="272376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1580" spc="-1" strike="noStrike">
                <a:solidFill>
                  <a:srgbClr val="0f3c65"/>
                </a:solidFill>
                <a:latin typeface="League Spartan"/>
                <a:ea typeface="League Spartan"/>
              </a:rPr>
              <a:t>ACCEPTED + Nav2 ativo + odometria mudou.</a:t>
            </a:r>
            <a:endParaRPr b="0" lang="pt-BR" sz="1580" spc="-1" strike="noStrike">
              <a:latin typeface="Arial"/>
            </a:endParaRPr>
          </a:p>
        </p:txBody>
      </p:sp>
      <p:sp>
        <p:nvSpPr>
          <p:cNvPr id="107" name="evidence-safety"/>
          <p:cNvSpPr/>
          <p:nvPr/>
        </p:nvSpPr>
        <p:spPr>
          <a:xfrm>
            <a:off x="457200" y="5619600"/>
            <a:ext cx="106675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pt-BR" sz="2020" spc="-1" strike="noStrike">
                <a:solidFill>
                  <a:srgbClr val="3c4c1e"/>
                </a:solidFill>
                <a:latin typeface="League Spartan"/>
                <a:ea typeface="League Spartan"/>
              </a:rPr>
              <a:t>Voz ≠ câmera, ‘cancelar’ ou falta de confirmação = sem comando.</a:t>
            </a:r>
            <a:endParaRPr b="0" lang="pt-BR" sz="2020" spc="-1" strike="noStrike">
              <a:latin typeface="Arial"/>
            </a:endParaRPr>
          </a:p>
        </p:txBody>
      </p:sp>
      <p:pic>
        <p:nvPicPr>
          <p:cNvPr id="108" name="" descr=""/>
          <p:cNvPicPr/>
          <p:nvPr/>
        </p:nvPicPr>
        <p:blipFill>
          <a:blip r:embed="rId1"/>
          <a:stretch/>
        </p:blipFill>
        <p:spPr>
          <a:xfrm>
            <a:off x="11239560" y="6172200"/>
            <a:ext cx="456840" cy="456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close-thesis"/>
          <p:cNvSpPr/>
          <p:nvPr/>
        </p:nvSpPr>
        <p:spPr>
          <a:xfrm>
            <a:off x="457200" y="1714680"/>
            <a:ext cx="102866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pt-BR" sz="5250" spc="-1" strike="noStrike">
                <a:solidFill>
                  <a:srgbClr val="3c4c1e"/>
                </a:solidFill>
                <a:latin typeface="League Spartan"/>
                <a:ea typeface="League Spartan"/>
              </a:rPr>
              <a:t>O futuro do campo não precisa de mais telas.</a:t>
            </a:r>
            <a:endParaRPr b="0" lang="pt-BR" sz="5250" spc="-1" strike="noStrike">
              <a:latin typeface="Arial"/>
            </a:endParaRPr>
          </a:p>
        </p:txBody>
      </p:sp>
      <p:sp>
        <p:nvSpPr>
          <p:cNvPr id="110" name="close-tagline"/>
          <p:cNvSpPr/>
          <p:nvPr/>
        </p:nvSpPr>
        <p:spPr>
          <a:xfrm>
            <a:off x="457200" y="4809960"/>
            <a:ext cx="685764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pt-BR" sz="3300" spc="-1" strike="noStrike">
                <a:solidFill>
                  <a:srgbClr val="0f3c65"/>
                </a:solidFill>
                <a:latin typeface="League Spartan"/>
                <a:ea typeface="League Spartan"/>
              </a:rPr>
              <a:t>Olhe. Fale. Confirme.</a:t>
            </a:r>
            <a:endParaRPr b="0" lang="pt-BR" sz="3300" spc="-1" strike="noStrike">
              <a:latin typeface="Arial"/>
            </a:endParaRPr>
          </a:p>
        </p:txBody>
      </p:sp>
      <p:sp>
        <p:nvSpPr>
          <p:cNvPr id="111" name="close-bar"/>
          <p:cNvSpPr/>
          <p:nvPr/>
        </p:nvSpPr>
        <p:spPr>
          <a:xfrm>
            <a:off x="0" y="6524640"/>
            <a:ext cx="12191760" cy="333000"/>
          </a:xfrm>
          <a:prstGeom prst="rect">
            <a:avLst/>
          </a:prstGeom>
          <a:solidFill>
            <a:srgbClr val="fcc9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457200" y="363240"/>
            <a:ext cx="4000320" cy="116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2026-08-18T20:44:13Z</dcterms:created>
  <dc:creator>Walnut Exporter</dc:creator>
  <dc:description/>
  <dc:language>pt-BR</dc:language>
  <cp:lastModifiedBy/>
  <dcterms:modified xsi:type="dcterms:W3CDTF">2026-08-18T17:54:53Z</dcterms:modified>
  <cp:revision>1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