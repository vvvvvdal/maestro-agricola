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Clique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para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mover o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slide</a:t>
            </a: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pt-BR" sz="2000" spc="-1" strike="noStrike">
                <a:latin typeface="Arial"/>
              </a:rPr>
              <a:t>Clique para editar o </a:t>
            </a:r>
            <a:r>
              <a:rPr b="0" lang="pt-BR" sz="2000" spc="-1" strike="noStrike">
                <a:latin typeface="Arial"/>
              </a:rPr>
              <a:t>formato de notas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pt-BR" sz="1400" spc="-1" strike="noStrike">
                <a:latin typeface="Times New Roman"/>
              </a:rPr>
              <a:t>&lt;cabeçalho&gt;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pt-BR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pt-BR" sz="1400" spc="-1" strike="noStrike">
                <a:latin typeface="Times New Roman"/>
              </a:rPr>
              <a:t>&lt;data/hora&gt;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pt-BR" sz="1400" spc="-1" strike="noStrike">
                <a:latin typeface="Times New Roman"/>
              </a:defRPr>
            </a:lvl1pPr>
          </a:lstStyle>
          <a:p>
            <a:r>
              <a:rPr b="0" lang="pt-BR" sz="1400" spc="-1" strike="noStrike">
                <a:latin typeface="Times New Roman"/>
              </a:rPr>
              <a:t>&lt;rodapé&gt;</a:t>
            </a:r>
            <a:endParaRPr b="0" lang="pt-BR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pt-BR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D66697A-7B69-4A6F-A26F-0AB06CA53ED3}" type="slidenum">
              <a:rPr b="0" lang="pt-BR" sz="1400" spc="-1" strike="noStrike">
                <a:latin typeface="Times New Roman"/>
              </a:rPr>
              <a:t>&lt;número&gt;</a:t>
            </a:fld>
            <a:endParaRPr b="0" lang="pt-BR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Imagine um operador no meio da lavoura, com as mãos ocupadas, acompanhando um robô autônomo. A máquina já navega; mesmo assim, indicar uma nova área ainda pode exigir parar e abrir uma tela. O Maestro Agrícola muda essa conversa: olhar, falar e confirmar.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[Sources]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docs/proposta/versao-resumida.md, equipe AgroTurtles, revisão de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Imagem original gerada para esta apresentação com OpenAI Image Generation em 16 ago. 2026; sem fotografia externa.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Identidade visual e logos: assets/brand, equipe AgroTurtles, 19 ago. 2026.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pt-BR" sz="2400" spc="-1" strike="noStrike">
                <a:latin typeface="Times New Roman"/>
              </a:defRPr>
            </a:lvl1pPr>
          </a:lstStyle>
          <a:p>
            <a:endParaRPr b="0" lang="pt-BR" sz="24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No sol, na poeira e com luvas, um notebook ou tablet adiciona atrito justamente onde a interface deveria desaparecer. Nosso usuário inicial é o operador que acompanha uma máquina conectada e precisa indicar rapidamente uma área de trabalho. O problema não é a autonomia do robô. É a forma como o humano conversa com ela.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[Sources]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docs/proposta/versao-tecnica.md, equipe AgroTurtles, revisão de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Identidade visual e logos: assets/brand, equipe AgroTurtles, 18 ago. 2026.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pt-BR" sz="2400" spc="-1" strike="noStrike">
                <a:latin typeface="Times New Roman"/>
              </a:defRPr>
            </a:lvl1pPr>
          </a:lstStyle>
          <a:p>
            <a:endParaRPr b="0" lang="pt-BR" sz="24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A jornada tem três ações. Olhar: uma placa legível e seu QR identificam o plot três, associado a uma pose segura. Falar: o reconhecimento nativo transcreve a voz; depois, um classificador softmax de 65 kilobytes, treinado com 96 frases, roda no celular e retorna pulverizar, confirmar, cancelar ou desconhecido. Se o operador disser “no plot três”, o ID falado também é validado. Confirmar: o Maestro repete o alvo. Abaixo de 40% de confiança, ou se voz e câmera discordarem, nada é enviado.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[Sources]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shared/ai/intent_model.json e shared/ai/evaluation.json, equipe AgroTurtles,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shared/target/target_resolution_cases.json, equipe AgroTurtles,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Meta Wearables DAT CameraAccess: https://github.com/facebook/meta-wearables-dat-android/tree/main/samples/CameraAccess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Identidade visual e logos: assets/brand, equipe AgroTurtles, 18 ago. 2026.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pt-BR" sz="2400" spc="-1" strike="noStrike">
                <a:latin typeface="Times New Roman"/>
              </a:defRPr>
            </a:lvl1pPr>
          </a:lstStyle>
          <a:p>
            <a:endParaRPr b="0" lang="pt-BR" sz="24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Por dentro, a câmera entra pelo DAT. Voz e TTS usam recursos nativos do celular, com o telefone como fallback. O app Kotlin consome a IA local, o catálogo de plots e o contrato versionado. Após a confirmação, um JSON com validade curta chega ao bridge, que valida e entrega uma meta ao Nav2 no Gazebo. Como o DAT público não documenta pose ou IMU, o MVP usa um alvo mapeado; GPS do operador não vira destino do robô.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[Sources]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Meta Wearables Developer Center: https://wearables.developer.meta.com/docs/develop/dat/getting-started-toolkit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Meta Wearables DAT Android CameraAccess sample: https://github.com/facebook/meta-wearables-dat-android/tree/main/samples/CameraAccess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A ausência de pose/IMU é uma inferência a partir das APIs públicas consultadas; validar novamente contra a versão do SDK usada no evento.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docs/architecture.md, equipe AgroTurtles, revisão de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Identidade visual e logos: assets/brand, equipe AgroTurtles, 18 ago. 2026.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pt-BR" sz="2400" spc="-1" strike="noStrike">
                <a:latin typeface="Times New Roman"/>
              </a:defRPr>
            </a:lvl1pPr>
          </a:lstStyle>
          <a:p>
            <a:endParaRPr b="0" lang="pt-BR" sz="24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Hoje já provamos três sinais: a placa completa foi decodificada como plot três; a política local obteve 15 de 16 acertos operacionais; e o cliente recebeu ACCEPTED, ativou o Nav2 e mudou a odometria do TurtleBot. “Cancelar” foi recusado sem movimento. O desenho cobre IA, câmera e voz, áudio, privacidade e captura sob demanda. O próximo gate é compilar no Android e validar DAT, latência, bateria e rota Bluetooth com os óculos reais.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[Sources]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tests/test_qr_target_detector.py e make vision-smoke, equipe AgroTurtles,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shared/ai/evaluation.json, conjunto separado de 16 frases, equipe AgroTurtles,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docs/testing.md e docs/tasks/submission-readiness.md: ACCEPTED, Nav2 ativo e odometria alterada, execução de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Identidade visual e logos: assets/brand, equipe AgroTurtles, 18 ago. 2026.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pt-BR" sz="2400" spc="-1" strike="noStrike">
                <a:latin typeface="Times New Roman"/>
              </a:defRPr>
            </a:lvl1pPr>
          </a:lstStyle>
          <a:p>
            <a:endParaRPr b="0" lang="pt-BR" sz="24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O Maestro conecta interface multimodal e robótica com protocolo aberto, confirmação obrigatória e ROS 2, sem se prender a um fabricante. O futuro do campo não precisa de mais uma tela. Precisa entender alvo, intenção e segurança. Maestro Agrícola: olhe, fale, confirme.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[Sources]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docs/submission/final-form.md, equipe AgroTurtles, revisão de 18 ago. 2026.</a:t>
            </a:r>
            <a:endParaRPr b="0" lang="pt-BR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pt-BR" sz="2000" spc="-1" strike="noStrike">
                <a:latin typeface="Arial"/>
              </a:rPr>
              <a:t>- Identidade visual e logos: assets/brand, equipe AgroTurtles, 19 ago. 2026.</a:t>
            </a:r>
            <a:endParaRPr b="0" lang="pt-BR" sz="2000" spc="-1" strike="noStrike"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pt-BR" sz="2400" spc="-1" strike="noStrike">
                <a:latin typeface="Times New Roman"/>
              </a:defRPr>
            </a:lvl1pPr>
          </a:lstStyle>
          <a:p>
            <a:endParaRPr b="0" lang="pt-BR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t-BR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Clique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para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editar o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formato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do texto </a:t>
            </a:r>
            <a:r>
              <a:rPr b="0" lang="pt-BR" sz="4400" spc="-1" strike="noStrike">
                <a:solidFill>
                  <a:srgbClr val="000000"/>
                </a:solidFill>
                <a:latin typeface="Calibri Light"/>
              </a:rPr>
              <a:t>do título</a:t>
            </a:r>
            <a:endParaRPr b="0" lang="pt-BR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800" spc="-1" strike="noStrike">
                <a:solidFill>
                  <a:srgbClr val="000000"/>
                </a:solidFill>
                <a:latin typeface="Calibri"/>
              </a:rPr>
              <a:t>Clique para editar o formato do texto da estrutura de tópicos</a:t>
            </a:r>
            <a:endParaRPr b="0" lang="pt-BR" sz="28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Calibri"/>
              </a:rPr>
              <a:t>2.º nível da estrutura de tópicos</a:t>
            </a:r>
            <a:endParaRPr b="0" lang="pt-BR" sz="20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Calibri"/>
              </a:rPr>
              <a:t>3.º nível da estrutura de tópicos</a:t>
            </a:r>
            <a:endParaRPr b="0" lang="pt-BR" sz="18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Calibri"/>
              </a:rPr>
              <a:t>4.º nível da estrutura de tópicos</a:t>
            </a:r>
            <a:endParaRPr b="0" lang="pt-BR" sz="18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Calibri"/>
              </a:rPr>
              <a:t>5.º nível da estrutura de tópicos</a:t>
            </a:r>
            <a:endParaRPr b="0" lang="pt-BR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Calibri"/>
              </a:rPr>
              <a:t>6.º nível da estrutura de tópicos</a:t>
            </a:r>
            <a:endParaRPr b="0" lang="pt-BR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Calibri"/>
              </a:rPr>
              <a:t>7.º nível da estrutura de tópicos</a:t>
            </a:r>
            <a:endParaRPr b="0" lang="pt-BR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rcRect l="8001" t="30001" r="8499" b="32998"/>
          <a:stretch/>
        </p:blipFill>
        <p:spPr>
          <a:xfrm>
            <a:off x="462960" y="4857840"/>
            <a:ext cx="4941000" cy="1143360"/>
          </a:xfrm>
          <a:prstGeom prst="rect">
            <a:avLst/>
          </a:prstGeom>
          <a:ln w="0">
            <a:noFill/>
          </a:ln>
        </p:spPr>
      </p:pic>
      <p:sp>
        <p:nvSpPr>
          <p:cNvPr id="45" name="cover-accent"/>
          <p:cNvSpPr/>
          <p:nvPr/>
        </p:nvSpPr>
        <p:spPr>
          <a:xfrm>
            <a:off x="457200" y="476280"/>
            <a:ext cx="95040" cy="799920"/>
          </a:xfrm>
          <a:prstGeom prst="rect">
            <a:avLst/>
          </a:prstGeom>
          <a:solidFill>
            <a:srgbClr val="fcc9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cover-title"/>
          <p:cNvSpPr/>
          <p:nvPr/>
        </p:nvSpPr>
        <p:spPr>
          <a:xfrm>
            <a:off x="762120" y="399960"/>
            <a:ext cx="5333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57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Maestro Agrícola</a:t>
            </a:r>
            <a:endParaRPr b="0" lang="pt-BR" sz="5700" spc="-1" strike="noStrike">
              <a:latin typeface="Arial"/>
            </a:endParaRPr>
          </a:p>
        </p:txBody>
      </p:sp>
      <p:sp>
        <p:nvSpPr>
          <p:cNvPr id="47" name="cover-body"/>
          <p:cNvSpPr/>
          <p:nvPr/>
        </p:nvSpPr>
        <p:spPr>
          <a:xfrm>
            <a:off x="447480" y="2760120"/>
            <a:ext cx="4952520" cy="11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pt-BR" sz="210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Uma interface hands-free para transformar intenção humana em ação segura no campo.</a:t>
            </a:r>
            <a:endParaRPr b="0" lang="pt-BR" sz="2100" spc="-1" strike="noStrike"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238800" y="399960"/>
            <a:ext cx="5476680" cy="5600520"/>
          </a:xfrm>
          <a:prstGeom prst="roundRect">
            <a:avLst>
              <a:gd name="adj" fmla="val 3130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footer-1"/>
          <p:cNvSpPr/>
          <p:nvPr/>
        </p:nvSpPr>
        <p:spPr>
          <a:xfrm>
            <a:off x="11334600" y="6334200"/>
            <a:ext cx="45684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pt-BR" sz="120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01</a:t>
            </a:r>
            <a:endParaRPr b="0" lang="pt-B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roblem-overline"/>
          <p:cNvSpPr/>
          <p:nvPr/>
        </p:nvSpPr>
        <p:spPr>
          <a:xfrm>
            <a:off x="457200" y="419040"/>
            <a:ext cx="28573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50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O PROBLEMA</a:t>
            </a:r>
            <a:endParaRPr b="0" lang="pt-BR" sz="1500" spc="-1" strike="noStrike">
              <a:latin typeface="Arial"/>
            </a:endParaRPr>
          </a:p>
        </p:txBody>
      </p:sp>
      <p:sp>
        <p:nvSpPr>
          <p:cNvPr id="51" name="problem-thesis"/>
          <p:cNvSpPr/>
          <p:nvPr/>
        </p:nvSpPr>
        <p:spPr>
          <a:xfrm>
            <a:off x="457200" y="1504800"/>
            <a:ext cx="9810360" cy="23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555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A máquina é autônoma.</a:t>
            </a:r>
            <a:endParaRPr b="0" lang="pt-BR" sz="55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pt-BR" sz="555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A interface ainda não.</a:t>
            </a:r>
            <a:endParaRPr b="0" lang="pt-BR" sz="5550" spc="-1" strike="noStrike">
              <a:latin typeface="Arial"/>
            </a:endParaRPr>
          </a:p>
        </p:txBody>
      </p:sp>
      <p:sp>
        <p:nvSpPr>
          <p:cNvPr id="52" name="problem-rule"/>
          <p:cNvSpPr/>
          <p:nvPr/>
        </p:nvSpPr>
        <p:spPr>
          <a:xfrm>
            <a:off x="457200" y="4343400"/>
            <a:ext cx="1618920" cy="56880"/>
          </a:xfrm>
          <a:prstGeom prst="rect">
            <a:avLst/>
          </a:prstGeom>
          <a:solidFill>
            <a:srgbClr val="fcc9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problem-detail"/>
          <p:cNvSpPr/>
          <p:nvPr/>
        </p:nvSpPr>
        <p:spPr>
          <a:xfrm>
            <a:off x="457200" y="47624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pt-BR" sz="210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Parar o trabalho  →  limpar as mãos  →  abrir uma tela  →  reprogramar a rota</a:t>
            </a:r>
            <a:endParaRPr b="0" lang="pt-BR" sz="2100" spc="-1" strike="noStrike">
              <a:latin typeface="Arial"/>
            </a:endParaRPr>
          </a:p>
        </p:txBody>
      </p:sp>
      <p:sp>
        <p:nvSpPr>
          <p:cNvPr id="54" name="problem-consequence"/>
          <p:cNvSpPr/>
          <p:nvPr/>
        </p:nvSpPr>
        <p:spPr>
          <a:xfrm>
            <a:off x="457200" y="5486400"/>
            <a:ext cx="7619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8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No sol, na poeira e no ritmo da operação.</a:t>
            </a:r>
            <a:endParaRPr b="0" lang="pt-BR" sz="1800" spc="-1" strike="noStrike"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11239560" y="6172200"/>
            <a:ext cx="45684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-3"/>
          <p:cNvSpPr/>
          <p:nvPr/>
        </p:nvSpPr>
        <p:spPr>
          <a:xfrm>
            <a:off x="457200" y="361800"/>
            <a:ext cx="112773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39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Três ações substituem uma tela.</a:t>
            </a:r>
            <a:endParaRPr b="0" lang="pt-BR" sz="3900" spc="-1" strike="noStrike">
              <a:latin typeface="Arial"/>
            </a:endParaRPr>
          </a:p>
        </p:txBody>
      </p:sp>
      <p:sp>
        <p:nvSpPr>
          <p:cNvPr id="57" name="journey-line"/>
          <p:cNvSpPr/>
          <p:nvPr/>
        </p:nvSpPr>
        <p:spPr>
          <a:xfrm>
            <a:off x="1047600" y="3171960"/>
            <a:ext cx="9429480" cy="37800"/>
          </a:xfrm>
          <a:prstGeom prst="rect">
            <a:avLst/>
          </a:prstGeom>
          <a:solidFill>
            <a:srgbClr val="c9d1b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journey-node-1"/>
          <p:cNvSpPr/>
          <p:nvPr/>
        </p:nvSpPr>
        <p:spPr>
          <a:xfrm>
            <a:off x="1428840" y="3000240"/>
            <a:ext cx="380520" cy="380520"/>
          </a:xfrm>
          <a:prstGeom prst="roundRect">
            <a:avLst>
              <a:gd name="adj" fmla="val 50000"/>
            </a:avLst>
          </a:prstGeom>
          <a:solidFill>
            <a:srgbClr val="fcc931"/>
          </a:solidFill>
          <a:ln w="19050">
            <a:solidFill>
              <a:srgbClr val="3c4c1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journey-label-1"/>
          <p:cNvSpPr/>
          <p:nvPr/>
        </p:nvSpPr>
        <p:spPr>
          <a:xfrm>
            <a:off x="1380960" y="224784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8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01  OLHAR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60" name="journey-body-1"/>
          <p:cNvSpPr/>
          <p:nvPr/>
        </p:nvSpPr>
        <p:spPr>
          <a:xfrm>
            <a:off x="1380960" y="3714840"/>
            <a:ext cx="2761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Placa + QR resolvem o plot.</a:t>
            </a:r>
            <a:endParaRPr b="0" lang="pt-BR" sz="19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O ID falado também é validado.</a:t>
            </a:r>
            <a:endParaRPr b="0" lang="pt-BR" sz="1950" spc="-1" strike="noStrike">
              <a:latin typeface="Arial"/>
            </a:endParaRPr>
          </a:p>
        </p:txBody>
      </p:sp>
      <p:sp>
        <p:nvSpPr>
          <p:cNvPr id="61" name="journey-node-2"/>
          <p:cNvSpPr/>
          <p:nvPr/>
        </p:nvSpPr>
        <p:spPr>
          <a:xfrm>
            <a:off x="5143680" y="3000240"/>
            <a:ext cx="380520" cy="380520"/>
          </a:xfrm>
          <a:prstGeom prst="roundRect">
            <a:avLst>
              <a:gd name="adj" fmla="val 50000"/>
            </a:avLst>
          </a:prstGeom>
          <a:solidFill>
            <a:srgbClr val="fcc931"/>
          </a:solidFill>
          <a:ln w="19050">
            <a:solidFill>
              <a:srgbClr val="3c4c1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journey-label-2"/>
          <p:cNvSpPr/>
          <p:nvPr/>
        </p:nvSpPr>
        <p:spPr>
          <a:xfrm>
            <a:off x="5095800" y="224784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8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02  FALAR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63" name="journey-body-2"/>
          <p:cNvSpPr/>
          <p:nvPr/>
        </p:nvSpPr>
        <p:spPr>
          <a:xfrm>
            <a:off x="5095800" y="3714840"/>
            <a:ext cx="2761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Softmax local</a:t>
            </a:r>
            <a:endParaRPr b="0" lang="pt-BR" sz="1950" spc="-1" strike="noStrike">
              <a:latin typeface="Arial"/>
            </a:endParaRPr>
          </a:p>
          <a:p>
            <a:r>
              <a:rPr b="0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65 KB · 4 intenções</a:t>
            </a:r>
            <a:endParaRPr b="0" lang="pt-BR" sz="19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limiar 0,40</a:t>
            </a:r>
            <a:endParaRPr b="0" lang="pt-BR" sz="1950" spc="-1" strike="noStrike">
              <a:latin typeface="Arial"/>
            </a:endParaRPr>
          </a:p>
        </p:txBody>
      </p:sp>
      <p:sp>
        <p:nvSpPr>
          <p:cNvPr id="64" name="journey-node-3"/>
          <p:cNvSpPr/>
          <p:nvPr/>
        </p:nvSpPr>
        <p:spPr>
          <a:xfrm>
            <a:off x="8858160" y="3000240"/>
            <a:ext cx="380520" cy="380520"/>
          </a:xfrm>
          <a:prstGeom prst="roundRect">
            <a:avLst>
              <a:gd name="adj" fmla="val 50000"/>
            </a:avLst>
          </a:prstGeom>
          <a:solidFill>
            <a:srgbClr val="fcc931"/>
          </a:solidFill>
          <a:ln w="19050">
            <a:solidFill>
              <a:srgbClr val="3c4c1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journey-label-3"/>
          <p:cNvSpPr/>
          <p:nvPr/>
        </p:nvSpPr>
        <p:spPr>
          <a:xfrm>
            <a:off x="8810640" y="224784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8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03  CONFIRMAR</a:t>
            </a:r>
            <a:endParaRPr b="0" lang="pt-BR" sz="1800" spc="-1" strike="noStrike">
              <a:latin typeface="Arial"/>
            </a:endParaRPr>
          </a:p>
        </p:txBody>
      </p:sp>
      <p:sp>
        <p:nvSpPr>
          <p:cNvPr id="66" name="journey-body-3"/>
          <p:cNvSpPr/>
          <p:nvPr/>
        </p:nvSpPr>
        <p:spPr>
          <a:xfrm>
            <a:off x="8810640" y="3714840"/>
            <a:ext cx="2761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Só o ‘sim’ libera o comando ao robô.</a:t>
            </a:r>
            <a:endParaRPr b="0" lang="pt-BR" sz="1950" spc="-1" strike="noStrike">
              <a:latin typeface="Arial"/>
            </a:endParaRPr>
          </a:p>
        </p:txBody>
      </p:sp>
      <p:sp>
        <p:nvSpPr>
          <p:cNvPr id="67" name="journey-safety"/>
          <p:cNvSpPr/>
          <p:nvPr/>
        </p:nvSpPr>
        <p:spPr>
          <a:xfrm>
            <a:off x="457200" y="5429160"/>
            <a:ext cx="10839240" cy="571320"/>
          </a:xfrm>
          <a:prstGeom prst="roundRect">
            <a:avLst>
              <a:gd name="adj" fmla="val 20000"/>
            </a:avLst>
          </a:prstGeom>
          <a:solidFill>
            <a:srgbClr val="fff4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journey-safety-text"/>
          <p:cNvSpPr/>
          <p:nvPr/>
        </p:nvSpPr>
        <p:spPr>
          <a:xfrm>
            <a:off x="704880" y="5562720"/>
            <a:ext cx="10286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pt-BR" sz="187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Voz ≠ câmera ou falta de confirmação = nenhum comando.</a:t>
            </a:r>
            <a:endParaRPr b="0" lang="pt-BR" sz="1870" spc="-1" strike="noStrike">
              <a:latin typeface="Arial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11239560" y="6172200"/>
            <a:ext cx="45684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itle-4"/>
          <p:cNvSpPr/>
          <p:nvPr/>
        </p:nvSpPr>
        <p:spPr>
          <a:xfrm>
            <a:off x="457200" y="361800"/>
            <a:ext cx="112773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39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O ciclo completo já funciona em simulação.</a:t>
            </a:r>
            <a:endParaRPr b="0" lang="pt-BR" sz="3900" spc="-1" strike="noStrike">
              <a:latin typeface="Arial"/>
            </a:endParaRPr>
          </a:p>
        </p:txBody>
      </p:sp>
      <p:sp>
        <p:nvSpPr>
          <p:cNvPr id="71" name="architecture-arrow-1"/>
          <p:cNvSpPr/>
          <p:nvPr/>
        </p:nvSpPr>
        <p:spPr>
          <a:xfrm>
            <a:off x="2781360" y="3019320"/>
            <a:ext cx="323640" cy="266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cc931"/>
          </a:solidFill>
          <a:ln w="9525">
            <a:solidFill>
              <a:srgbClr val="3c4c1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architecture-arrow-2"/>
          <p:cNvSpPr/>
          <p:nvPr/>
        </p:nvSpPr>
        <p:spPr>
          <a:xfrm>
            <a:off x="5514840" y="3019320"/>
            <a:ext cx="323640" cy="266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cc931"/>
          </a:solidFill>
          <a:ln w="9525">
            <a:solidFill>
              <a:srgbClr val="3c4c1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" name="architecture-arrow-3"/>
          <p:cNvSpPr/>
          <p:nvPr/>
        </p:nvSpPr>
        <p:spPr>
          <a:xfrm>
            <a:off x="8248680" y="3019320"/>
            <a:ext cx="323640" cy="266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cc931"/>
          </a:solidFill>
          <a:ln w="9525">
            <a:solidFill>
              <a:srgbClr val="3c4c1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architecture-node-1"/>
          <p:cNvSpPr/>
          <p:nvPr/>
        </p:nvSpPr>
        <p:spPr>
          <a:xfrm>
            <a:off x="457200" y="2238480"/>
            <a:ext cx="2238120" cy="2190240"/>
          </a:xfrm>
          <a:prstGeom prst="roundRect">
            <a:avLst>
              <a:gd name="adj" fmla="val 5217"/>
            </a:avLst>
          </a:prstGeom>
          <a:solidFill>
            <a:srgbClr val="fffdf5"/>
          </a:solidFill>
          <a:ln w="9525">
            <a:solidFill>
              <a:srgbClr val="c9d1b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architecture-accent-1"/>
          <p:cNvSpPr/>
          <p:nvPr/>
        </p:nvSpPr>
        <p:spPr>
          <a:xfrm>
            <a:off x="457200" y="2238480"/>
            <a:ext cx="2238120" cy="114120"/>
          </a:xfrm>
          <a:prstGeom prst="rect">
            <a:avLst/>
          </a:prstGeom>
          <a:solidFill>
            <a:srgbClr val="fcc9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architecture-title-1"/>
          <p:cNvSpPr/>
          <p:nvPr/>
        </p:nvSpPr>
        <p:spPr>
          <a:xfrm>
            <a:off x="647640" y="2543040"/>
            <a:ext cx="185688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pt-BR" sz="202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AI Glasses</a:t>
            </a:r>
            <a:endParaRPr b="0" lang="pt-BR" sz="2020" spc="-1" strike="noStrike">
              <a:latin typeface="Arial"/>
            </a:endParaRPr>
          </a:p>
        </p:txBody>
      </p:sp>
      <p:sp>
        <p:nvSpPr>
          <p:cNvPr id="77" name="architecture-body-1"/>
          <p:cNvSpPr/>
          <p:nvPr/>
        </p:nvSpPr>
        <p:spPr>
          <a:xfrm>
            <a:off x="647640" y="3247920"/>
            <a:ext cx="185688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câmera via DAT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placa + QR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voz/TTS nativos</a:t>
            </a:r>
            <a:endParaRPr b="0" lang="pt-BR" sz="1650" spc="-1" strike="noStrike">
              <a:latin typeface="Arial"/>
            </a:endParaRPr>
          </a:p>
        </p:txBody>
      </p:sp>
      <p:sp>
        <p:nvSpPr>
          <p:cNvPr id="78" name="architecture-node-2"/>
          <p:cNvSpPr/>
          <p:nvPr/>
        </p:nvSpPr>
        <p:spPr>
          <a:xfrm>
            <a:off x="3191040" y="2238480"/>
            <a:ext cx="2238120" cy="2190240"/>
          </a:xfrm>
          <a:prstGeom prst="roundRect">
            <a:avLst>
              <a:gd name="adj" fmla="val 5217"/>
            </a:avLst>
          </a:prstGeom>
          <a:solidFill>
            <a:srgbClr val="fffdf5"/>
          </a:solidFill>
          <a:ln w="9525">
            <a:solidFill>
              <a:srgbClr val="c9d1b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architecture-accent-2"/>
          <p:cNvSpPr/>
          <p:nvPr/>
        </p:nvSpPr>
        <p:spPr>
          <a:xfrm>
            <a:off x="3191040" y="2238480"/>
            <a:ext cx="2238120" cy="114120"/>
          </a:xfrm>
          <a:prstGeom prst="rect">
            <a:avLst/>
          </a:prstGeom>
          <a:solidFill>
            <a:srgbClr val="fcc9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architecture-title-2"/>
          <p:cNvSpPr/>
          <p:nvPr/>
        </p:nvSpPr>
        <p:spPr>
          <a:xfrm>
            <a:off x="3381480" y="2543040"/>
            <a:ext cx="185688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pt-BR" sz="202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App nativo</a:t>
            </a:r>
            <a:endParaRPr b="0" lang="pt-BR" sz="2020" spc="-1" strike="noStrike">
              <a:latin typeface="Arial"/>
            </a:endParaRPr>
          </a:p>
        </p:txBody>
      </p:sp>
      <p:sp>
        <p:nvSpPr>
          <p:cNvPr id="81" name="architecture-body-2"/>
          <p:cNvSpPr/>
          <p:nvPr/>
        </p:nvSpPr>
        <p:spPr>
          <a:xfrm>
            <a:off x="3381480" y="3247920"/>
            <a:ext cx="185688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Android / Kotlin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softmax · 65 KB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confirmação</a:t>
            </a:r>
            <a:endParaRPr b="0" lang="pt-BR" sz="1650" spc="-1" strike="noStrike">
              <a:latin typeface="Arial"/>
            </a:endParaRPr>
          </a:p>
        </p:txBody>
      </p:sp>
      <p:sp>
        <p:nvSpPr>
          <p:cNvPr id="82" name="architecture-node-3"/>
          <p:cNvSpPr/>
          <p:nvPr/>
        </p:nvSpPr>
        <p:spPr>
          <a:xfrm>
            <a:off x="5924520" y="2238480"/>
            <a:ext cx="2238120" cy="2190240"/>
          </a:xfrm>
          <a:prstGeom prst="roundRect">
            <a:avLst>
              <a:gd name="adj" fmla="val 5217"/>
            </a:avLst>
          </a:prstGeom>
          <a:solidFill>
            <a:srgbClr val="fffdf5"/>
          </a:solidFill>
          <a:ln w="9525">
            <a:solidFill>
              <a:srgbClr val="c9d1b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architecture-accent-3"/>
          <p:cNvSpPr/>
          <p:nvPr/>
        </p:nvSpPr>
        <p:spPr>
          <a:xfrm>
            <a:off x="5924520" y="2238480"/>
            <a:ext cx="2238120" cy="114120"/>
          </a:xfrm>
          <a:prstGeom prst="rect">
            <a:avLst/>
          </a:prstGeom>
          <a:solidFill>
            <a:srgbClr val="fcc9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architecture-title-3"/>
          <p:cNvSpPr/>
          <p:nvPr/>
        </p:nvSpPr>
        <p:spPr>
          <a:xfrm>
            <a:off x="6114960" y="2543040"/>
            <a:ext cx="185688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pt-BR" sz="202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WebSocket</a:t>
            </a:r>
            <a:endParaRPr b="0" lang="pt-BR" sz="2020" spc="-1" strike="noStrike">
              <a:latin typeface="Arial"/>
            </a:endParaRPr>
          </a:p>
        </p:txBody>
      </p:sp>
      <p:sp>
        <p:nvSpPr>
          <p:cNvPr id="85" name="architecture-body-3"/>
          <p:cNvSpPr/>
          <p:nvPr/>
        </p:nvSpPr>
        <p:spPr>
          <a:xfrm>
            <a:off x="6114960" y="3247920"/>
            <a:ext cx="185688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JSON versionado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expiração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idempotência</a:t>
            </a:r>
            <a:endParaRPr b="0" lang="pt-BR" sz="1650" spc="-1" strike="noStrike">
              <a:latin typeface="Arial"/>
            </a:endParaRPr>
          </a:p>
        </p:txBody>
      </p:sp>
      <p:sp>
        <p:nvSpPr>
          <p:cNvPr id="86" name="architecture-node-4"/>
          <p:cNvSpPr/>
          <p:nvPr/>
        </p:nvSpPr>
        <p:spPr>
          <a:xfrm>
            <a:off x="8658360" y="2238480"/>
            <a:ext cx="2238120" cy="2190240"/>
          </a:xfrm>
          <a:prstGeom prst="roundRect">
            <a:avLst>
              <a:gd name="adj" fmla="val 5217"/>
            </a:avLst>
          </a:prstGeom>
          <a:solidFill>
            <a:srgbClr val="fffdf5"/>
          </a:solidFill>
          <a:ln w="9525">
            <a:solidFill>
              <a:srgbClr val="c9d1b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architecture-accent-4"/>
          <p:cNvSpPr/>
          <p:nvPr/>
        </p:nvSpPr>
        <p:spPr>
          <a:xfrm>
            <a:off x="8658360" y="2238480"/>
            <a:ext cx="2238120" cy="114120"/>
          </a:xfrm>
          <a:prstGeom prst="rect">
            <a:avLst/>
          </a:prstGeom>
          <a:solidFill>
            <a:srgbClr val="fcc9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architecture-title-4"/>
          <p:cNvSpPr/>
          <p:nvPr/>
        </p:nvSpPr>
        <p:spPr>
          <a:xfrm>
            <a:off x="8848800" y="2543040"/>
            <a:ext cx="185688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pt-BR" sz="202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ROS 2 / Nav2</a:t>
            </a:r>
            <a:endParaRPr b="0" lang="pt-BR" sz="2020" spc="-1" strike="noStrike">
              <a:latin typeface="Arial"/>
            </a:endParaRPr>
          </a:p>
        </p:txBody>
      </p:sp>
      <p:sp>
        <p:nvSpPr>
          <p:cNvPr id="89" name="architecture-body-4"/>
          <p:cNvSpPr/>
          <p:nvPr/>
        </p:nvSpPr>
        <p:spPr>
          <a:xfrm>
            <a:off x="8848800" y="3247920"/>
            <a:ext cx="185688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bridge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Gazebo</a:t>
            </a:r>
            <a:endParaRPr b="0" lang="pt-BR" sz="1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pt-BR" sz="16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TurtleBot 4</a:t>
            </a:r>
            <a:endParaRPr b="0" lang="pt-BR" sz="1650" spc="-1" strike="noStrike">
              <a:latin typeface="Arial"/>
            </a:endParaRPr>
          </a:p>
        </p:txBody>
      </p:sp>
      <p:sp>
        <p:nvSpPr>
          <p:cNvPr id="90" name="architecture-decision"/>
          <p:cNvSpPr/>
          <p:nvPr/>
        </p:nvSpPr>
        <p:spPr>
          <a:xfrm>
            <a:off x="457200" y="4952880"/>
            <a:ext cx="10438920" cy="837720"/>
          </a:xfrm>
          <a:prstGeom prst="roundRect">
            <a:avLst>
              <a:gd name="adj" fmla="val 13636"/>
            </a:avLst>
          </a:prstGeom>
          <a:solidFill>
            <a:srgbClr val="fff4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architecture-decision-text"/>
          <p:cNvSpPr/>
          <p:nvPr/>
        </p:nvSpPr>
        <p:spPr>
          <a:xfrm>
            <a:off x="723960" y="5162400"/>
            <a:ext cx="99057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pt-BR" sz="187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Alvo visual + ID falado; se discordarem, nada é enviado. GPS não vira destino.</a:t>
            </a:r>
            <a:endParaRPr b="0" lang="pt-BR" sz="1870" spc="-1" strike="noStrike">
              <a:latin typeface="Arial"/>
            </a:endParaRPr>
          </a:p>
        </p:txBody>
      </p:sp>
      <p:pic>
        <p:nvPicPr>
          <p:cNvPr id="92" name="" descr=""/>
          <p:cNvPicPr/>
          <p:nvPr/>
        </p:nvPicPr>
        <p:blipFill>
          <a:blip r:embed="rId1"/>
          <a:stretch/>
        </p:blipFill>
        <p:spPr>
          <a:xfrm>
            <a:off x="11239560" y="6172200"/>
            <a:ext cx="45684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le-5"/>
          <p:cNvSpPr/>
          <p:nvPr/>
        </p:nvSpPr>
        <p:spPr>
          <a:xfrm>
            <a:off x="457200" y="361800"/>
            <a:ext cx="112773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39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A simulação já fecha o ciclo com falha segura.</a:t>
            </a:r>
            <a:endParaRPr b="0" lang="pt-BR" sz="3900" spc="-1" strike="noStrike">
              <a:latin typeface="Arial"/>
            </a:endParaRPr>
          </a:p>
        </p:txBody>
      </p:sp>
      <p:sp>
        <p:nvSpPr>
          <p:cNvPr id="94" name="evidence-intro"/>
          <p:cNvSpPr/>
          <p:nvPr/>
        </p:nvSpPr>
        <p:spPr>
          <a:xfrm>
            <a:off x="457200" y="1649880"/>
            <a:ext cx="106675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Três sinais reproduzíveis; o próximo gate é o hardware real.</a:t>
            </a:r>
            <a:endParaRPr b="0" lang="pt-BR" sz="1950" spc="-1" strike="noStrike">
              <a:latin typeface="Arial"/>
            </a:endParaRPr>
          </a:p>
        </p:txBody>
      </p:sp>
      <p:sp>
        <p:nvSpPr>
          <p:cNvPr id="95" name="evidence-card-1"/>
          <p:cNvSpPr/>
          <p:nvPr/>
        </p:nvSpPr>
        <p:spPr>
          <a:xfrm>
            <a:off x="457200" y="2238480"/>
            <a:ext cx="3219120" cy="2952360"/>
          </a:xfrm>
          <a:prstGeom prst="roundRect">
            <a:avLst>
              <a:gd name="adj" fmla="val 3871"/>
            </a:avLst>
          </a:prstGeom>
          <a:solidFill>
            <a:srgbClr val="fffdf5"/>
          </a:solidFill>
          <a:ln w="9525">
            <a:solidFill>
              <a:srgbClr val="c9d1b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evidence-stat-1"/>
          <p:cNvSpPr/>
          <p:nvPr/>
        </p:nvSpPr>
        <p:spPr>
          <a:xfrm>
            <a:off x="704880" y="2552760"/>
            <a:ext cx="272376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54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QR</a:t>
            </a:r>
            <a:endParaRPr b="0" lang="pt-BR" sz="5400" spc="-1" strike="noStrike">
              <a:latin typeface="Arial"/>
            </a:endParaRPr>
          </a:p>
        </p:txBody>
      </p:sp>
      <p:sp>
        <p:nvSpPr>
          <p:cNvPr id="97" name="evidence-header-1"/>
          <p:cNvSpPr/>
          <p:nvPr/>
        </p:nvSpPr>
        <p:spPr>
          <a:xfrm>
            <a:off x="704880" y="3695760"/>
            <a:ext cx="2723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plot-03 detectado</a:t>
            </a:r>
            <a:endParaRPr b="0" lang="pt-BR" sz="1950" spc="-1" strike="noStrike">
              <a:latin typeface="Arial"/>
            </a:endParaRPr>
          </a:p>
        </p:txBody>
      </p:sp>
      <p:sp>
        <p:nvSpPr>
          <p:cNvPr id="98" name="evidence-detail-1"/>
          <p:cNvSpPr/>
          <p:nvPr/>
        </p:nvSpPr>
        <p:spPr>
          <a:xfrm>
            <a:off x="704880" y="4210200"/>
            <a:ext cx="272376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pt-BR" sz="158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Placa completa decodificada localmente.</a:t>
            </a:r>
            <a:endParaRPr b="0" lang="pt-BR" sz="1580" spc="-1" strike="noStrike">
              <a:latin typeface="Arial"/>
            </a:endParaRPr>
          </a:p>
        </p:txBody>
      </p:sp>
      <p:sp>
        <p:nvSpPr>
          <p:cNvPr id="99" name="evidence-card-2"/>
          <p:cNvSpPr/>
          <p:nvPr/>
        </p:nvSpPr>
        <p:spPr>
          <a:xfrm>
            <a:off x="4133880" y="2238480"/>
            <a:ext cx="3219120" cy="2952360"/>
          </a:xfrm>
          <a:prstGeom prst="roundRect">
            <a:avLst>
              <a:gd name="adj" fmla="val 3871"/>
            </a:avLst>
          </a:prstGeom>
          <a:solidFill>
            <a:srgbClr val="fffdf5"/>
          </a:solidFill>
          <a:ln w="9525">
            <a:solidFill>
              <a:srgbClr val="c9d1b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evidence-stat-2"/>
          <p:cNvSpPr/>
          <p:nvPr/>
        </p:nvSpPr>
        <p:spPr>
          <a:xfrm>
            <a:off x="4381560" y="2552760"/>
            <a:ext cx="272376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54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15/16</a:t>
            </a:r>
            <a:endParaRPr b="0" lang="pt-BR" sz="5400" spc="-1" strike="noStrike">
              <a:latin typeface="Arial"/>
            </a:endParaRPr>
          </a:p>
        </p:txBody>
      </p:sp>
      <p:sp>
        <p:nvSpPr>
          <p:cNvPr id="101" name="evidence-header-2"/>
          <p:cNvSpPr/>
          <p:nvPr/>
        </p:nvSpPr>
        <p:spPr>
          <a:xfrm>
            <a:off x="4381560" y="3695760"/>
            <a:ext cx="2723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IA operacional</a:t>
            </a:r>
            <a:endParaRPr b="0" lang="pt-BR" sz="1950" spc="-1" strike="noStrike">
              <a:latin typeface="Arial"/>
            </a:endParaRPr>
          </a:p>
        </p:txBody>
      </p:sp>
      <p:sp>
        <p:nvSpPr>
          <p:cNvPr id="102" name="evidence-detail-2"/>
          <p:cNvSpPr/>
          <p:nvPr/>
        </p:nvSpPr>
        <p:spPr>
          <a:xfrm>
            <a:off x="4381560" y="4210200"/>
            <a:ext cx="272376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pt-BR" sz="158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96 frases; a restante virou UNKNOWN.</a:t>
            </a:r>
            <a:endParaRPr b="0" lang="pt-BR" sz="1580" spc="-1" strike="noStrike">
              <a:latin typeface="Arial"/>
            </a:endParaRPr>
          </a:p>
        </p:txBody>
      </p:sp>
      <p:sp>
        <p:nvSpPr>
          <p:cNvPr id="103" name="evidence-card-3"/>
          <p:cNvSpPr/>
          <p:nvPr/>
        </p:nvSpPr>
        <p:spPr>
          <a:xfrm>
            <a:off x="7810560" y="2238480"/>
            <a:ext cx="3219120" cy="2952360"/>
          </a:xfrm>
          <a:prstGeom prst="roundRect">
            <a:avLst>
              <a:gd name="adj" fmla="val 3871"/>
            </a:avLst>
          </a:prstGeom>
          <a:solidFill>
            <a:srgbClr val="fffdf5"/>
          </a:solidFill>
          <a:ln w="9525">
            <a:solidFill>
              <a:srgbClr val="c9d1b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evidence-stat-3"/>
          <p:cNvSpPr/>
          <p:nvPr/>
        </p:nvSpPr>
        <p:spPr>
          <a:xfrm>
            <a:off x="8058240" y="2552760"/>
            <a:ext cx="272376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540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ROS 2</a:t>
            </a:r>
            <a:endParaRPr b="0" lang="pt-BR" sz="5400" spc="-1" strike="noStrike">
              <a:latin typeface="Arial"/>
            </a:endParaRPr>
          </a:p>
        </p:txBody>
      </p:sp>
      <p:sp>
        <p:nvSpPr>
          <p:cNvPr id="105" name="evidence-header-3"/>
          <p:cNvSpPr/>
          <p:nvPr/>
        </p:nvSpPr>
        <p:spPr>
          <a:xfrm>
            <a:off x="8058240" y="3695760"/>
            <a:ext cx="2723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195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movimento provado</a:t>
            </a:r>
            <a:endParaRPr b="0" lang="pt-BR" sz="1950" spc="-1" strike="noStrike">
              <a:latin typeface="Arial"/>
            </a:endParaRPr>
          </a:p>
        </p:txBody>
      </p:sp>
      <p:sp>
        <p:nvSpPr>
          <p:cNvPr id="106" name="evidence-detail-3"/>
          <p:cNvSpPr/>
          <p:nvPr/>
        </p:nvSpPr>
        <p:spPr>
          <a:xfrm>
            <a:off x="8058240" y="4210200"/>
            <a:ext cx="272376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pt-BR" sz="158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ACCEPTED + Nav2 ativo + odometria mudou.</a:t>
            </a:r>
            <a:endParaRPr b="0" lang="pt-BR" sz="1580" spc="-1" strike="noStrike">
              <a:latin typeface="Arial"/>
            </a:endParaRPr>
          </a:p>
        </p:txBody>
      </p:sp>
      <p:sp>
        <p:nvSpPr>
          <p:cNvPr id="107" name="evidence-safety"/>
          <p:cNvSpPr/>
          <p:nvPr/>
        </p:nvSpPr>
        <p:spPr>
          <a:xfrm>
            <a:off x="457200" y="5619600"/>
            <a:ext cx="10667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202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Voz ≠ câmera, ‘cancelar’ ou falta de confirmação = sem comando.</a:t>
            </a:r>
            <a:endParaRPr b="0" lang="pt-BR" sz="2020" spc="-1" strike="noStrike">
              <a:latin typeface="Arial"/>
            </a:endParaRPr>
          </a:p>
        </p:txBody>
      </p:sp>
      <p:pic>
        <p:nvPicPr>
          <p:cNvPr id="108" name="" descr=""/>
          <p:cNvPicPr/>
          <p:nvPr/>
        </p:nvPicPr>
        <p:blipFill>
          <a:blip r:embed="rId1"/>
          <a:stretch/>
        </p:blipFill>
        <p:spPr>
          <a:xfrm>
            <a:off x="11239560" y="6172200"/>
            <a:ext cx="45684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" descr=""/>
          <p:cNvPicPr/>
          <p:nvPr/>
        </p:nvPicPr>
        <p:blipFill>
          <a:blip r:embed="rId1"/>
          <a:srcRect l="0" t="34001" r="3999" b="34001"/>
          <a:stretch/>
        </p:blipFill>
        <p:spPr>
          <a:xfrm>
            <a:off x="457200" y="363240"/>
            <a:ext cx="4000320" cy="1333080"/>
          </a:xfrm>
          <a:prstGeom prst="rect">
            <a:avLst/>
          </a:prstGeom>
          <a:ln w="0">
            <a:noFill/>
          </a:ln>
        </p:spPr>
      </p:pic>
      <p:sp>
        <p:nvSpPr>
          <p:cNvPr id="110" name="close-thesis"/>
          <p:cNvSpPr/>
          <p:nvPr/>
        </p:nvSpPr>
        <p:spPr>
          <a:xfrm>
            <a:off x="457200" y="1714680"/>
            <a:ext cx="102866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5250" spc="-1" strike="noStrike">
                <a:solidFill>
                  <a:srgbClr val="3c4c1e"/>
                </a:solidFill>
                <a:latin typeface="League Spartan"/>
                <a:ea typeface="League Spartan"/>
              </a:rPr>
              <a:t>O futuro do campo não precisa de mais telas.</a:t>
            </a:r>
            <a:endParaRPr b="0" lang="pt-BR" sz="5250" spc="-1" strike="noStrike">
              <a:latin typeface="Arial"/>
            </a:endParaRPr>
          </a:p>
        </p:txBody>
      </p:sp>
      <p:sp>
        <p:nvSpPr>
          <p:cNvPr id="111" name="close-tagline"/>
          <p:cNvSpPr/>
          <p:nvPr/>
        </p:nvSpPr>
        <p:spPr>
          <a:xfrm>
            <a:off x="457200" y="4809960"/>
            <a:ext cx="685764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pt-BR" sz="3300" spc="-1" strike="noStrike">
                <a:solidFill>
                  <a:srgbClr val="0f3c65"/>
                </a:solidFill>
                <a:latin typeface="League Spartan"/>
                <a:ea typeface="League Spartan"/>
              </a:rPr>
              <a:t>Olhe. Fale. Confirme.</a:t>
            </a:r>
            <a:endParaRPr b="0" lang="pt-BR" sz="3300" spc="-1" strike="noStrike">
              <a:latin typeface="Arial"/>
            </a:endParaRPr>
          </a:p>
        </p:txBody>
      </p:sp>
      <p:sp>
        <p:nvSpPr>
          <p:cNvPr id="112" name="close-bar"/>
          <p:cNvSpPr/>
          <p:nvPr/>
        </p:nvSpPr>
        <p:spPr>
          <a:xfrm>
            <a:off x="0" y="6524640"/>
            <a:ext cx="12191760" cy="333000"/>
          </a:xfrm>
          <a:prstGeom prst="rect">
            <a:avLst/>
          </a:prstGeom>
          <a:solidFill>
            <a:srgbClr val="fcc9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2026-08-19T01:03:55Z</dcterms:created>
  <dc:creator>Walnut Exporter</dc:creator>
  <dc:description/>
  <dc:language>pt-BR</dc:language>
  <cp:lastModifiedBy/>
  <dcterms:modified xsi:type="dcterms:W3CDTF">2026-08-19T12:51:04Z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