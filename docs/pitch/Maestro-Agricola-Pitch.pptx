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be6615f68b4f88" /><Relationship Type="http://schemas.openxmlformats.org/officeDocument/2006/relationships/extended-properties" Target="/docProps/app.xml" Id="R3efdb919a3bf48be" /><Relationship Type="http://schemas.openxmlformats.org/officeDocument/2006/relationships/officeDocument" Target="/ppt/presentation.xml" Id="Rfc241de29013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0380d9eb81451f"/>
  </p:sldMasterIdLst>
  <p:notesMasterIdLst>
    <p:notesMasterId xmlns:r="http://schemas.openxmlformats.org/officeDocument/2006/relationships" r:id="R04e59e29b1d049ce"/>
  </p:notesMasterIdLst>
  <p:sldIdLst>
    <p:sldId xmlns:r="http://schemas.openxmlformats.org/officeDocument/2006/relationships" id="256" r:id="R6afa8560520d4689"/>
    <p:sldId xmlns:r="http://schemas.openxmlformats.org/officeDocument/2006/relationships" id="257" r:id="R59ba0ad87d714515"/>
    <p:sldId xmlns:r="http://schemas.openxmlformats.org/officeDocument/2006/relationships" id="258" r:id="R4f7099ef23064ef6"/>
    <p:sldId xmlns:r="http://schemas.openxmlformats.org/officeDocument/2006/relationships" id="259" r:id="Rce80a728e0d74310"/>
    <p:sldId xmlns:r="http://schemas.openxmlformats.org/officeDocument/2006/relationships" id="260" r:id="R844931d6e3884070"/>
    <p:sldId xmlns:r="http://schemas.openxmlformats.org/officeDocument/2006/relationships" id="261" r:id="R7fc912c13c4045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5a022c0e274f93" /><Relationship Type="http://schemas.openxmlformats.org/officeDocument/2006/relationships/slideMaster" Target="/ppt/slideMasters/slideMaster1.xml" Id="Rdd0380d9eb81451f" /><Relationship Type="http://schemas.openxmlformats.org/officeDocument/2006/relationships/notesMaster" Target="/ppt/notesMasters/notesMaster1.xml" Id="R04e59e29b1d049ce" /><Relationship Type="http://schemas.openxmlformats.org/officeDocument/2006/relationships/presProps" Target="/ppt/presProps.xml" Id="Rf3e2c54a32af401a" /><Relationship Type="http://schemas.openxmlformats.org/officeDocument/2006/relationships/tableStyles" Target="/ppt/tableStyles.xml" Id="Rbe64f2a4721845e0" /><Relationship Type="http://schemas.openxmlformats.org/officeDocument/2006/relationships/slide" Target="/ppt/slides/slide1.xml" Id="R6afa8560520d4689" /><Relationship Type="http://schemas.openxmlformats.org/officeDocument/2006/relationships/slide" Target="/ppt/slides/slide2.xml" Id="R59ba0ad87d714515" /><Relationship Type="http://schemas.openxmlformats.org/officeDocument/2006/relationships/slide" Target="/ppt/slides/slide3.xml" Id="R4f7099ef23064ef6" /><Relationship Type="http://schemas.openxmlformats.org/officeDocument/2006/relationships/slide" Target="/ppt/slides/slide4.xml" Id="Rce80a728e0d74310" /><Relationship Type="http://schemas.openxmlformats.org/officeDocument/2006/relationships/slide" Target="/ppt/slides/slide5.xml" Id="R844931d6e3884070" /><Relationship Type="http://schemas.openxmlformats.org/officeDocument/2006/relationships/slide" Target="/ppt/slides/slide6.xml" Id="R7fc912c13c40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f23e889c354a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852388f876445b" /><Relationship Type="http://schemas.openxmlformats.org/officeDocument/2006/relationships/notesMaster" Target="/ppt/notesMasters/notesMaster1.xml" Id="Rf8a5fbd45b94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e1f1e72a7245b9" /><Relationship Type="http://schemas.openxmlformats.org/officeDocument/2006/relationships/notesMaster" Target="/ppt/notesMasters/notesMaster1.xml" Id="Re252d81a2f314e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4707cbf51e4eb2" /><Relationship Type="http://schemas.openxmlformats.org/officeDocument/2006/relationships/notesMaster" Target="/ppt/notesMasters/notesMaster1.xml" Id="Rd74af6428b9645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3a0ac180c24829" /><Relationship Type="http://schemas.openxmlformats.org/officeDocument/2006/relationships/notesMaster" Target="/ppt/notesMasters/notesMaster1.xml" Id="R74b3e9eef90349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85277f272647f3" /><Relationship Type="http://schemas.openxmlformats.org/officeDocument/2006/relationships/notesMaster" Target="/ppt/notesMasters/notesMaster1.xml" Id="Ra4bba1e894d945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87478c0ed94606" /><Relationship Type="http://schemas.openxmlformats.org/officeDocument/2006/relationships/notesMaster" Target="/ppt/notesMasters/notesMaster1.xml" Id="R43bf7a8fea6049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Imagine um operador no meio da lavoura, com as mãos ocupadas, tentando orientar um robô autônomo. A máquina já sabe navegar, mas a interface ainda exige parar o trabalho e abrir uma tela. O Maestro Agrícola muda isso: o operador olha, fala e comanda.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Versão Resumida - Maestro Agrícola (AI Glasses Brasil), equipe AgroTurtles, 2026.</a:t>
            </a:r>
          </a:p>
          <a:p xmlns:a="http://schemas.openxmlformats.org/drawingml/2006/main">
            <a:r>
              <a:t>- Imagem original gerada para esta apresentação com OpenAI Image Generation em 16 ago. 2026; sem fotografia externa.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Hoje, reprogramar uma rota no campo pode exigir notebook ou tablet, justamente em um ambiente de sol, poeira e operação contínua. Essa fricção reduz a produtividade e afasta a tecnologia de quem mais precisa usá-la. O problema não é a autonomia do robô. É a forma como o humano conversa com 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Versão Técnica - Maestro Agrícola (AI Glasses Brasil), equipe AgroTurtles,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 o Maestro, a jornada tem três passos. Primeiro, olhar: a câmera identifica o talhão ou alvo centralizado. Depois, falar: a inteligência artificial transforma “pulverizar esta área” em uma intenção estruturada. Por fim, confirmar: o sistema responde “pulverizar talhão três, confirmar?”. Só após o sim o comando é enviado. É uma interação natural, mãos-livres e com segurança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Edital AI Glasses Brasil 2026, seções 7, 8.1 e 11.2.</a:t>
            </a:r>
          </a:p>
          <a:p xmlns:a="http://schemas.openxmlformats.org/drawingml/2006/main">
            <a:r>
              <a:t>- Meta Wearables DAT Android CameraAccess sample: https://github.com/facebook/meta-wearables-dat-android/tree/main/samples/CameraAccess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protótipo é simples e modular. Os óculos fornecem câmera, microfone e áudio. O app Android em Kotlin usa o DAT, interpreta voz e alvo localmente e envia um JSON por WebSocket. Um bridge ROS 2 transforma esse comando em uma meta no Gazebo. Antes de receber o hardware, validamos sessão, câmera e falhas com o Mock Device Kit. E tomamos uma decisão importante de viabilidade: como o DAT atual não expõe pose ou IMU dos óculos, o MVP usa um alvo visual previamente mapeado. Assim demonstramos a experiência completa sem depender de uma API inexistente.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 Wearables DAT Android CameraAccess sample: https://github.com/facebook/meta-wearables-dat-android/tree/main/samples/CameraAccess</a:t>
            </a:r>
          </a:p>
          <a:p xmlns:a="http://schemas.openxmlformats.org/drawingml/2006/main">
            <a:r>
              <a:t>- Un13 Material de apoio Meta, tópicos 13.2, 13.5, 13.6 e 13.7.</a:t>
            </a:r>
          </a:p>
          <a:p xmlns:a="http://schemas.openxmlformats.org/drawingml/2006/main">
            <a:r>
              <a:t>- Feature request for IMU/head-pose access in DAT: https://github.com/facebook/meta-wearables-dat-ios/discussions/84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Maestro atende aos cinco checkpoints: inteligência artificial funcional, câmera e microfone como entrada, áudio como saída, privacidade e eficiência. Capturamos apenas quando há comando e descartamos a imagem após o processamento. Nenhum movimento acontece sem confirmação, e a navegação segura continua sob responsabilidade do próprio robô. O resultado é uma solução agnóstica de fabricante e pronta para validação.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Edital AI Glasses Brasil 2026, seção 8.1 (checkpoints técnicos obrigatórios).</a:t>
            </a:r>
          </a:p>
          <a:p xmlns:a="http://schemas.openxmlformats.org/drawingml/2006/main">
            <a:r>
              <a:t>- Un12 Material de apoio Meta, tópicos de eficiência, visão e voz.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futuro do campo não precisa de mais uma tela. Precisa de uma interface que entenda onde o operador olha, o que ele pede e quando é seguro agir. Maestro Agrícola: olhe, fale, confirme.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da proposta da equipe AgroTurtles,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e263bd0184e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57285dbbf84834" /><Relationship Type="http://schemas.openxmlformats.org/officeDocument/2006/relationships/slideLayout" Target="/ppt/slideLayouts/slideLayout1.xml" Id="R18dc9b724a7645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dc9b724a7645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31660a9d64ca9" /><Relationship Type="http://schemas.openxmlformats.org/officeDocument/2006/relationships/image" Target="/ppt/media/image.png" Id="Ra3e66f67e4ce462c" /><Relationship Type="http://schemas.openxmlformats.org/officeDocument/2006/relationships/notesSlide" Target="/ppt/notesSlides/notesSlide1.xml" Id="R123eec1249e144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a1143b07e44e0" /><Relationship Type="http://schemas.openxmlformats.org/officeDocument/2006/relationships/notesSlide" Target="/ppt/notesSlides/notesSlide2.xml" Id="R2c4f511d4bce40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5c90fb6cd4ba4" /><Relationship Type="http://schemas.openxmlformats.org/officeDocument/2006/relationships/notesSlide" Target="/ppt/notesSlides/notesSlide3.xml" Id="R0cfdedd0a9c74c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4e85a4dd14560" /><Relationship Type="http://schemas.openxmlformats.org/officeDocument/2006/relationships/notesSlide" Target="/ppt/notesSlides/notesSlide4.xml" Id="R5709a4bab23746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af33839dd4a69" /><Relationship Type="http://schemas.openxmlformats.org/officeDocument/2006/relationships/notesSlide" Target="/ppt/notesSlides/notesSlide5.xml" Id="R4e7017b2ee444a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9875b7b80430b" /><Relationship Type="http://schemas.openxmlformats.org/officeDocument/2006/relationships/notesSlide" Target="/ppt/notesSlides/notesSlide6.xml" Id="R2932240464af47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46FA76D-6FBD-4BCA-BC71-88D8D1CD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478F9F3-07E9-4CD3-A514-6A68C859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Maestro Agrícola</a:t>
            </a:r>
          </a:p>
        </p:txBody>
      </p:sp>
      <p:sp>
        <p:nvSpPr>
          <p:cNvPr id="3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C05875AB-A53B-4DF9-99A2-14D68C23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Olhe. Fale. Comande.</a:t>
            </a:r>
          </a:p>
        </p:txBody>
      </p:sp>
      <p:sp>
        <p:nvSpPr>
          <p:cNvPr id="4" name="cover-body">
            <a:extLst xmlns:a="http://schemas.openxmlformats.org/drawingml/2006/main">
              <a:ext uri="{FF2B5EF4-FFF2-40B4-BE49-F238E27FC236}">
                <a16:creationId xmlns:a16="http://schemas.microsoft.com/office/drawing/2014/main" id="{E9CF43D8-07D3-43B5-8F5C-8463827B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Uma interface hands-free para transformar intenção humana em ação segura no campo.</a:t>
            </a:r>
          </a:p>
        </p:txBody>
      </p:sp>
      <p:sp>
        <p:nvSpPr>
          <p:cNvPr id="5" name="cover-team">
            <a:extLst xmlns:a="http://schemas.openxmlformats.org/drawingml/2006/main">
              <a:ext uri="{FF2B5EF4-FFF2-40B4-BE49-F238E27FC236}">
                <a16:creationId xmlns:a16="http://schemas.microsoft.com/office/drawing/2014/main" id="{94CE3902-D9DF-43DE-A8F5-26D9B30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E6B62"/>
                </a:solidFill>
                <a:latin typeface="Arial"/>
                <a:ea typeface="Arial"/>
                <a:cs typeface="Arial"/>
              </a:rPr>
              <a:t>AGROTURTLES  •  AI GLASSES BRASIL 2026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66f67e4ce462c"/>
          <a:srcRect xmlns:a="http://schemas.openxmlformats.org/drawingml/2006/main" l="1105" t="0" r="11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400050"/>
            <a:ext cx="5476875" cy="5600700"/>
          </a:xfrm>
          <a:prstGeom xmlns:a="http://schemas.openxmlformats.org/drawingml/2006/main" prst="roundRect">
            <a:avLst>
              <a:gd name="adj" fmla="val 3130"/>
            </a:avLst>
          </a:prstGeom>
        </p:spPr>
      </p:pic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AD82862E-0452-4A1D-B7BE-2E778200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2620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roblem-overline">
            <a:extLst xmlns:a="http://schemas.openxmlformats.org/drawingml/2006/main">
              <a:ext uri="{FF2B5EF4-FFF2-40B4-BE49-F238E27FC236}">
                <a16:creationId xmlns:a16="http://schemas.microsoft.com/office/drawing/2014/main" id="{744F6507-FBA3-4FF3-8650-538731AF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D4A"/>
                </a:solidFill>
                <a:latin typeface="Arial"/>
                <a:ea typeface="Arial"/>
                <a:cs typeface="Arial"/>
              </a:rPr>
              <a:t>O PROBLEMA</a:t>
            </a:r>
          </a:p>
        </p:txBody>
      </p:sp>
      <p:sp>
        <p:nvSpPr>
          <p:cNvPr id="2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F48185A7-062F-42BF-A686-2B547BB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9810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A máquina é autônoma.</a:t>
            </a:r>
          </a:p>
          <a:p xmlns:a="http://schemas.openxmlformats.org/drawingml/2006/main">
            <a:pPr algn="l">
              <a:defRPr sz="5550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A interface ainda não.</a:t>
            </a:r>
          </a:p>
        </p:txBody>
      </p:sp>
      <p:sp>
        <p:nvSpPr>
          <p:cNvPr id="3" name="problem-rule">
            <a:extLst xmlns:a="http://schemas.openxmlformats.org/drawingml/2006/main">
              <a:ext uri="{FF2B5EF4-FFF2-40B4-BE49-F238E27FC236}">
                <a16:creationId xmlns:a16="http://schemas.microsoft.com/office/drawing/2014/main" id="{FFB2C4F7-C6BB-4567-9175-AE451AAF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detail">
            <a:extLst xmlns:a="http://schemas.openxmlformats.org/drawingml/2006/main">
              <a:ext uri="{FF2B5EF4-FFF2-40B4-BE49-F238E27FC236}">
                <a16:creationId xmlns:a16="http://schemas.microsoft.com/office/drawing/2014/main" id="{8C5B095D-EC16-40AC-8532-5F2C8F3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Parar o trabalho  →  limpar as mãos  →  abrir uma tela  →  reprogramar a rota</a:t>
            </a:r>
          </a:p>
        </p:txBody>
      </p:sp>
      <p:sp>
        <p:nvSpPr>
          <p:cNvPr id="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D19873D4-9BF6-4C50-9782-67CA4DFC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No sol, na poeira e no ritmo da operação.</a:t>
            </a:r>
          </a:p>
        </p:txBody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F74CB339-A2A7-4577-8C40-BA89E4AF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9860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3">
            <a:extLst xmlns:a="http://schemas.openxmlformats.org/drawingml/2006/main">
              <a:ext uri="{FF2B5EF4-FFF2-40B4-BE49-F238E27FC236}">
                <a16:creationId xmlns:a16="http://schemas.microsoft.com/office/drawing/2014/main" id="{0A8EC58A-67C3-4452-B30C-45FC9F97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Três ações substituem uma tela.</a:t>
            </a:r>
          </a:p>
        </p:txBody>
      </p:sp>
      <p:sp>
        <p:nvSpPr>
          <p:cNvPr id="2" name="journey-line">
            <a:extLst xmlns:a="http://schemas.openxmlformats.org/drawingml/2006/main">
              <a:ext uri="{FF2B5EF4-FFF2-40B4-BE49-F238E27FC236}">
                <a16:creationId xmlns:a16="http://schemas.microsoft.com/office/drawing/2014/main" id="{8EE6993C-C78C-4B6F-AEC8-DF5F8CE2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942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C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327683BC-7D32-4095-9A85-6770AC7D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4A"/>
          </a:solidFill>
          <a:ln xmlns:a="http://schemas.openxmlformats.org/drawingml/2006/main" w="9525">
            <a:solidFill>
              <a:srgbClr val="2F7D4A"/>
            </a:solidFill>
            <a:prstDash val="solid"/>
          </a:ln>
        </p:spPr>
      </p:sp>
      <p:sp>
        <p:nvSpPr>
          <p:cNvPr id="4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E4A8CFCC-41ED-49DE-8221-0B141CA2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479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01  OLHAR</a:t>
            </a:r>
          </a:p>
        </p:txBody>
      </p:sp>
      <p:sp>
        <p:nvSpPr>
          <p:cNvPr id="5" name="journey-body-1">
            <a:extLst xmlns:a="http://schemas.openxmlformats.org/drawingml/2006/main">
              <a:ext uri="{FF2B5EF4-FFF2-40B4-BE49-F238E27FC236}">
                <a16:creationId xmlns:a16="http://schemas.microsoft.com/office/drawing/2014/main" id="{89836DDE-1DD4-441A-9471-9383716F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814"/>
                </a:solidFill>
                <a:latin typeface="Arial"/>
                <a:ea typeface="Arial"/>
                <a:cs typeface="Arial"/>
              </a:rPr>
              <a:t>A câmera reconhece o alvo centralizado.</a:t>
            </a:r>
          </a:p>
        </p:txBody>
      </p:sp>
      <p:sp>
        <p:nvSpPr>
          <p:cNvPr id="6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94DA5F48-792A-4375-A150-DA4D16E4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0037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4A"/>
          </a:solidFill>
          <a:ln xmlns:a="http://schemas.openxmlformats.org/drawingml/2006/main" w="9525">
            <a:solidFill>
              <a:srgbClr val="2F7D4A"/>
            </a:solidFill>
            <a:prstDash val="solid"/>
          </a:ln>
        </p:spPr>
      </p:sp>
      <p:sp>
        <p:nvSpPr>
          <p:cNvPr id="7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486C4166-87CA-415E-97E7-95F5BFF8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479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02  FALAR</a:t>
            </a:r>
          </a:p>
        </p:txBody>
      </p:sp>
      <p:sp>
        <p:nvSpPr>
          <p:cNvPr id="8" name="journey-body-2">
            <a:extLst xmlns:a="http://schemas.openxmlformats.org/drawingml/2006/main">
              <a:ext uri="{FF2B5EF4-FFF2-40B4-BE49-F238E27FC236}">
                <a16:creationId xmlns:a16="http://schemas.microsoft.com/office/drawing/2014/main" id="{F078AADE-0E1F-46CB-AF4B-F95B9E5C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814"/>
                </a:solidFill>
                <a:latin typeface="Arial"/>
                <a:ea typeface="Arial"/>
                <a:cs typeface="Arial"/>
              </a:rPr>
              <a:t>A IA transforma voz em intenção estruturada.</a:t>
            </a:r>
          </a:p>
        </p:txBody>
      </p:sp>
      <p:sp>
        <p:nvSpPr>
          <p:cNvPr id="9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FEAB29B1-9EEF-4B6A-924F-9941423F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4A"/>
          </a:solidFill>
          <a:ln xmlns:a="http://schemas.openxmlformats.org/drawingml/2006/main" w="9525">
            <a:solidFill>
              <a:srgbClr val="2F7D4A"/>
            </a:solidFill>
            <a:prstDash val="solid"/>
          </a:ln>
        </p:spPr>
      </p:sp>
      <p:sp>
        <p:nvSpPr>
          <p:cNvPr id="10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37895F62-6850-4142-91C7-97980011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479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03  CONFIRMAR</a:t>
            </a:r>
          </a:p>
        </p:txBody>
      </p:sp>
      <p:sp>
        <p:nvSpPr>
          <p:cNvPr id="11" name="journey-body-3">
            <a:extLst xmlns:a="http://schemas.openxmlformats.org/drawingml/2006/main">
              <a:ext uri="{FF2B5EF4-FFF2-40B4-BE49-F238E27FC236}">
                <a16:creationId xmlns:a16="http://schemas.microsoft.com/office/drawing/2014/main" id="{78C1FFD6-19D7-4293-918E-E285560C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814"/>
                </a:solidFill>
                <a:latin typeface="Arial"/>
                <a:ea typeface="Arial"/>
                <a:cs typeface="Arial"/>
              </a:rPr>
              <a:t>O áudio confirma antes de qualquer movimento.</a:t>
            </a:r>
          </a:p>
        </p:txBody>
      </p:sp>
      <p:sp>
        <p:nvSpPr>
          <p:cNvPr id="12" name="journey-safety">
            <a:extLst xmlns:a="http://schemas.openxmlformats.org/drawingml/2006/main">
              <a:ext uri="{FF2B5EF4-FFF2-40B4-BE49-F238E27FC236}">
                <a16:creationId xmlns:a16="http://schemas.microsoft.com/office/drawing/2014/main" id="{E9EA0EC0-37EA-4893-8DDF-108FB3B5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0839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journey-safety-text">
            <a:extLst xmlns:a="http://schemas.openxmlformats.org/drawingml/2006/main">
              <a:ext uri="{FF2B5EF4-FFF2-40B4-BE49-F238E27FC236}">
                <a16:creationId xmlns:a16="http://schemas.microsoft.com/office/drawing/2014/main" id="{80D12651-686E-4950-B85A-A3ED98E8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Regra de segurança: sem confirmação, sem comando.</a:t>
            </a:r>
          </a:p>
        </p:txBody>
      </p:sp>
      <p:sp>
        <p:nvSpPr>
          <p:cNvPr id="14" name="footer-3">
            <a:extLst xmlns:a="http://schemas.openxmlformats.org/drawingml/2006/main">
              <a:ext uri="{FF2B5EF4-FFF2-40B4-BE49-F238E27FC236}">
                <a16:creationId xmlns:a16="http://schemas.microsoft.com/office/drawing/2014/main" id="{83A26C9B-915A-4C1F-BDAB-09E04BF9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9416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4">
            <a:extLst xmlns:a="http://schemas.openxmlformats.org/drawingml/2006/main">
              <a:ext uri="{FF2B5EF4-FFF2-40B4-BE49-F238E27FC236}">
                <a16:creationId xmlns:a16="http://schemas.microsoft.com/office/drawing/2014/main" id="{239E28DA-72EF-45EA-B464-D0390D0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Um corte vertical comprovável em um dia.</a:t>
            </a:r>
          </a:p>
        </p:txBody>
      </p:sp>
      <p:sp>
        <p:nvSpPr>
          <p:cNvPr id="2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3F480D28-9199-4849-BBFE-313A0A4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194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0CD5FE09-FCC9-4F36-9996-A9C26A7C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0194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DDCF484B-9C6B-40AC-ABB2-5FFD592D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19425"/>
            <a:ext cx="3238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53CADC36-5621-4335-B6C1-38D85CA6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2238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4CCC7"/>
            </a:solidFill>
            <a:prstDash val="solid"/>
          </a:ln>
        </p:spPr>
      </p:sp>
      <p:sp>
        <p:nvSpPr>
          <p:cNvPr id="6" name="architecture-accent-1">
            <a:extLst xmlns:a="http://schemas.openxmlformats.org/drawingml/2006/main">
              <a:ext uri="{FF2B5EF4-FFF2-40B4-BE49-F238E27FC236}">
                <a16:creationId xmlns:a16="http://schemas.microsoft.com/office/drawing/2014/main" id="{D190FFA8-A07C-4946-A339-0B535311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2238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41CE88B5-9D2B-4AD3-BBF0-D0DEC375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AI Glasses</a:t>
            </a:r>
          </a:p>
        </p:txBody>
      </p:sp>
      <p:sp>
        <p:nvSpPr>
          <p:cNvPr id="8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E933CCC4-C7AA-46B8-986D-2012FAF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48025"/>
            <a:ext cx="1857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câmera</a:t>
            </a:r>
          </a:p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voz</a:t>
            </a:r>
          </a:p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áudio</a:t>
            </a:r>
          </a:p>
        </p:txBody>
      </p:sp>
      <p:sp>
        <p:nvSpPr>
          <p:cNvPr id="9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533482D6-844B-4E81-AAF5-3E86A6F9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38375"/>
            <a:ext cx="2238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4CCC7"/>
            </a:solidFill>
            <a:prstDash val="solid"/>
          </a:ln>
        </p:spPr>
      </p:sp>
      <p:sp>
        <p:nvSpPr>
          <p:cNvPr id="10" name="architecture-accent-2">
            <a:extLst xmlns:a="http://schemas.openxmlformats.org/drawingml/2006/main">
              <a:ext uri="{FF2B5EF4-FFF2-40B4-BE49-F238E27FC236}">
                <a16:creationId xmlns:a16="http://schemas.microsoft.com/office/drawing/2014/main" id="{8AAEB469-D22A-43B1-82A9-596822D6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38375"/>
            <a:ext cx="2238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8E389CD5-7A3C-491F-A2B1-7729E42C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43175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Android / Kotlin</a:t>
            </a:r>
          </a:p>
        </p:txBody>
      </p:sp>
      <p:sp>
        <p:nvSpPr>
          <p:cNvPr id="12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36AF224E-4C04-4767-9C11-1C61946A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48025"/>
            <a:ext cx="1857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DAT</a:t>
            </a:r>
          </a:p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IA local</a:t>
            </a:r>
          </a:p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confirmação</a:t>
            </a:r>
          </a:p>
        </p:txBody>
      </p:sp>
      <p:sp>
        <p:nvSpPr>
          <p:cNvPr id="13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A5B104B5-0F1F-4CC0-BC84-013EE861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38375"/>
            <a:ext cx="2238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4CCC7"/>
            </a:solidFill>
            <a:prstDash val="solid"/>
          </a:ln>
        </p:spPr>
      </p:sp>
      <p:sp>
        <p:nvSpPr>
          <p:cNvPr id="14" name="architecture-accent-3">
            <a:extLst xmlns:a="http://schemas.openxmlformats.org/drawingml/2006/main">
              <a:ext uri="{FF2B5EF4-FFF2-40B4-BE49-F238E27FC236}">
                <a16:creationId xmlns:a16="http://schemas.microsoft.com/office/drawing/2014/main" id="{982C867B-E4F1-4858-A2C0-443021BE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38375"/>
            <a:ext cx="2238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BBC03256-51AC-49F6-B60F-5F8A471A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43175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WebSocket</a:t>
            </a:r>
          </a:p>
        </p:txBody>
      </p:sp>
      <p:sp>
        <p:nvSpPr>
          <p:cNvPr id="16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C2DBBB83-36B7-47AA-BCF0-7810096E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48025"/>
            <a:ext cx="1857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JSON versionado</a:t>
            </a:r>
          </a:p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expiração</a:t>
            </a:r>
          </a:p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idempotência</a:t>
            </a:r>
          </a:p>
        </p:txBody>
      </p:sp>
      <p:sp>
        <p:nvSpPr>
          <p:cNvPr id="17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05C1F3C0-8166-4803-AA97-098BC31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38375"/>
            <a:ext cx="2238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4CCC7"/>
            </a:solidFill>
            <a:prstDash val="solid"/>
          </a:ln>
        </p:spPr>
      </p:sp>
      <p:sp>
        <p:nvSpPr>
          <p:cNvPr id="18" name="architecture-accent-4">
            <a:extLst xmlns:a="http://schemas.openxmlformats.org/drawingml/2006/main">
              <a:ext uri="{FF2B5EF4-FFF2-40B4-BE49-F238E27FC236}">
                <a16:creationId xmlns:a16="http://schemas.microsoft.com/office/drawing/2014/main" id="{E9CF74ED-AF3B-46E1-8BB7-4AA3F0E8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38375"/>
            <a:ext cx="2238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rchitecture-title-4">
            <a:extLst xmlns:a="http://schemas.openxmlformats.org/drawingml/2006/main">
              <a:ext uri="{FF2B5EF4-FFF2-40B4-BE49-F238E27FC236}">
                <a16:creationId xmlns:a16="http://schemas.microsoft.com/office/drawing/2014/main" id="{C8D88FA7-79E4-46B6-A19B-FB22E58A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43175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ROS 2 / Gazebo</a:t>
            </a:r>
          </a:p>
        </p:txBody>
      </p:sp>
      <p:sp>
        <p:nvSpPr>
          <p:cNvPr id="20" name="architecture-body-4">
            <a:extLst xmlns:a="http://schemas.openxmlformats.org/drawingml/2006/main">
              <a:ext uri="{FF2B5EF4-FFF2-40B4-BE49-F238E27FC236}">
                <a16:creationId xmlns:a16="http://schemas.microsoft.com/office/drawing/2014/main" id="{0627F75D-9C2C-4159-BF39-6CF57EBE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48025"/>
            <a:ext cx="1857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bridge</a:t>
            </a:r>
          </a:p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meta de navegação</a:t>
            </a:r>
          </a:p>
          <a:p xmlns:a="http://schemas.openxmlformats.org/drawingml/2006/main">
            <a:pPr algn="ctr">
              <a:defRPr sz="16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robô simulado</a:t>
            </a:r>
          </a:p>
        </p:txBody>
      </p:sp>
      <p:sp>
        <p:nvSpPr>
          <p:cNvPr id="21" name="architecture-decision">
            <a:extLst xmlns:a="http://schemas.openxmlformats.org/drawingml/2006/main">
              <a:ext uri="{FF2B5EF4-FFF2-40B4-BE49-F238E27FC236}">
                <a16:creationId xmlns:a16="http://schemas.microsoft.com/office/drawing/2014/main" id="{883906AB-29EB-47E5-AE65-00D0547F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0439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EE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rchitecture-decision-text">
            <a:extLst xmlns:a="http://schemas.openxmlformats.org/drawingml/2006/main">
              <a:ext uri="{FF2B5EF4-FFF2-40B4-BE49-F238E27FC236}">
                <a16:creationId xmlns:a16="http://schemas.microsoft.com/office/drawing/2014/main" id="{0AD469E5-AEC7-4C0D-BBED-667C23E5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MVP: alvo visual mapeado — sem depender de IMU ou pose que o DAT não expõe.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314403E2-B820-445B-B52C-8DFA455C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2403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5">
            <a:extLst xmlns:a="http://schemas.openxmlformats.org/drawingml/2006/main">
              <a:ext uri="{FF2B5EF4-FFF2-40B4-BE49-F238E27FC236}">
                <a16:creationId xmlns:a16="http://schemas.microsoft.com/office/drawing/2014/main" id="{6A8AF874-5CE9-4109-A69D-9890F2B5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Viável, responsável e pronto para validar.</a:t>
            </a:r>
          </a:p>
        </p:txBody>
      </p:sp>
      <p:sp>
        <p:nvSpPr>
          <p:cNvPr id="2" name="evidence-intro">
            <a:extLst xmlns:a="http://schemas.openxmlformats.org/drawingml/2006/main">
              <a:ext uri="{FF2B5EF4-FFF2-40B4-BE49-F238E27FC236}">
                <a16:creationId xmlns:a16="http://schemas.microsoft.com/office/drawing/2014/main" id="{721FE1C0-1132-4571-8640-84FE896D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Android nativo, DAT e Mock Device Kit — com segurança no centro da jornada.</a:t>
            </a:r>
          </a:p>
        </p:txBody>
      </p:sp>
      <p:sp>
        <p:nvSpPr>
          <p:cNvPr id="3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84E91BFD-BB43-48D9-BB46-C380A033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32194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4CCC7"/>
            </a:solidFill>
            <a:prstDash val="solid"/>
          </a:ln>
        </p:spPr>
      </p:sp>
      <p:sp>
        <p:nvSpPr>
          <p:cNvPr id="4" name="evidence-stat-1">
            <a:extLst xmlns:a="http://schemas.openxmlformats.org/drawingml/2006/main">
              <a:ext uri="{FF2B5EF4-FFF2-40B4-BE49-F238E27FC236}">
                <a16:creationId xmlns:a16="http://schemas.microsoft.com/office/drawing/2014/main" id="{3D087C8D-9C13-4A84-8BBC-4EDF02EB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5/5</a:t>
            </a:r>
          </a:p>
        </p:txBody>
      </p:sp>
      <p:sp>
        <p:nvSpPr>
          <p:cNvPr id="5" name="evidence-header-1">
            <a:extLst xmlns:a="http://schemas.openxmlformats.org/drawingml/2006/main">
              <a:ext uri="{FF2B5EF4-FFF2-40B4-BE49-F238E27FC236}">
                <a16:creationId xmlns:a16="http://schemas.microsoft.com/office/drawing/2014/main" id="{C5054F2D-2545-4094-8111-64B6E1D5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checkpoints</a:t>
            </a:r>
          </a:p>
        </p:txBody>
      </p:sp>
      <p:sp>
        <p:nvSpPr>
          <p:cNvPr id="6" name="evidence-detail-1">
            <a:extLst xmlns:a="http://schemas.openxmlformats.org/drawingml/2006/main">
              <a:ext uri="{FF2B5EF4-FFF2-40B4-BE49-F238E27FC236}">
                <a16:creationId xmlns:a16="http://schemas.microsoft.com/office/drawing/2014/main" id="{9A558FFD-72CA-4AE6-8566-BFF810BA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IA, câmera/mic, áudio, privacidade e bateria.</a:t>
            </a:r>
          </a:p>
        </p:txBody>
      </p:sp>
      <p:sp>
        <p:nvSpPr>
          <p:cNvPr id="7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7296807F-12B4-4BE1-AAF2-F69A9112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38375"/>
            <a:ext cx="32194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4CCC7"/>
            </a:solidFill>
            <a:prstDash val="solid"/>
          </a:ln>
        </p:spPr>
      </p:sp>
      <p:sp>
        <p:nvSpPr>
          <p:cNvPr id="8" name="evidence-stat-2">
            <a:extLst xmlns:a="http://schemas.openxmlformats.org/drawingml/2006/main">
              <a:ext uri="{FF2B5EF4-FFF2-40B4-BE49-F238E27FC236}">
                <a16:creationId xmlns:a16="http://schemas.microsoft.com/office/drawing/2014/main" id="{217565A7-ADB3-4AFF-B041-6A12FA42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evidence-header-2">
            <a:extLst xmlns:a="http://schemas.openxmlformats.org/drawingml/2006/main">
              <a:ext uri="{FF2B5EF4-FFF2-40B4-BE49-F238E27FC236}">
                <a16:creationId xmlns:a16="http://schemas.microsoft.com/office/drawing/2014/main" id="{4B4E63CD-53B6-4B2B-ABC2-D135ACD1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captura por ação</a:t>
            </a:r>
          </a:p>
        </p:txBody>
      </p:sp>
      <p:sp>
        <p:nvSpPr>
          <p:cNvPr id="10" name="evidence-detail-2">
            <a:extLst xmlns:a="http://schemas.openxmlformats.org/drawingml/2006/main">
              <a:ext uri="{FF2B5EF4-FFF2-40B4-BE49-F238E27FC236}">
                <a16:creationId xmlns:a16="http://schemas.microsoft.com/office/drawing/2014/main" id="{75009FFB-2DCD-446E-A4D6-297F0CC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00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Processamento sob demanda, não gravação contínua.</a:t>
            </a:r>
          </a:p>
        </p:txBody>
      </p:sp>
      <p:sp>
        <p:nvSpPr>
          <p:cNvPr id="11" name="evidence-card-3">
            <a:extLst xmlns:a="http://schemas.openxmlformats.org/drawingml/2006/main">
              <a:ext uri="{FF2B5EF4-FFF2-40B4-BE49-F238E27FC236}">
                <a16:creationId xmlns:a16="http://schemas.microsoft.com/office/drawing/2014/main" id="{872B6ADF-BC87-43C9-BE68-628864F1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32194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9525">
            <a:solidFill>
              <a:srgbClr val="C4CCC7"/>
            </a:solidFill>
            <a:prstDash val="solid"/>
          </a:ln>
        </p:spPr>
      </p:sp>
      <p:sp>
        <p:nvSpPr>
          <p:cNvPr id="12" name="evidence-stat-3">
            <a:extLst xmlns:a="http://schemas.openxmlformats.org/drawingml/2006/main">
              <a:ext uri="{FF2B5EF4-FFF2-40B4-BE49-F238E27FC236}">
                <a16:creationId xmlns:a16="http://schemas.microsoft.com/office/drawing/2014/main" id="{6318F474-73A3-4E75-9030-ADAB8222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272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evidence-header-3">
            <a:extLst xmlns:a="http://schemas.openxmlformats.org/drawingml/2006/main">
              <a:ext uri="{FF2B5EF4-FFF2-40B4-BE49-F238E27FC236}">
                <a16:creationId xmlns:a16="http://schemas.microsoft.com/office/drawing/2014/main" id="{FE784F5F-E38F-4B02-A861-57029E7D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mídia salva</a:t>
            </a:r>
          </a:p>
        </p:txBody>
      </p:sp>
      <p:sp>
        <p:nvSpPr>
          <p:cNvPr id="14" name="evidence-detail-3">
            <a:extLst xmlns:a="http://schemas.openxmlformats.org/drawingml/2006/main">
              <a:ext uri="{FF2B5EF4-FFF2-40B4-BE49-F238E27FC236}">
                <a16:creationId xmlns:a16="http://schemas.microsoft.com/office/drawing/2014/main" id="{AF9AB1A3-2614-4210-8592-3243637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00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Frame descartado depois de resolver o alvo.</a:t>
            </a:r>
          </a:p>
        </p:txBody>
      </p:sp>
      <p:sp>
        <p:nvSpPr>
          <p:cNvPr id="15" name="evidence-safety">
            <a:extLst xmlns:a="http://schemas.openxmlformats.org/drawingml/2006/main">
              <a:ext uri="{FF2B5EF4-FFF2-40B4-BE49-F238E27FC236}">
                <a16:creationId xmlns:a16="http://schemas.microsoft.com/office/drawing/2014/main" id="{97D12BA1-2E59-4241-8DDA-F2B871E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Nenhum movimento acontece sem confirmação por áudio.</a:t>
            </a:r>
          </a:p>
        </p:txBody>
      </p:sp>
      <p:sp>
        <p:nvSpPr>
          <p:cNvPr id="16" name="footer-5">
            <a:extLst xmlns:a="http://schemas.openxmlformats.org/drawingml/2006/main">
              <a:ext uri="{FF2B5EF4-FFF2-40B4-BE49-F238E27FC236}">
                <a16:creationId xmlns:a16="http://schemas.microsoft.com/office/drawing/2014/main" id="{F65433F2-F91B-463A-B1DF-EFAC3024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B6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6628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overline">
            <a:extLst xmlns:a="http://schemas.openxmlformats.org/drawingml/2006/main">
              <a:ext uri="{FF2B5EF4-FFF2-40B4-BE49-F238E27FC236}">
                <a16:creationId xmlns:a16="http://schemas.microsoft.com/office/drawing/2014/main" id="{B857CE6C-4BA9-4247-8B93-424B714C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D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D4A"/>
                </a:solidFill>
                <a:latin typeface="Arial"/>
                <a:ea typeface="Arial"/>
                <a:cs typeface="Arial"/>
              </a:rPr>
              <a:t>MAESTRO AGRÍCOLA</a:t>
            </a:r>
          </a:p>
        </p:txBody>
      </p:sp>
      <p:sp>
        <p:nvSpPr>
          <p:cNvPr id="2" name="close-thesis">
            <a:extLst xmlns:a="http://schemas.openxmlformats.org/drawingml/2006/main">
              <a:ext uri="{FF2B5EF4-FFF2-40B4-BE49-F238E27FC236}">
                <a16:creationId xmlns:a16="http://schemas.microsoft.com/office/drawing/2014/main" id="{28E06A39-AA9A-4146-BBA9-C188263E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0287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814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11814"/>
                </a:solidFill>
                <a:latin typeface="Arial"/>
                <a:ea typeface="Arial"/>
                <a:cs typeface="Arial"/>
              </a:rPr>
              <a:t>O futuro do campo não precisa de mais telas.</a:t>
            </a:r>
          </a:p>
        </p:txBody>
      </p:sp>
      <p:sp>
        <p:nvSpPr>
          <p:cNvPr id="3" name="close-tagline">
            <a:extLst xmlns:a="http://schemas.openxmlformats.org/drawingml/2006/main">
              <a:ext uri="{FF2B5EF4-FFF2-40B4-BE49-F238E27FC236}">
                <a16:creationId xmlns:a16="http://schemas.microsoft.com/office/drawing/2014/main" id="{0753BFD4-8DB1-4577-BAA0-53EE2B0B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4A2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4A2B"/>
                </a:solidFill>
                <a:latin typeface="Arial"/>
                <a:ea typeface="Arial"/>
                <a:cs typeface="Arial"/>
              </a:rPr>
              <a:t>Olhe. Fale. Confirme.</a:t>
            </a:r>
          </a:p>
        </p:txBody>
      </p:sp>
      <p:sp>
        <p:nvSpPr>
          <p:cNvPr id="4" name="close-bar">
            <a:extLst xmlns:a="http://schemas.openxmlformats.org/drawingml/2006/main">
              <a:ext uri="{FF2B5EF4-FFF2-40B4-BE49-F238E27FC236}">
                <a16:creationId xmlns:a16="http://schemas.microsoft.com/office/drawing/2014/main" id="{C6AC9AA4-0FF6-4476-936F-C4A2E38B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2787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2026-08-16T20:00:04.8390000Z</dcterms:created>
  <dcterms:modified xsi:type="dcterms:W3CDTF">2026-08-16T20:00:04.8400000Z</dcterms:modified>
</coreProperties>
</file>