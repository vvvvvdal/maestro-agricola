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469493ac164a10" /><Relationship Type="http://schemas.openxmlformats.org/officeDocument/2006/relationships/extended-properties" Target="/docProps/app.xml" Id="R10914ed2b675405e" /><Relationship Type="http://schemas.openxmlformats.org/officeDocument/2006/relationships/officeDocument" Target="/ppt/presentation.xml" Id="Rb620828090cf4f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8aa205c22243a4"/>
  </p:sldMasterIdLst>
  <p:notesMasterIdLst>
    <p:notesMasterId xmlns:r="http://schemas.openxmlformats.org/officeDocument/2006/relationships" r:id="R69f6147efba64102"/>
  </p:notesMasterIdLst>
  <p:sldIdLst>
    <p:sldId xmlns:r="http://schemas.openxmlformats.org/officeDocument/2006/relationships" id="256" r:id="R54ebf83a27ef490d"/>
    <p:sldId xmlns:r="http://schemas.openxmlformats.org/officeDocument/2006/relationships" id="257" r:id="R4a908d974e0c4acb"/>
    <p:sldId xmlns:r="http://schemas.openxmlformats.org/officeDocument/2006/relationships" id="258" r:id="Re2caa69419e4406c"/>
    <p:sldId xmlns:r="http://schemas.openxmlformats.org/officeDocument/2006/relationships" id="259" r:id="Rf8a9cdd4242147ee"/>
    <p:sldId xmlns:r="http://schemas.openxmlformats.org/officeDocument/2006/relationships" id="260" r:id="R9f6c771edeac4823"/>
    <p:sldId xmlns:r="http://schemas.openxmlformats.org/officeDocument/2006/relationships" id="261" r:id="Rafae9b3132d747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e2fd5120354d31" /><Relationship Type="http://schemas.openxmlformats.org/officeDocument/2006/relationships/slideMaster" Target="/ppt/slideMasters/slideMaster1.xml" Id="Re18aa205c22243a4" /><Relationship Type="http://schemas.openxmlformats.org/officeDocument/2006/relationships/notesMaster" Target="/ppt/notesMasters/notesMaster1.xml" Id="R69f6147efba64102" /><Relationship Type="http://schemas.openxmlformats.org/officeDocument/2006/relationships/presProps" Target="/ppt/presProps.xml" Id="R131e0335c98e4f26" /><Relationship Type="http://schemas.openxmlformats.org/officeDocument/2006/relationships/tableStyles" Target="/ppt/tableStyles.xml" Id="R0a866697660946e6" /><Relationship Type="http://schemas.openxmlformats.org/officeDocument/2006/relationships/slide" Target="/ppt/slides/slide1.xml" Id="R54ebf83a27ef490d" /><Relationship Type="http://schemas.openxmlformats.org/officeDocument/2006/relationships/slide" Target="/ppt/slides/slide2.xml" Id="R4a908d974e0c4acb" /><Relationship Type="http://schemas.openxmlformats.org/officeDocument/2006/relationships/slide" Target="/ppt/slides/slide3.xml" Id="Re2caa69419e4406c" /><Relationship Type="http://schemas.openxmlformats.org/officeDocument/2006/relationships/slide" Target="/ppt/slides/slide4.xml" Id="Rf8a9cdd4242147ee" /><Relationship Type="http://schemas.openxmlformats.org/officeDocument/2006/relationships/slide" Target="/ppt/slides/slide5.xml" Id="R9f6c771edeac4823" /><Relationship Type="http://schemas.openxmlformats.org/officeDocument/2006/relationships/slide" Target="/ppt/slides/slide6.xml" Id="Rafae9b3132d747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5a145adf9a40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72b869bb464cda" /><Relationship Type="http://schemas.openxmlformats.org/officeDocument/2006/relationships/notesMaster" Target="/ppt/notesMasters/notesMaster1.xml" Id="Rebb56d5fb9fb42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5730cb9d6f48a0" /><Relationship Type="http://schemas.openxmlformats.org/officeDocument/2006/relationships/notesMaster" Target="/ppt/notesMasters/notesMaster1.xml" Id="R41add62a22194a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7b51a3e82a4734" /><Relationship Type="http://schemas.openxmlformats.org/officeDocument/2006/relationships/notesMaster" Target="/ppt/notesMasters/notesMaster1.xml" Id="Rb03219853c0a41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68b757b3ba46bf" /><Relationship Type="http://schemas.openxmlformats.org/officeDocument/2006/relationships/notesMaster" Target="/ppt/notesMasters/notesMaster1.xml" Id="R683dc4f86f6045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e28384a9f144ca" /><Relationship Type="http://schemas.openxmlformats.org/officeDocument/2006/relationships/notesMaster" Target="/ppt/notesMasters/notesMaster1.xml" Id="Rca75290dd19149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905fe81b2b4358" /><Relationship Type="http://schemas.openxmlformats.org/officeDocument/2006/relationships/notesMaster" Target="/ppt/notesMasters/notesMaster1.xml" Id="R9af7247738f04c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Imagine um operador no meio da lavoura, com as mãos ocupadas, acompanhando um robô autônomo. A máquina já navega; mesmo assim, indicar uma nova área ainda pode exigir parar e abrir uma tela. O Maestro Agrícola muda essa conversa: olhar, falar e confirmar.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docs/proposta/versao-resumida.md, equipe AgroTurtles, revisão de 18 ago. 2026.</a:t>
            </a:r>
          </a:p>
          <a:p xmlns:a="http://schemas.openxmlformats.org/drawingml/2006/main">
            <a:r>
              <a:t>- Imagem original gerada para esta apresentação com OpenAI Image Generation em 16 ago. 2026; sem fotografia externa.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sol, na poeira e com luvas, um notebook ou tablet adiciona atrito justamente onde a interface deveria desaparecer. Nosso usuário inicial é o operador que acompanha uma máquina conectada e precisa indicar rapidamente uma área de trabalho. O problema não é a autonomia do robô. É a forma como o humano conversa com 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docs/proposta/versao-tecnica.md,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jornada tem três ações. Olhar: uma placa legível e seu QR identificam o plot três, associado a uma pose segura. Falar: o reconhecimento nativo transcreve a voz; depois, um classificador softmax de 65 kilobytes, treinado com 96 frases, roda no celular e retorna pulverizar, confirmar, cancelar ou desconhecido. Se o operador disser “no plot três”, o ID falado também é validado. Confirmar: o Maestro repete o alvo. Abaixo de 40% de confiança, ou se voz e câmera discordarem, nada é enviado.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shared/ai/intent_model.json e shared/ai/evaluation.json, equipe AgroTurtles, 18 ago. 2026.</a:t>
            </a:r>
          </a:p>
          <a:p xmlns:a="http://schemas.openxmlformats.org/drawingml/2006/main">
            <a:r>
              <a:t>- shared/target/target_resolution_cases.json, equipe AgroTurtles, 18 ago. 2026.</a:t>
            </a:r>
          </a:p>
          <a:p xmlns:a="http://schemas.openxmlformats.org/drawingml/2006/main">
            <a:r>
              <a:t>- Meta Wearables DAT CameraAccess: https://github.com/facebook/meta-wearables-dat-android/tree/main/samples/CameraAccess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 dentro, a câmera entra pelo DAT. Voz e TTS usam recursos nativos do celular, com o telefone como fallback. O app Kotlin consome a IA local, o catálogo de plots e o contrato versionado. Após a confirmação, um JSON com validade curta chega ao bridge, que valida e entrega uma meta ao Nav2 no Gazebo. Como o DAT público não documenta pose ou IMU, o MVP usa um alvo mapeado; GPS do operador não vira destino do robô.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Meta Wearables Developer Center: https://wearables.developer.meta.com/docs/develop/dat/getting-started-toolkit</a:t>
            </a:r>
          </a:p>
          <a:p xmlns:a="http://schemas.openxmlformats.org/drawingml/2006/main">
            <a:r>
              <a:t>- Meta Wearables DAT Android CameraAccess sample: https://github.com/facebook/meta-wearables-dat-android/tree/main/samples/CameraAccess</a:t>
            </a:r>
          </a:p>
          <a:p xmlns:a="http://schemas.openxmlformats.org/drawingml/2006/main">
            <a:r>
              <a:t>- A ausência de pose/IMU é uma inferência a partir das APIs públicas consultadas; validar novamente contra a versão do SDK usada no evento.</a:t>
            </a:r>
          </a:p>
          <a:p xmlns:a="http://schemas.openxmlformats.org/drawingml/2006/main">
            <a:r>
              <a:t>- docs/architecture.md,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Hoje já provamos três sinais: a placa completa foi decodificada como plot três; a política local obteve 15 de 16 acertos operacionais; e o cliente recebeu ACCEPTED, ativou o Nav2 e mudou a odometria do TurtleBot. “Cancelar” foi recusado sem movimento. O desenho cobre IA, câmera e voz, áudio, privacidade e captura sob demanda. O próximo gate é compilar no Android e validar DAT, latência, bateria e rota Bluetooth com os óculos reais.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tests/test_qr_target_detector.py e make vision-smoke, equipe AgroTurtles, 18 ago. 2026.</a:t>
            </a:r>
          </a:p>
          <a:p xmlns:a="http://schemas.openxmlformats.org/drawingml/2006/main">
            <a:r>
              <a:t>- shared/ai/evaluation.json, conjunto separado de 16 frases, equipe AgroTurtles, 18 ago. 2026.</a:t>
            </a:r>
          </a:p>
          <a:p xmlns:a="http://schemas.openxmlformats.org/drawingml/2006/main">
            <a:r>
              <a:t>- docs/testing.md e docs/tasks/submission-readiness.md: ACCEPTED, Nav2 ativo e odometria alterada, execução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Maestro conecta interface multimodal e robótica com protocolo aberto, confirmação obrigatória e ROS 2, sem se prender a um fabricante. O futuro do campo não precisa de mais uma tela. Precisa entender alvo, intenção e segurança. Maestro Agrícola: olhe, fale, confirme.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docs/submission/final-form.md,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b518d9d334a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a5106541964cdb" /><Relationship Type="http://schemas.openxmlformats.org/officeDocument/2006/relationships/slideLayout" Target="/ppt/slideLayouts/slideLayout1.xml" Id="R1834c161956e49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34c161956e49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27e1f6d594e16" /><Relationship Type="http://schemas.openxmlformats.org/officeDocument/2006/relationships/image" Target="/ppt/media/image.png" Id="R4070aaa3c8ac4158" /><Relationship Type="http://schemas.openxmlformats.org/officeDocument/2006/relationships/image" Target="/ppt/media/image2.png" Id="R73bd1ff95f2f4043" /><Relationship Type="http://schemas.openxmlformats.org/officeDocument/2006/relationships/notesSlide" Target="/ppt/notesSlides/notesSlide1.xml" Id="R75f195d523c54c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a4617d08e43f8" /><Relationship Type="http://schemas.openxmlformats.org/officeDocument/2006/relationships/image" Target="/ppt/media/image3.png" Id="R796612f806674682" /><Relationship Type="http://schemas.openxmlformats.org/officeDocument/2006/relationships/notesSlide" Target="/ppt/notesSlides/notesSlide2.xml" Id="R26e85310296a43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e92f7d040481d" /><Relationship Type="http://schemas.openxmlformats.org/officeDocument/2006/relationships/image" Target="/ppt/media/image4.png" Id="R4bff0a9d8a884e08" /><Relationship Type="http://schemas.openxmlformats.org/officeDocument/2006/relationships/notesSlide" Target="/ppt/notesSlides/notesSlide3.xml" Id="Rc10dc953ea1f43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216139dbd43d5" /><Relationship Type="http://schemas.openxmlformats.org/officeDocument/2006/relationships/image" Target="/ppt/media/image5.png" Id="R76facaab5d8b48e7" /><Relationship Type="http://schemas.openxmlformats.org/officeDocument/2006/relationships/notesSlide" Target="/ppt/notesSlides/notesSlide4.xml" Id="R237d4e6e099e48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41e8c7964447b" /><Relationship Type="http://schemas.openxmlformats.org/officeDocument/2006/relationships/image" Target="/ppt/media/image6.png" Id="Rbd25e0d71d7d462b" /><Relationship Type="http://schemas.openxmlformats.org/officeDocument/2006/relationships/notesSlide" Target="/ppt/notesSlides/notesSlide5.xml" Id="R2698c004972140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6741477ef43df" /><Relationship Type="http://schemas.openxmlformats.org/officeDocument/2006/relationships/image" Target="/ppt/media/image7.png" Id="R2b188eb3d64743e6" /><Relationship Type="http://schemas.openxmlformats.org/officeDocument/2006/relationships/notesSlide" Target="/ppt/notesSlides/notesSlide6.xml" Id="R7712f8dfb5474ce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46FA76D-6FBD-4BCA-BC71-88D8D1CD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"/>
            <a:ext cx="9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78F9F3-07E9-4CD3-A514-6A68C859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Maestro Agrícola</a:t>
            </a:r>
          </a:p>
        </p:txBody>
      </p:sp>
      <p:sp>
        <p:nvSpPr>
          <p:cNvPr id="3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C05875AB-A53B-4DF9-99A2-14D68C23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Olhe. Fale. Confirme.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E9CF43D8-07D3-43B5-8F5C-8463827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Uma interface hands-free para transformar intenção humana em ação segura no campo.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0aaa3c8ac4158"/>
          <a:srcRect xmlns:a="http://schemas.openxmlformats.org/drawingml/2006/main" l="1105" t="0" r="11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400050"/>
            <a:ext cx="5476875" cy="5600700"/>
          </a:xfrm>
          <a:prstGeom xmlns:a="http://schemas.openxmlformats.org/drawingml/2006/main" prst="roundRect">
            <a:avLst>
              <a:gd name="adj" fmla="val 3130"/>
            </a:avLst>
          </a:prstGeom>
        </p:spPr>
      </p:pic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AD82862E-0452-4A1D-B7BE-2E778200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01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d1ff95f2f4043"/>
          <a:stretch xmlns:a="http://schemas.openxmlformats.org/drawingml/2006/main"/>
        </p:blipFill>
        <p:spPr>
          <a:xfrm xmlns:a="http://schemas.openxmlformats.org/drawingml/2006/main">
            <a:off x="462958" y="4857750"/>
            <a:ext cx="4941484" cy="138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6208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oblem-overline">
            <a:extLst xmlns:a="http://schemas.openxmlformats.org/drawingml/2006/main">
              <a:ext uri="{FF2B5EF4-FFF2-40B4-BE49-F238E27FC236}">
                <a16:creationId xmlns:a16="http://schemas.microsoft.com/office/drawing/2014/main" id="{744F6507-FBA3-4FF3-8650-538731AF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7D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 PROBLEMA</a:t>
            </a:r>
          </a:p>
        </p:txBody>
      </p:sp>
      <p:sp>
        <p:nvSpPr>
          <p:cNvPr id="2" name="problem-thesis">
            <a:extLst xmlns:a="http://schemas.openxmlformats.org/drawingml/2006/main">
              <a:ext uri="{FF2B5EF4-FFF2-40B4-BE49-F238E27FC236}">
                <a16:creationId xmlns:a16="http://schemas.microsoft.com/office/drawing/2014/main" id="{F48185A7-062F-42BF-A686-2B547BB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9810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máquina é autônoma.</a:t>
            </a:r>
          </a:p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interface ainda não.</a:t>
            </a:r>
          </a:p>
        </p:txBody>
      </p:sp>
      <p:sp>
        <p:nvSpPr>
          <p:cNvPr id="3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FFB2C4F7-C6BB-4567-9175-AE451AAF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161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blem-detail">
            <a:extLst xmlns:a="http://schemas.openxmlformats.org/drawingml/2006/main">
              <a:ext uri="{FF2B5EF4-FFF2-40B4-BE49-F238E27FC236}">
                <a16:creationId xmlns:a16="http://schemas.microsoft.com/office/drawing/2014/main" id="{8C5B095D-EC16-40AC-8532-5F2C8F3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Parar o trabalho  →  limpar as mãos  →  abrir uma tela  →  reprogramar a rota</a:t>
            </a:r>
          </a:p>
        </p:txBody>
      </p:sp>
      <p:sp>
        <p:nvSpPr>
          <p:cNvPr id="5" name="problem-consequence">
            <a:extLst xmlns:a="http://schemas.openxmlformats.org/drawingml/2006/main">
              <a:ext uri="{FF2B5EF4-FFF2-40B4-BE49-F238E27FC236}">
                <a16:creationId xmlns:a16="http://schemas.microsoft.com/office/drawing/2014/main" id="{D19873D4-9BF6-4C50-9782-67CA4DFC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No sol, na poeira e no ritmo da operação.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6612f806674682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60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0A8EC58A-67C3-4452-B30C-45FC9F97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Três ações substituem uma tela.</a:t>
            </a:r>
          </a:p>
        </p:txBody>
      </p:sp>
      <p:sp>
        <p:nvSpPr>
          <p:cNvPr id="2" name="journey-line">
            <a:extLst xmlns:a="http://schemas.openxmlformats.org/drawingml/2006/main">
              <a:ext uri="{FF2B5EF4-FFF2-40B4-BE49-F238E27FC236}">
                <a16:creationId xmlns:a16="http://schemas.microsoft.com/office/drawing/2014/main" id="{8EE6993C-C78C-4B6F-AEC8-DF5F8CE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942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B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journey-node-1">
            <a:extLst xmlns:a="http://schemas.openxmlformats.org/drawingml/2006/main">
              <a:ext uri="{FF2B5EF4-FFF2-40B4-BE49-F238E27FC236}">
                <a16:creationId xmlns:a16="http://schemas.microsoft.com/office/drawing/2014/main" id="{327683BC-7D32-4095-9A85-6770AC7D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4" name="journey-label-1">
            <a:extLst xmlns:a="http://schemas.openxmlformats.org/drawingml/2006/main">
              <a:ext uri="{FF2B5EF4-FFF2-40B4-BE49-F238E27FC236}">
                <a16:creationId xmlns:a16="http://schemas.microsoft.com/office/drawing/2014/main" id="{E4A8CFCC-41ED-49DE-8221-0B141CA2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01  OLHAR</a:t>
            </a:r>
          </a:p>
        </p:txBody>
      </p:sp>
      <p:sp>
        <p:nvSpPr>
          <p:cNvPr id="5" name="journey-body-1">
            <a:extLst xmlns:a="http://schemas.openxmlformats.org/drawingml/2006/main">
              <a:ext uri="{FF2B5EF4-FFF2-40B4-BE49-F238E27FC236}">
                <a16:creationId xmlns:a16="http://schemas.microsoft.com/office/drawing/2014/main" id="{89836DDE-1DD4-441A-9471-9383716F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+ QR resolvem o plot.
O ID falado também é validado.</a:t>
            </a:r>
          </a:p>
        </p:txBody>
      </p:sp>
      <p:sp>
        <p:nvSpPr>
          <p:cNvPr id="6" name="journey-node-2">
            <a:extLst xmlns:a="http://schemas.openxmlformats.org/drawingml/2006/main">
              <a:ext uri="{FF2B5EF4-FFF2-40B4-BE49-F238E27FC236}">
                <a16:creationId xmlns:a16="http://schemas.microsoft.com/office/drawing/2014/main" id="{94DA5F48-792A-4375-A150-DA4D16E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7" name="journey-label-2">
            <a:extLst xmlns:a="http://schemas.openxmlformats.org/drawingml/2006/main">
              <a:ext uri="{FF2B5EF4-FFF2-40B4-BE49-F238E27FC236}">
                <a16:creationId xmlns:a16="http://schemas.microsoft.com/office/drawing/2014/main" id="{486C4166-87CA-415E-97E7-95F5BFF8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02  FALAR</a:t>
            </a:r>
          </a:p>
        </p:txBody>
      </p:sp>
      <p:sp>
        <p:nvSpPr>
          <p:cNvPr id="8" name="journey-body-2">
            <a:extLst xmlns:a="http://schemas.openxmlformats.org/drawingml/2006/main">
              <a:ext uri="{FF2B5EF4-FFF2-40B4-BE49-F238E27FC236}">
                <a16:creationId xmlns:a16="http://schemas.microsoft.com/office/drawing/2014/main" id="{F078AADE-0E1F-46CB-AF4B-F95B9E5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Softmax local
65 KB · 4 intenções
limiar 0,40</a:t>
            </a:r>
          </a:p>
        </p:txBody>
      </p:sp>
      <p:sp>
        <p:nvSpPr>
          <p:cNvPr id="9" name="journey-node-3">
            <a:extLst xmlns:a="http://schemas.openxmlformats.org/drawingml/2006/main">
              <a:ext uri="{FF2B5EF4-FFF2-40B4-BE49-F238E27FC236}">
                <a16:creationId xmlns:a16="http://schemas.microsoft.com/office/drawing/2014/main" id="{FEAB29B1-9EEF-4B6A-924F-9941423F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10" name="journey-label-3">
            <a:extLst xmlns:a="http://schemas.openxmlformats.org/drawingml/2006/main">
              <a:ext uri="{FF2B5EF4-FFF2-40B4-BE49-F238E27FC236}">
                <a16:creationId xmlns:a16="http://schemas.microsoft.com/office/drawing/2014/main" id="{37895F62-6850-4142-91C7-97980011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03  CONFIRMAR</a:t>
            </a:r>
          </a:p>
        </p:txBody>
      </p:sp>
      <p:sp>
        <p:nvSpPr>
          <p:cNvPr id="11" name="journey-body-3">
            <a:extLst xmlns:a="http://schemas.openxmlformats.org/drawingml/2006/main">
              <a:ext uri="{FF2B5EF4-FFF2-40B4-BE49-F238E27FC236}">
                <a16:creationId xmlns:a16="http://schemas.microsoft.com/office/drawing/2014/main" id="{78C1FFD6-19D7-4293-918E-E285560C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Só o ‘sim’ libera o comando ao robô.</a:t>
            </a:r>
          </a:p>
        </p:txBody>
      </p:sp>
      <p:sp>
        <p:nvSpPr>
          <p:cNvPr id="12" name="journey-safety">
            <a:extLst xmlns:a="http://schemas.openxmlformats.org/drawingml/2006/main">
              <a:ext uri="{FF2B5EF4-FFF2-40B4-BE49-F238E27FC236}">
                <a16:creationId xmlns:a16="http://schemas.microsoft.com/office/drawing/2014/main" id="{E9EA0EC0-37EA-4893-8DDF-108FB3B5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8394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4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journey-safety-text">
            <a:extLst xmlns:a="http://schemas.openxmlformats.org/drawingml/2006/main">
              <a:ext uri="{FF2B5EF4-FFF2-40B4-BE49-F238E27FC236}">
                <a16:creationId xmlns:a16="http://schemas.microsoft.com/office/drawing/2014/main" id="{80D12651-686E-4950-B85A-A3ED98E8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Voz ≠ câmera ou falta de confirmação = nenhum comando.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f0a9d8a884e08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4161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4">
            <a:extLst xmlns:a="http://schemas.openxmlformats.org/drawingml/2006/main">
              <a:ext uri="{FF2B5EF4-FFF2-40B4-BE49-F238E27FC236}">
                <a16:creationId xmlns:a16="http://schemas.microsoft.com/office/drawing/2014/main" id="{239E28DA-72EF-45EA-B464-D0390D0B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O ciclo completo já funciona em simulação.</a:t>
            </a:r>
          </a:p>
        </p:txBody>
      </p:sp>
      <p:sp>
        <p:nvSpPr>
          <p:cNvPr id="2" name="architecture-arrow-1">
            <a:extLst xmlns:a="http://schemas.openxmlformats.org/drawingml/2006/main">
              <a:ext uri="{FF2B5EF4-FFF2-40B4-BE49-F238E27FC236}">
                <a16:creationId xmlns:a16="http://schemas.microsoft.com/office/drawing/2014/main" id="{3F480D28-9199-4849-BBFE-313A0A4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3" name="architecture-arrow-2">
            <a:extLst xmlns:a="http://schemas.openxmlformats.org/drawingml/2006/main">
              <a:ext uri="{FF2B5EF4-FFF2-40B4-BE49-F238E27FC236}">
                <a16:creationId xmlns:a16="http://schemas.microsoft.com/office/drawing/2014/main" id="{0CD5FE09-FCC9-4F36-9996-A9C26A7C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4" name="architecture-arrow-3">
            <a:extLst xmlns:a="http://schemas.openxmlformats.org/drawingml/2006/main">
              <a:ext uri="{FF2B5EF4-FFF2-40B4-BE49-F238E27FC236}">
                <a16:creationId xmlns:a16="http://schemas.microsoft.com/office/drawing/2014/main" id="{DDCF484B-9C6B-40AC-ABB2-5FFD592D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5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53CADC36-5621-4335-B6C1-38D85CA6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6" name="architecture-accent-1">
            <a:extLst xmlns:a="http://schemas.openxmlformats.org/drawingml/2006/main">
              <a:ext uri="{FF2B5EF4-FFF2-40B4-BE49-F238E27FC236}">
                <a16:creationId xmlns:a16="http://schemas.microsoft.com/office/drawing/2014/main" id="{D190FFA8-A07C-4946-A339-0B535311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41CE88B5-9D2B-4AD3-BBF0-D0DEC375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AI Glasses</a:t>
            </a:r>
          </a:p>
        </p:txBody>
      </p:sp>
      <p:sp>
        <p:nvSpPr>
          <p:cNvPr id="8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E933CCC4-C7AA-46B8-986D-2012FAF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câmera via DAT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+ QR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voz/TTS nativos</a:t>
            </a:r>
          </a:p>
        </p:txBody>
      </p:sp>
      <p:sp>
        <p:nvSpPr>
          <p:cNvPr id="9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533482D6-844B-4E81-AAF5-3E86A6F9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0" name="architecture-accent-2">
            <a:extLst xmlns:a="http://schemas.openxmlformats.org/drawingml/2006/main">
              <a:ext uri="{FF2B5EF4-FFF2-40B4-BE49-F238E27FC236}">
                <a16:creationId xmlns:a16="http://schemas.microsoft.com/office/drawing/2014/main" id="{8AAEB469-D22A-43B1-82A9-596822D6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8E389CD5-7A3C-491F-A2B1-7729E42C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App nativo</a:t>
            </a:r>
          </a:p>
        </p:txBody>
      </p:sp>
      <p:sp>
        <p:nvSpPr>
          <p:cNvPr id="12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36AF224E-4C04-4767-9C11-1C61946A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Android / Kotlin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softmax · 65 KB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confirmação</a:t>
            </a:r>
          </a:p>
        </p:txBody>
      </p:sp>
      <p:sp>
        <p:nvSpPr>
          <p:cNvPr id="13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A5B104B5-0F1F-4CC0-BC84-013EE86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4" name="architecture-accent-3">
            <a:extLst xmlns:a="http://schemas.openxmlformats.org/drawingml/2006/main">
              <a:ext uri="{FF2B5EF4-FFF2-40B4-BE49-F238E27FC236}">
                <a16:creationId xmlns:a16="http://schemas.microsoft.com/office/drawing/2014/main" id="{982C867B-E4F1-4858-A2C0-443021BE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BBC03256-51AC-49F6-B60F-5F8A471A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WebSocket</a:t>
            </a:r>
          </a:p>
        </p:txBody>
      </p:sp>
      <p:sp>
        <p:nvSpPr>
          <p:cNvPr id="16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C2DBBB83-36B7-47AA-BCF0-7810096E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JSON versionado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expiração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idempotência</a:t>
            </a:r>
          </a:p>
        </p:txBody>
      </p:sp>
      <p:sp>
        <p:nvSpPr>
          <p:cNvPr id="17" name="architecture-node-4">
            <a:extLst xmlns:a="http://schemas.openxmlformats.org/drawingml/2006/main">
              <a:ext uri="{FF2B5EF4-FFF2-40B4-BE49-F238E27FC236}">
                <a16:creationId xmlns:a16="http://schemas.microsoft.com/office/drawing/2014/main" id="{05C1F3C0-8166-4803-AA97-098BC317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8" name="architecture-accent-4">
            <a:extLst xmlns:a="http://schemas.openxmlformats.org/drawingml/2006/main">
              <a:ext uri="{FF2B5EF4-FFF2-40B4-BE49-F238E27FC236}">
                <a16:creationId xmlns:a16="http://schemas.microsoft.com/office/drawing/2014/main" id="{E9CF74ED-AF3B-46E1-8BB7-4AA3F0E8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rchitecture-title-4">
            <a:extLst xmlns:a="http://schemas.openxmlformats.org/drawingml/2006/main">
              <a:ext uri="{FF2B5EF4-FFF2-40B4-BE49-F238E27FC236}">
                <a16:creationId xmlns:a16="http://schemas.microsoft.com/office/drawing/2014/main" id="{C8D88FA7-79E4-46B6-A19B-FB22E58A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ROS 2 / Nav2</a:t>
            </a:r>
          </a:p>
        </p:txBody>
      </p:sp>
      <p:sp>
        <p:nvSpPr>
          <p:cNvPr id="20" name="architecture-body-4">
            <a:extLst xmlns:a="http://schemas.openxmlformats.org/drawingml/2006/main">
              <a:ext uri="{FF2B5EF4-FFF2-40B4-BE49-F238E27FC236}">
                <a16:creationId xmlns:a16="http://schemas.microsoft.com/office/drawing/2014/main" id="{0627F75D-9C2C-4159-BF39-6CF57EBE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bridge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Gazebo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TurtleBot 4</a:t>
            </a:r>
          </a:p>
        </p:txBody>
      </p:sp>
      <p:sp>
        <p:nvSpPr>
          <p:cNvPr id="21" name="architecture-decision">
            <a:extLst xmlns:a="http://schemas.openxmlformats.org/drawingml/2006/main">
              <a:ext uri="{FF2B5EF4-FFF2-40B4-BE49-F238E27FC236}">
                <a16:creationId xmlns:a16="http://schemas.microsoft.com/office/drawing/2014/main" id="{883906AB-29EB-47E5-AE65-00D0547F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0"/>
            <a:ext cx="10439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4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rchitecture-decision-text">
            <a:extLst xmlns:a="http://schemas.openxmlformats.org/drawingml/2006/main">
              <a:ext uri="{FF2B5EF4-FFF2-40B4-BE49-F238E27FC236}">
                <a16:creationId xmlns:a16="http://schemas.microsoft.com/office/drawing/2014/main" id="{0AD469E5-AEC7-4C0D-BBED-667C23E5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Alvo visual + ID falado; se discordarem, nada é enviado. GPS não vira destino.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acaab5d8b48e7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5">
            <a:extLst xmlns:a="http://schemas.openxmlformats.org/drawingml/2006/main">
              <a:ext uri="{FF2B5EF4-FFF2-40B4-BE49-F238E27FC236}">
                <a16:creationId xmlns:a16="http://schemas.microsoft.com/office/drawing/2014/main" id="{6A8AF874-5CE9-4109-A69D-9890F2B5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simulação já fecha o ciclo com falha segura.</a:t>
            </a:r>
          </a:p>
        </p:txBody>
      </p:sp>
      <p:sp>
        <p:nvSpPr>
          <p:cNvPr id="2" name="evidence-intro">
            <a:extLst xmlns:a="http://schemas.openxmlformats.org/drawingml/2006/main">
              <a:ext uri="{FF2B5EF4-FFF2-40B4-BE49-F238E27FC236}">
                <a16:creationId xmlns:a16="http://schemas.microsoft.com/office/drawing/2014/main" id="{721FE1C0-1132-4571-8640-84FE896D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Três sinais reproduzíveis; o próximo gate é o hardware real.</a:t>
            </a:r>
          </a:p>
        </p:txBody>
      </p:sp>
      <p:sp>
        <p:nvSpPr>
          <p:cNvPr id="3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84E91BFD-BB43-48D9-BB46-C380A033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3D087C8D-9C13-4A84-8BBC-4EDF02EB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QR</a:t>
            </a:r>
          </a:p>
        </p:txBody>
      </p:sp>
      <p:sp>
        <p:nvSpPr>
          <p:cNvPr id="5" name="evidence-header-1">
            <a:extLst xmlns:a="http://schemas.openxmlformats.org/drawingml/2006/main">
              <a:ext uri="{FF2B5EF4-FFF2-40B4-BE49-F238E27FC236}">
                <a16:creationId xmlns:a16="http://schemas.microsoft.com/office/drawing/2014/main" id="{C5054F2D-2545-4094-8111-64B6E1D5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plot-03 detectado</a:t>
            </a:r>
          </a:p>
        </p:txBody>
      </p:sp>
      <p:sp>
        <p:nvSpPr>
          <p:cNvPr id="6" name="evidence-detail-1">
            <a:extLst xmlns:a="http://schemas.openxmlformats.org/drawingml/2006/main">
              <a:ext uri="{FF2B5EF4-FFF2-40B4-BE49-F238E27FC236}">
                <a16:creationId xmlns:a16="http://schemas.microsoft.com/office/drawing/2014/main" id="{9A558FFD-72CA-4AE6-8566-BFF810BA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completa decodificada localmente.</a:t>
            </a:r>
          </a:p>
        </p:txBody>
      </p:sp>
      <p:sp>
        <p:nvSpPr>
          <p:cNvPr id="7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7296807F-12B4-4BE1-AAF2-F69A9112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8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217565A7-ADB3-4AFF-B041-6A12FA42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15/16</a:t>
            </a:r>
          </a:p>
        </p:txBody>
      </p:sp>
      <p:sp>
        <p:nvSpPr>
          <p:cNvPr id="9" name="evidence-header-2">
            <a:extLst xmlns:a="http://schemas.openxmlformats.org/drawingml/2006/main">
              <a:ext uri="{FF2B5EF4-FFF2-40B4-BE49-F238E27FC236}">
                <a16:creationId xmlns:a16="http://schemas.microsoft.com/office/drawing/2014/main" id="{4B4E63CD-53B6-4B2B-ABC2-D135ACD1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IA operacional</a:t>
            </a:r>
          </a:p>
        </p:txBody>
      </p:sp>
      <p:sp>
        <p:nvSpPr>
          <p:cNvPr id="10" name="evidence-detail-2">
            <a:extLst xmlns:a="http://schemas.openxmlformats.org/drawingml/2006/main">
              <a:ext uri="{FF2B5EF4-FFF2-40B4-BE49-F238E27FC236}">
                <a16:creationId xmlns:a16="http://schemas.microsoft.com/office/drawing/2014/main" id="{75009FFB-2DCD-446E-A4D6-297F0CC5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96 frases; a restante virou UNKNOWN.</a:t>
            </a:r>
          </a:p>
        </p:txBody>
      </p:sp>
      <p:sp>
        <p:nvSpPr>
          <p:cNvPr id="11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872B6ADF-BC87-43C9-BE68-628864F1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2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6318F474-73A3-4E75-9030-ADAB8222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ROS 2</a:t>
            </a:r>
          </a:p>
        </p:txBody>
      </p:sp>
      <p:sp>
        <p:nvSpPr>
          <p:cNvPr id="13" name="evidence-header-3">
            <a:extLst xmlns:a="http://schemas.openxmlformats.org/drawingml/2006/main">
              <a:ext uri="{FF2B5EF4-FFF2-40B4-BE49-F238E27FC236}">
                <a16:creationId xmlns:a16="http://schemas.microsoft.com/office/drawing/2014/main" id="{FE784F5F-E38F-4B02-A861-57029E7D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movimento provado</a:t>
            </a:r>
          </a:p>
        </p:txBody>
      </p:sp>
      <p:sp>
        <p:nvSpPr>
          <p:cNvPr id="14" name="evidence-detail-3">
            <a:extLst xmlns:a="http://schemas.openxmlformats.org/drawingml/2006/main">
              <a:ext uri="{FF2B5EF4-FFF2-40B4-BE49-F238E27FC236}">
                <a16:creationId xmlns:a16="http://schemas.microsoft.com/office/drawing/2014/main" id="{AF9AB1A3-2614-4210-8592-3243637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ACCEPTED + Nav2 ativo + odometria mudou.</a:t>
            </a:r>
          </a:p>
        </p:txBody>
      </p:sp>
      <p:sp>
        <p:nvSpPr>
          <p:cNvPr id="15" name="evidence-safety">
            <a:extLst xmlns:a="http://schemas.openxmlformats.org/drawingml/2006/main">
              <a:ext uri="{FF2B5EF4-FFF2-40B4-BE49-F238E27FC236}">
                <a16:creationId xmlns:a16="http://schemas.microsoft.com/office/drawing/2014/main" id="{97D12BA1-2E59-4241-8DDA-F2B871EA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Voz ≠ câmera, ‘cancelar’ ou falta de confirmação = sem comando.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5e0d71d7d462b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628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28E06A39-AA9A-4146-BBA9-C188263E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0287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O futuro do campo não precisa de mais telas.</a:t>
            </a:r>
          </a:p>
        </p:txBody>
      </p:sp>
      <p:sp>
        <p:nvSpPr>
          <p:cNvPr id="3" name="close-tagline">
            <a:extLst xmlns:a="http://schemas.openxmlformats.org/drawingml/2006/main">
              <a:ext uri="{FF2B5EF4-FFF2-40B4-BE49-F238E27FC236}">
                <a16:creationId xmlns:a16="http://schemas.microsoft.com/office/drawing/2014/main" id="{0753BFD4-8DB1-4577-BAA0-53EE2B0B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Olhe. Fale. Confirme.</a:t>
            </a:r>
          </a:p>
        </p:txBody>
      </p:sp>
      <p:sp>
        <p:nvSpPr>
          <p:cNvPr id="4" name="close-bar">
            <a:extLst xmlns:a="http://schemas.openxmlformats.org/drawingml/2006/main">
              <a:ext uri="{FF2B5EF4-FFF2-40B4-BE49-F238E27FC236}">
                <a16:creationId xmlns:a16="http://schemas.microsoft.com/office/drawing/2014/main" id="{C6AC9AA4-0FF6-4476-936F-C4A2E38B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4625"/>
            <a:ext cx="12192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88eb3d64743e6"/>
          <a:stretch xmlns:a="http://schemas.openxmlformats.org/drawingml/2006/main"/>
        </p:blipFill>
        <p:spPr>
          <a:xfrm xmlns:a="http://schemas.openxmlformats.org/drawingml/2006/main">
            <a:off x="457200" y="363118"/>
            <a:ext cx="4000500" cy="11692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7876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2026-08-19T01:03:55.0130000Z</dcterms:created>
  <dcterms:modified xsi:type="dcterms:W3CDTF">2026-08-19T01:03:55.0130000Z</dcterms:modified>
</coreProperties>
</file>