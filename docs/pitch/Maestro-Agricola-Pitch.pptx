
<file path=[Content_Types].xml><?xml version="1.0" encoding="utf-8"?>
<Types xmlns="http://schemas.openxmlformats.org/package/2006/content-types">
  <Default Extension="xml" ContentType="application/vnd.openxmlformats-package.core-properties+xml"/>
  <Default Extension="png" ContentType="image/pn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ce60e8b1dbba4f1d" /><Relationship Type="http://schemas.openxmlformats.org/officeDocument/2006/relationships/extended-properties" Target="/docProps/app.xml" Id="R62bc447bf9bc44b7" /><Relationship Type="http://schemas.openxmlformats.org/officeDocument/2006/relationships/officeDocument" Target="/ppt/presentation.xml" Id="Re8cce9863a4c40c1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bd239dc8c01f4b8c"/>
  </p:sldMasterIdLst>
  <p:notesMasterIdLst>
    <p:notesMasterId xmlns:r="http://schemas.openxmlformats.org/officeDocument/2006/relationships" r:id="R159d68aa0a2c48e5"/>
  </p:notesMasterIdLst>
  <p:sldIdLst>
    <p:sldId xmlns:r="http://schemas.openxmlformats.org/officeDocument/2006/relationships" id="256" r:id="Ra164d11e08b94571"/>
    <p:sldId xmlns:r="http://schemas.openxmlformats.org/officeDocument/2006/relationships" id="257" r:id="R216c4fc55b594a48"/>
    <p:sldId xmlns:r="http://schemas.openxmlformats.org/officeDocument/2006/relationships" id="258" r:id="Rff0b452be7694d13"/>
    <p:sldId xmlns:r="http://schemas.openxmlformats.org/officeDocument/2006/relationships" id="259" r:id="R07997ddcee574f1e"/>
    <p:sldId xmlns:r="http://schemas.openxmlformats.org/officeDocument/2006/relationships" id="260" r:id="Ra2cf5352040f4227"/>
    <p:sldId xmlns:r="http://schemas.openxmlformats.org/officeDocument/2006/relationships" id="261" r:id="R6c39c2f5257343e4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9e739fc3470341db" /><Relationship Type="http://schemas.openxmlformats.org/officeDocument/2006/relationships/slideMaster" Target="/ppt/slideMasters/slideMaster1.xml" Id="Rbd239dc8c01f4b8c" /><Relationship Type="http://schemas.openxmlformats.org/officeDocument/2006/relationships/notesMaster" Target="/ppt/notesMasters/notesMaster1.xml" Id="R159d68aa0a2c48e5" /><Relationship Type="http://schemas.openxmlformats.org/officeDocument/2006/relationships/presProps" Target="/ppt/presProps.xml" Id="Rff809237fd30436f" /><Relationship Type="http://schemas.openxmlformats.org/officeDocument/2006/relationships/tableStyles" Target="/ppt/tableStyles.xml" Id="Rfb2eb083a1e74cfa" /><Relationship Type="http://schemas.openxmlformats.org/officeDocument/2006/relationships/slide" Target="/ppt/slides/slide1.xml" Id="Ra164d11e08b94571" /><Relationship Type="http://schemas.openxmlformats.org/officeDocument/2006/relationships/slide" Target="/ppt/slides/slide2.xml" Id="R216c4fc55b594a48" /><Relationship Type="http://schemas.openxmlformats.org/officeDocument/2006/relationships/slide" Target="/ppt/slides/slide3.xml" Id="Rff0b452be7694d13" /><Relationship Type="http://schemas.openxmlformats.org/officeDocument/2006/relationships/slide" Target="/ppt/slides/slide4.xml" Id="R07997ddcee574f1e" /><Relationship Type="http://schemas.openxmlformats.org/officeDocument/2006/relationships/slide" Target="/ppt/slides/slide5.xml" Id="Ra2cf5352040f4227" /><Relationship Type="http://schemas.openxmlformats.org/officeDocument/2006/relationships/slide" Target="/ppt/slides/slide6.xml" Id="R6c39c2f5257343e4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421c3f3a585e487b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4a6828c6404f4e81" /><Relationship Type="http://schemas.openxmlformats.org/officeDocument/2006/relationships/notesMaster" Target="/ppt/notesMasters/notesMaster1.xml" Id="R87f70f81ac234106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1f5243eca0ed45fa" /><Relationship Type="http://schemas.openxmlformats.org/officeDocument/2006/relationships/notesMaster" Target="/ppt/notesMasters/notesMaster1.xml" Id="R1d3b275a5ff245d1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e8bf7699dd054e7e" /><Relationship Type="http://schemas.openxmlformats.org/officeDocument/2006/relationships/notesMaster" Target="/ppt/notesMasters/notesMaster1.xml" Id="R150805e79f2e4ea2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87d542ad637c4914" /><Relationship Type="http://schemas.openxmlformats.org/officeDocument/2006/relationships/notesMaster" Target="/ppt/notesMasters/notesMaster1.xml" Id="R18e1660187f847fd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999ff24921234067" /><Relationship Type="http://schemas.openxmlformats.org/officeDocument/2006/relationships/notesMaster" Target="/ppt/notesMasters/notesMaster1.xml" Id="Rc4955f1d0556411f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2d008f8e58e14ebf" /><Relationship Type="http://schemas.openxmlformats.org/officeDocument/2006/relationships/notesMaster" Target="/ppt/notesMasters/notesMaster1.xml" Id="Rfdccc6421c4b4f30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Imagine um operador no meio da lavoura, com as mãos ocupadas, acompanhando um robô autônomo. A máquina já navega; mesmo assim, indicar uma nova área ainda pode exigir parar e abrir uma tela. O Maestro Agrícola muda essa conversa: olhar, falar e confirmar.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Versão Resumida — Maestro Agrícola, equipe AgroTurtles, 2026.</a:t>
            </a:r>
          </a:p>
          <a:p xmlns:a="http://schemas.openxmlformats.org/drawingml/2006/main">
            <a:r>
              <a:t>- Imagem original gerada para esta apresentação com OpenAI Image Generation em 16 ago. 2026; sem fotografia externa.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No sol, na poeira e com luvas, um notebook ou tablet adiciona atrito justamente onde a interface deveria desaparecer. Nosso usuário inicial é o operador que acompanha uma máquina conectada e precisa indicar rapidamente uma área de trabalho. O problema não é a autonomia do robô. É a forma como o humano conversa com ela.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Versão Técnica — Maestro Agrícola, equipe AgroTurtles, 2026.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A jornada tem três ações. Olhar: um QR identifica o talhão três, associado a uma posição segura no mapa. Falar: o reconhecimento nativo transcreve “pulverizar esta área”, e uma IA pequena, local e restrita classifica a intenção. Confirmar: o sistema pergunta “pulverizar talhão três?”. Só o sim libera o JSON. Se houver ambiguidade ou o usuário disser “cancelar”, nenhum comando chega ao robô.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Meta Wearables DAT CameraAccess: https://github.com/facebook/meta-wearables-dat-android/tree/main/samples/CameraAccess</a:t>
            </a:r>
          </a:p>
          <a:p xmlns:a="http://schemas.openxmlformats.org/drawingml/2006/main">
            <a:r>
              <a:t>- docs/mvp-spec.md e docs/submission/final-form.md, equipe AgroTurtles, 2026.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Por dentro, a câmera entra pelo DAT. Voz e TTS usam recursos nativos do celular e tentam a rota Bluetooth, com o telefone como fallback. Kotlin e Swift consomem a mesma IA local e o mesmo contrato. Após a confirmação, um JSON com validade curta chega ao bridge, que valida e entrega uma meta ao Nav2 no Gazebo. Como o DAT público não documenta pose ou IMU, o MVP usa QR mapeado e isola a integração real no adaptador de câmera.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Meta Wearables Developer Center: https://wearables.developer.meta.com/docs/develop/dat/getting-started-toolkit</a:t>
            </a:r>
          </a:p>
          <a:p xmlns:a="http://schemas.openxmlformats.org/drawingml/2006/main">
            <a:r>
              <a:t>- Meta Wearables DAT Android e iOS CameraAccess samples: https://github.com/facebook/meta-wearables-dat-android/tree/main/samples/CameraAccess e https://github.com/facebook/meta-wearables-dat-ios/tree/main/samples/CameraAccess</a:t>
            </a:r>
          </a:p>
          <a:p xmlns:a="http://schemas.openxmlformats.org/drawingml/2006/main">
            <a:r>
              <a:t>- A ausência de pose/IMU é uma inferência a partir das APIs públicas consultadas; validar novamente contra a versão do SDK usada no evento.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Hoje já provamos o ciclo na simulação. O cliente enviou “pulverizar esta área”, recebeu ACCEPTED, o Nav2 ficou ativo e a odometria do TurtleBot mudou. “Cancelar” foi recusado localmente, sem movimento. O desenho cobre os cinco pilares: IA, câmera e voz, saída por áudio, privacidade e eficiência por captura sob demanda. O próximo passo é compilar nos dois aparelhos e validar DAT, latência, bateria e rota Bluetooth com os óculos reais.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docs/tasks/submission-readiness.md: execução local de 18 ago. 2026.</a:t>
            </a:r>
          </a:p>
          <a:p xmlns:a="http://schemas.openxmlformats.org/drawingml/2006/main">
            <a:r>
              <a:t>- docs/testing.md e saída de make demo: ACCEPTED, Nav2 ativo e odometria alterada.</a:t>
            </a:r>
          </a:p>
          <a:p xmlns:a="http://schemas.openxmlformats.org/drawingml/2006/main">
            <a:r>
              <a:t>- Palestras finais do CEIA analisadas em docs/references/ceia-materials.md.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A John Deere mostra o valor de acompanhar máquinas pelo celular; a Meta mostra os óculos como interface multimodal. O Maestro conecta esses mundos com protocolo aberto, confirmação obrigatória e ROS 2, sem se prender a um fabricante. O futuro do campo não precisa de mais uma tela. Precisa entender alvo, intenção e segurança. Maestro Agrícola: olhe, fale, confirme.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Meta AI: https://ai.meta.com/meta-ai/</a:t>
            </a:r>
          </a:p>
          <a:p xmlns:a="http://schemas.openxmlformats.org/drawingml/2006/main">
            <a:r>
              <a:t>- John Deere Operations Center: https://www.deere.com/en/technology-products/precision-ag-technology/operations-center/</a:t>
            </a:r>
          </a:p>
          <a:p xmlns:a="http://schemas.openxmlformats.org/drawingml/2006/main">
            <a:r>
              <a:t>- Síntese e diferenciação em docs/submission/final-form.md.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fae5db4b54294489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2de4c5bbada046a3" /><Relationship Type="http://schemas.openxmlformats.org/officeDocument/2006/relationships/slideLayout" Target="/ppt/slideLayouts/slideLayout1.xml" Id="Rc6602b5e9eec4503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c6602b5e9eec4503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4d862ae3a3442af" /><Relationship Type="http://schemas.openxmlformats.org/officeDocument/2006/relationships/image" Target="/ppt/media/image.png" Id="Rd889c7481aeb4128" /><Relationship Type="http://schemas.openxmlformats.org/officeDocument/2006/relationships/notesSlide" Target="/ppt/notesSlides/notesSlide1.xml" Id="R1242fef4684d41c9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92581ff79bf4b0f" /><Relationship Type="http://schemas.openxmlformats.org/officeDocument/2006/relationships/notesSlide" Target="/ppt/notesSlides/notesSlide2.xml" Id="R911d04a1f8be4d72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0c3e019f1054741" /><Relationship Type="http://schemas.openxmlformats.org/officeDocument/2006/relationships/notesSlide" Target="/ppt/notesSlides/notesSlide3.xml" Id="Rea7823c2987847dc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90102f5898f4f88" /><Relationship Type="http://schemas.openxmlformats.org/officeDocument/2006/relationships/notesSlide" Target="/ppt/notesSlides/notesSlide4.xml" Id="Rdb2a9ba17d9a4ee4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ad38f61241d4bd3" /><Relationship Type="http://schemas.openxmlformats.org/officeDocument/2006/relationships/notesSlide" Target="/ppt/notesSlides/notesSlide5.xml" Id="R0e0f54f5aadd4414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64a12c732904432" /><Relationship Type="http://schemas.openxmlformats.org/officeDocument/2006/relationships/notesSlide" Target="/ppt/notesSlides/notesSlide6.xml" Id="R2a91fe2ccd1a4c62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8" name="cover-accent">
            <a:extLst xmlns:a="http://schemas.openxmlformats.org/drawingml/2006/main">
              <a:ext uri="{FF2B5EF4-FFF2-40B4-BE49-F238E27FC236}">
                <a16:creationId xmlns:a16="http://schemas.microsoft.com/office/drawing/2014/main" id="{C46FA76D-6FBD-4BCA-BC71-88D8D1CD00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476250"/>
            <a:ext cx="95250" cy="800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F7D4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cover-title">
            <a:extLst xmlns:a="http://schemas.openxmlformats.org/drawingml/2006/main">
              <a:ext uri="{FF2B5EF4-FFF2-40B4-BE49-F238E27FC236}">
                <a16:creationId xmlns:a16="http://schemas.microsoft.com/office/drawing/2014/main" id="{5478F9F3-07E9-4CD3-A514-6A68C85926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00050"/>
            <a:ext cx="53340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5700" b="1">
                <a:solidFill>
                  <a:srgbClr val="111814"/>
                </a:solidFill>
                <a:latin typeface="Arial"/>
                <a:ea typeface="Arial"/>
                <a:cs typeface="Arial"/>
              </a:defRPr>
            </a:pPr>
            <a:r>
              <a:rPr sz="5700" b="1">
                <a:solidFill>
                  <a:srgbClr val="111814"/>
                </a:solidFill>
                <a:latin typeface="Arial"/>
                <a:ea typeface="Arial"/>
                <a:cs typeface="Arial"/>
              </a:rPr>
              <a:t>Maestro Agrícola</a:t>
            </a:r>
          </a:p>
        </p:txBody>
      </p:sp>
      <p:sp>
        <p:nvSpPr>
          <p:cNvPr id="3" name="cover-tagline">
            <a:extLst xmlns:a="http://schemas.openxmlformats.org/drawingml/2006/main">
              <a:ext uri="{FF2B5EF4-FFF2-40B4-BE49-F238E27FC236}">
                <a16:creationId xmlns:a16="http://schemas.microsoft.com/office/drawing/2014/main" id="{C05875AB-A53B-4DF9-99A2-14D68C2396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2266950"/>
            <a:ext cx="51435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3600" b="1">
                <a:solidFill>
                  <a:srgbClr val="174A2B"/>
                </a:solidFill>
                <a:latin typeface="Arial"/>
                <a:ea typeface="Arial"/>
                <a:cs typeface="Arial"/>
              </a:defRPr>
            </a:pPr>
            <a:r>
              <a:rPr sz="3600" b="1">
                <a:solidFill>
                  <a:srgbClr val="174A2B"/>
                </a:solidFill>
                <a:latin typeface="Arial"/>
                <a:ea typeface="Arial"/>
                <a:cs typeface="Arial"/>
              </a:rPr>
              <a:t>Olhe. Fale. Confirme.</a:t>
            </a:r>
          </a:p>
        </p:txBody>
      </p:sp>
      <p:sp>
        <p:nvSpPr>
          <p:cNvPr id="4" name="cover-body">
            <a:extLst xmlns:a="http://schemas.openxmlformats.org/drawingml/2006/main">
              <a:ext uri="{FF2B5EF4-FFF2-40B4-BE49-F238E27FC236}">
                <a16:creationId xmlns:a16="http://schemas.microsoft.com/office/drawing/2014/main" id="{E9CF43D8-07D3-43B5-8F5C-8463827BC7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3238500"/>
            <a:ext cx="4953000" cy="1200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100" b="0">
                <a:solidFill>
                  <a:srgbClr val="5E6B62"/>
                </a:solidFill>
                <a:latin typeface="Arial"/>
                <a:ea typeface="Arial"/>
                <a:cs typeface="Arial"/>
              </a:defRPr>
            </a:pPr>
            <a:r>
              <a:rPr sz="2100" b="0">
                <a:solidFill>
                  <a:srgbClr val="5E6B62"/>
                </a:solidFill>
                <a:latin typeface="Arial"/>
                <a:ea typeface="Arial"/>
                <a:cs typeface="Arial"/>
              </a:rPr>
              <a:t>Uma interface hands-free para transformar intenção humana em ação segura no campo.</a:t>
            </a:r>
          </a:p>
        </p:txBody>
      </p:sp>
      <p:sp>
        <p:nvSpPr>
          <p:cNvPr id="5" name="cover-team">
            <a:extLst xmlns:a="http://schemas.openxmlformats.org/drawingml/2006/main">
              <a:ext uri="{FF2B5EF4-FFF2-40B4-BE49-F238E27FC236}">
                <a16:creationId xmlns:a16="http://schemas.microsoft.com/office/drawing/2014/main" id="{94CE3902-D9DF-43DE-A8F5-26D9B306C0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5619750"/>
            <a:ext cx="49530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500" b="1">
                <a:solidFill>
                  <a:srgbClr val="5E6B62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5E6B62"/>
                </a:solidFill>
                <a:latin typeface="Arial"/>
                <a:ea typeface="Arial"/>
                <a:cs typeface="Arial"/>
              </a:rPr>
              <a:t>AGROTURTLES  •  AI GLASSES BRASIL 2026</a:t>
            </a:r>
          </a:p>
        </p:txBody>
      </p:sp>
      <p:pic>
        <p:nvPicPr>
          <p:cNvPr id="15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d889c7481aeb4128"/>
          <a:srcRect xmlns:a="http://schemas.openxmlformats.org/drawingml/2006/main" l="1105" t="0" r="1105" b="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6238875" y="400050"/>
            <a:ext cx="5476875" cy="5600700"/>
          </a:xfrm>
          <a:prstGeom xmlns:a="http://schemas.openxmlformats.org/drawingml/2006/main" prst="roundRect">
            <a:avLst>
              <a:gd name="adj" fmla="val 3130"/>
            </a:avLst>
          </a:prstGeom>
        </p:spPr>
      </p:pic>
      <p:sp>
        <p:nvSpPr>
          <p:cNvPr id="7" name="footer-1">
            <a:extLst xmlns:a="http://schemas.openxmlformats.org/drawingml/2006/main">
              <a:ext uri="{FF2B5EF4-FFF2-40B4-BE49-F238E27FC236}">
                <a16:creationId xmlns:a16="http://schemas.microsoft.com/office/drawing/2014/main" id="{AD82862E-0452-4A1D-B7BE-2E77820038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34750" y="6334125"/>
            <a:ext cx="4572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b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200" b="0">
                <a:solidFill>
                  <a:srgbClr val="5E6B62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5E6B62"/>
                </a:solidFill>
                <a:latin typeface="Arial"/>
                <a:ea typeface="Arial"/>
                <a:cs typeface="Arial"/>
              </a:rPr>
              <a:t>01</a:t>
            </a:r>
          </a:p>
        </p:txBody>
      </p:sp>
    </p:spTree>
    <p:extLst>
      <p:ext uri="{BB962C8B-B14F-4D97-AF65-F5344CB8AC3E}">
        <p14:creationId xmlns:p14="http://schemas.microsoft.com/office/powerpoint/2010/main" val="1672620811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" name="problem-overline">
            <a:extLst xmlns:a="http://schemas.openxmlformats.org/drawingml/2006/main">
              <a:ext uri="{FF2B5EF4-FFF2-40B4-BE49-F238E27FC236}">
                <a16:creationId xmlns:a16="http://schemas.microsoft.com/office/drawing/2014/main" id="{744F6507-FBA3-4FF3-8650-538731AF11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419100"/>
            <a:ext cx="2857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500" b="1">
                <a:solidFill>
                  <a:srgbClr val="2F7D4A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F7D4A"/>
                </a:solidFill>
                <a:latin typeface="Arial"/>
                <a:ea typeface="Arial"/>
                <a:cs typeface="Arial"/>
              </a:rPr>
              <a:t>O PROBLEMA</a:t>
            </a:r>
          </a:p>
        </p:txBody>
      </p:sp>
      <p:sp>
        <p:nvSpPr>
          <p:cNvPr id="2" name="problem-thesis">
            <a:extLst xmlns:a="http://schemas.openxmlformats.org/drawingml/2006/main">
              <a:ext uri="{FF2B5EF4-FFF2-40B4-BE49-F238E27FC236}">
                <a16:creationId xmlns:a16="http://schemas.microsoft.com/office/drawing/2014/main" id="{F48185A7-062F-42BF-A686-2B547BB905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1504950"/>
            <a:ext cx="9810750" cy="2381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b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5550" b="1">
                <a:solidFill>
                  <a:srgbClr val="111814"/>
                </a:solidFill>
                <a:latin typeface="Arial"/>
                <a:ea typeface="Arial"/>
                <a:cs typeface="Arial"/>
              </a:defRPr>
            </a:pPr>
            <a:r>
              <a:rPr sz="5550" b="1">
                <a:solidFill>
                  <a:srgbClr val="111814"/>
                </a:solidFill>
                <a:latin typeface="Arial"/>
                <a:ea typeface="Arial"/>
                <a:cs typeface="Arial"/>
              </a:rPr>
              <a:t>A máquina é autônoma.</a:t>
            </a:r>
          </a:p>
          <a:p xmlns:a="http://schemas.openxmlformats.org/drawingml/2006/main">
            <a:pPr algn="l">
              <a:buNone/>
              <a:defRPr sz="5550" b="1">
                <a:solidFill>
                  <a:srgbClr val="111814"/>
                </a:solidFill>
                <a:latin typeface="Arial"/>
                <a:ea typeface="Arial"/>
                <a:cs typeface="Arial"/>
              </a:defRPr>
            </a:pPr>
            <a:r>
              <a:rPr sz="5550" b="1">
                <a:solidFill>
                  <a:srgbClr val="111814"/>
                </a:solidFill>
                <a:latin typeface="Arial"/>
                <a:ea typeface="Arial"/>
                <a:cs typeface="Arial"/>
              </a:rPr>
              <a:t>A interface ainda não.</a:t>
            </a:r>
          </a:p>
        </p:txBody>
      </p:sp>
      <p:sp>
        <p:nvSpPr>
          <p:cNvPr id="3" name="problem-rule">
            <a:extLst xmlns:a="http://schemas.openxmlformats.org/drawingml/2006/main">
              <a:ext uri="{FF2B5EF4-FFF2-40B4-BE49-F238E27FC236}">
                <a16:creationId xmlns:a16="http://schemas.microsoft.com/office/drawing/2014/main" id="{FFB2C4F7-C6BB-4567-9175-AE451AAFCA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4343400"/>
            <a:ext cx="1619250" cy="57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F7D4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problem-detail">
            <a:extLst xmlns:a="http://schemas.openxmlformats.org/drawingml/2006/main">
              <a:ext uri="{FF2B5EF4-FFF2-40B4-BE49-F238E27FC236}">
                <a16:creationId xmlns:a16="http://schemas.microsoft.com/office/drawing/2014/main" id="{8C5B095D-EC16-40AC-8532-5F2C8F32DD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4762500"/>
            <a:ext cx="106680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100" b="0">
                <a:solidFill>
                  <a:srgbClr val="5E6B62"/>
                </a:solidFill>
                <a:latin typeface="Arial"/>
                <a:ea typeface="Arial"/>
                <a:cs typeface="Arial"/>
              </a:defRPr>
            </a:pPr>
            <a:r>
              <a:rPr sz="2100" b="0">
                <a:solidFill>
                  <a:srgbClr val="5E6B62"/>
                </a:solidFill>
                <a:latin typeface="Arial"/>
                <a:ea typeface="Arial"/>
                <a:cs typeface="Arial"/>
              </a:rPr>
              <a:t>Parar o trabalho  →  limpar as mãos  →  abrir uma tela  →  reprogramar a rota</a:t>
            </a:r>
          </a:p>
        </p:txBody>
      </p:sp>
      <p:sp>
        <p:nvSpPr>
          <p:cNvPr id="5" name="problem-consequence">
            <a:extLst xmlns:a="http://schemas.openxmlformats.org/drawingml/2006/main">
              <a:ext uri="{FF2B5EF4-FFF2-40B4-BE49-F238E27FC236}">
                <a16:creationId xmlns:a16="http://schemas.microsoft.com/office/drawing/2014/main" id="{D19873D4-9BF6-4C50-9782-67CA4DFC33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5486400"/>
            <a:ext cx="7620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800" b="1">
                <a:solidFill>
                  <a:srgbClr val="174A2B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174A2B"/>
                </a:solidFill>
                <a:latin typeface="Arial"/>
                <a:ea typeface="Arial"/>
                <a:cs typeface="Arial"/>
              </a:rPr>
              <a:t>No sol, na poeira e no ritmo da operação.</a:t>
            </a:r>
          </a:p>
        </p:txBody>
      </p:sp>
      <p:sp>
        <p:nvSpPr>
          <p:cNvPr id="6" name="footer-2">
            <a:extLst xmlns:a="http://schemas.openxmlformats.org/drawingml/2006/main">
              <a:ext uri="{FF2B5EF4-FFF2-40B4-BE49-F238E27FC236}">
                <a16:creationId xmlns:a16="http://schemas.microsoft.com/office/drawing/2014/main" id="{F74CB339-A2A7-4577-8C40-BA89E4AFA9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34750" y="6334125"/>
            <a:ext cx="4572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b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200" b="0">
                <a:solidFill>
                  <a:srgbClr val="5E6B62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5E6B62"/>
                </a:solidFill>
                <a:latin typeface="Arial"/>
                <a:ea typeface="Arial"/>
                <a:cs typeface="Arial"/>
              </a:rPr>
              <a:t>02</a:t>
            </a:r>
          </a:p>
        </p:txBody>
      </p:sp>
    </p:spTree>
    <p:extLst>
      <p:ext uri="{BB962C8B-B14F-4D97-AF65-F5344CB8AC3E}">
        <p14:creationId xmlns:p14="http://schemas.microsoft.com/office/powerpoint/2010/main" val="169860245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5" name="title-3">
            <a:extLst xmlns:a="http://schemas.openxmlformats.org/drawingml/2006/main">
              <a:ext uri="{FF2B5EF4-FFF2-40B4-BE49-F238E27FC236}">
                <a16:creationId xmlns:a16="http://schemas.microsoft.com/office/drawing/2014/main" id="{0A8EC58A-67C3-4452-B30C-45FC9F9735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361950"/>
            <a:ext cx="112776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3900" b="1">
                <a:solidFill>
                  <a:srgbClr val="111814"/>
                </a:solidFill>
                <a:latin typeface="Arial"/>
                <a:ea typeface="Arial"/>
                <a:cs typeface="Arial"/>
              </a:defRPr>
            </a:pPr>
            <a:r>
              <a:rPr sz="3900" b="1">
                <a:solidFill>
                  <a:srgbClr val="111814"/>
                </a:solidFill>
                <a:latin typeface="Arial"/>
                <a:ea typeface="Arial"/>
                <a:cs typeface="Arial"/>
              </a:rPr>
              <a:t>Três ações substituem uma tela.</a:t>
            </a:r>
          </a:p>
        </p:txBody>
      </p:sp>
      <p:sp>
        <p:nvSpPr>
          <p:cNvPr id="2" name="journey-line">
            <a:extLst xmlns:a="http://schemas.openxmlformats.org/drawingml/2006/main">
              <a:ext uri="{FF2B5EF4-FFF2-40B4-BE49-F238E27FC236}">
                <a16:creationId xmlns:a16="http://schemas.microsoft.com/office/drawing/2014/main" id="{8EE6993C-C78C-4B6F-AEC8-DF5F8CE2AC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3171825"/>
            <a:ext cx="942975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4CCC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" name="journey-node-1">
            <a:extLst xmlns:a="http://schemas.openxmlformats.org/drawingml/2006/main">
              <a:ext uri="{FF2B5EF4-FFF2-40B4-BE49-F238E27FC236}">
                <a16:creationId xmlns:a16="http://schemas.microsoft.com/office/drawing/2014/main" id="{327683BC-7D32-4095-9A85-6770AC7D1A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" y="3000375"/>
            <a:ext cx="381000" cy="3810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2F7D4A"/>
          </a:solidFill>
          <a:ln xmlns:a="http://schemas.openxmlformats.org/drawingml/2006/main" w="9525">
            <a:solidFill>
              <a:srgbClr val="2F7D4A"/>
            </a:solidFill>
            <a:prstDash val="solid"/>
          </a:ln>
        </p:spPr>
      </p:sp>
      <p:sp>
        <p:nvSpPr>
          <p:cNvPr id="4" name="journey-label-1">
            <a:extLst xmlns:a="http://schemas.openxmlformats.org/drawingml/2006/main">
              <a:ext uri="{FF2B5EF4-FFF2-40B4-BE49-F238E27FC236}">
                <a16:creationId xmlns:a16="http://schemas.microsoft.com/office/drawing/2014/main" id="{E4A8CFCC-41ED-49DE-8221-0B141CA2B0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81125" y="2247900"/>
            <a:ext cx="28575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800" b="1">
                <a:solidFill>
                  <a:srgbClr val="174A2B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174A2B"/>
                </a:solidFill>
                <a:latin typeface="Arial"/>
                <a:ea typeface="Arial"/>
                <a:cs typeface="Arial"/>
              </a:rPr>
              <a:t>01  OLHAR</a:t>
            </a:r>
          </a:p>
        </p:txBody>
      </p:sp>
      <p:sp>
        <p:nvSpPr>
          <p:cNvPr id="5" name="journey-body-1">
            <a:extLst xmlns:a="http://schemas.openxmlformats.org/drawingml/2006/main">
              <a:ext uri="{FF2B5EF4-FFF2-40B4-BE49-F238E27FC236}">
                <a16:creationId xmlns:a16="http://schemas.microsoft.com/office/drawing/2014/main" id="{89836DDE-1DD4-441A-9471-9383716F57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81125" y="3714750"/>
            <a:ext cx="2762250" cy="1143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950" b="0">
                <a:solidFill>
                  <a:srgbClr val="111814"/>
                </a:solidFill>
                <a:latin typeface="Arial"/>
                <a:ea typeface="Arial"/>
                <a:cs typeface="Arial"/>
              </a:defRPr>
            </a:pPr>
            <a:r>
              <a:rPr sz="1950" b="0">
                <a:solidFill>
                  <a:srgbClr val="111814"/>
                </a:solidFill>
                <a:latin typeface="Arial"/>
                <a:ea typeface="Arial"/>
                <a:cs typeface="Arial"/>
              </a:rPr>
              <a:t>O QR identifica o talhão centralizado.</a:t>
            </a:r>
          </a:p>
        </p:txBody>
      </p:sp>
      <p:sp>
        <p:nvSpPr>
          <p:cNvPr id="6" name="journey-node-2">
            <a:extLst xmlns:a="http://schemas.openxmlformats.org/drawingml/2006/main">
              <a:ext uri="{FF2B5EF4-FFF2-40B4-BE49-F238E27FC236}">
                <a16:creationId xmlns:a16="http://schemas.microsoft.com/office/drawing/2014/main" id="{94DA5F48-792A-4375-A150-DA4D16E4E9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0" y="3000375"/>
            <a:ext cx="381000" cy="3810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2F7D4A"/>
          </a:solidFill>
          <a:ln xmlns:a="http://schemas.openxmlformats.org/drawingml/2006/main" w="9525">
            <a:solidFill>
              <a:srgbClr val="2F7D4A"/>
            </a:solidFill>
            <a:prstDash val="solid"/>
          </a:ln>
        </p:spPr>
      </p:sp>
      <p:sp>
        <p:nvSpPr>
          <p:cNvPr id="7" name="journey-label-2">
            <a:extLst xmlns:a="http://schemas.openxmlformats.org/drawingml/2006/main">
              <a:ext uri="{FF2B5EF4-FFF2-40B4-BE49-F238E27FC236}">
                <a16:creationId xmlns:a16="http://schemas.microsoft.com/office/drawing/2014/main" id="{486C4166-87CA-415E-97E7-95F5BFF8E0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95875" y="2247900"/>
            <a:ext cx="28575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800" b="1">
                <a:solidFill>
                  <a:srgbClr val="174A2B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174A2B"/>
                </a:solidFill>
                <a:latin typeface="Arial"/>
                <a:ea typeface="Arial"/>
                <a:cs typeface="Arial"/>
              </a:rPr>
              <a:t>02  FALAR</a:t>
            </a:r>
          </a:p>
        </p:txBody>
      </p:sp>
      <p:sp>
        <p:nvSpPr>
          <p:cNvPr id="8" name="journey-body-2">
            <a:extLst xmlns:a="http://schemas.openxmlformats.org/drawingml/2006/main">
              <a:ext uri="{FF2B5EF4-FFF2-40B4-BE49-F238E27FC236}">
                <a16:creationId xmlns:a16="http://schemas.microsoft.com/office/drawing/2014/main" id="{F078AADE-0E1F-46CB-AF4B-F95B9E5C1A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95875" y="3714750"/>
            <a:ext cx="2762250" cy="1143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950" b="0">
                <a:solidFill>
                  <a:srgbClr val="111814"/>
                </a:solidFill>
                <a:latin typeface="Arial"/>
                <a:ea typeface="Arial"/>
                <a:cs typeface="Arial"/>
              </a:defRPr>
            </a:pPr>
            <a:r>
              <a:rPr sz="1950" b="0">
                <a:solidFill>
                  <a:srgbClr val="111814"/>
                </a:solidFill>
                <a:latin typeface="Arial"/>
                <a:ea typeface="Arial"/>
                <a:cs typeface="Arial"/>
              </a:rPr>
              <a:t>A voz vira uma intenção local e restrita.</a:t>
            </a:r>
          </a:p>
        </p:txBody>
      </p:sp>
      <p:sp>
        <p:nvSpPr>
          <p:cNvPr id="9" name="journey-node-3">
            <a:extLst xmlns:a="http://schemas.openxmlformats.org/drawingml/2006/main">
              <a:ext uri="{FF2B5EF4-FFF2-40B4-BE49-F238E27FC236}">
                <a16:creationId xmlns:a16="http://schemas.microsoft.com/office/drawing/2014/main" id="{FEAB29B1-9EEF-4B6A-924F-9941423F2E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3000375"/>
            <a:ext cx="381000" cy="3810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2F7D4A"/>
          </a:solidFill>
          <a:ln xmlns:a="http://schemas.openxmlformats.org/drawingml/2006/main" w="9525">
            <a:solidFill>
              <a:srgbClr val="2F7D4A"/>
            </a:solidFill>
            <a:prstDash val="solid"/>
          </a:ln>
        </p:spPr>
      </p:sp>
      <p:sp>
        <p:nvSpPr>
          <p:cNvPr id="10" name="journey-label-3">
            <a:extLst xmlns:a="http://schemas.openxmlformats.org/drawingml/2006/main">
              <a:ext uri="{FF2B5EF4-FFF2-40B4-BE49-F238E27FC236}">
                <a16:creationId xmlns:a16="http://schemas.microsoft.com/office/drawing/2014/main" id="{37895F62-6850-4142-91C7-979800118B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10625" y="2247900"/>
            <a:ext cx="28575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800" b="1">
                <a:solidFill>
                  <a:srgbClr val="174A2B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174A2B"/>
                </a:solidFill>
                <a:latin typeface="Arial"/>
                <a:ea typeface="Arial"/>
                <a:cs typeface="Arial"/>
              </a:rPr>
              <a:t>03  CONFIRMAR</a:t>
            </a:r>
          </a:p>
        </p:txBody>
      </p:sp>
      <p:sp>
        <p:nvSpPr>
          <p:cNvPr id="11" name="journey-body-3">
            <a:extLst xmlns:a="http://schemas.openxmlformats.org/drawingml/2006/main">
              <a:ext uri="{FF2B5EF4-FFF2-40B4-BE49-F238E27FC236}">
                <a16:creationId xmlns:a16="http://schemas.microsoft.com/office/drawing/2014/main" id="{78C1FFD6-19D7-4293-918E-E285560C95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10625" y="3714750"/>
            <a:ext cx="2762250" cy="1143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950" b="0">
                <a:solidFill>
                  <a:srgbClr val="111814"/>
                </a:solidFill>
                <a:latin typeface="Arial"/>
                <a:ea typeface="Arial"/>
                <a:cs typeface="Arial"/>
              </a:defRPr>
            </a:pPr>
            <a:r>
              <a:rPr sz="1950" b="0">
                <a:solidFill>
                  <a:srgbClr val="111814"/>
                </a:solidFill>
                <a:latin typeface="Arial"/>
                <a:ea typeface="Arial"/>
                <a:cs typeface="Arial"/>
              </a:rPr>
              <a:t>Só o ‘sim’ libera o comando ao robô.</a:t>
            </a:r>
          </a:p>
        </p:txBody>
      </p:sp>
      <p:sp>
        <p:nvSpPr>
          <p:cNvPr id="12" name="journey-safety">
            <a:extLst xmlns:a="http://schemas.openxmlformats.org/drawingml/2006/main">
              <a:ext uri="{FF2B5EF4-FFF2-40B4-BE49-F238E27FC236}">
                <a16:creationId xmlns:a16="http://schemas.microsoft.com/office/drawing/2014/main" id="{E9EA0EC0-37EA-4893-8DDF-108FB3B5E0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5429250"/>
            <a:ext cx="10839450" cy="57150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DDEEE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" name="journey-safety-text">
            <a:extLst xmlns:a="http://schemas.openxmlformats.org/drawingml/2006/main">
              <a:ext uri="{FF2B5EF4-FFF2-40B4-BE49-F238E27FC236}">
                <a16:creationId xmlns:a16="http://schemas.microsoft.com/office/drawing/2014/main" id="{80D12651-686E-4950-B85A-A3ED98E88A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5562600"/>
            <a:ext cx="10287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1875" b="1">
                <a:solidFill>
                  <a:srgbClr val="174A2B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174A2B"/>
                </a:solidFill>
                <a:latin typeface="Arial"/>
                <a:ea typeface="Arial"/>
                <a:cs typeface="Arial"/>
              </a:rPr>
              <a:t>Falha segura: ambiguidade ou ‘cancelar’ = nenhum comando.</a:t>
            </a:r>
          </a:p>
        </p:txBody>
      </p:sp>
      <p:sp>
        <p:nvSpPr>
          <p:cNvPr id="14" name="footer-3">
            <a:extLst xmlns:a="http://schemas.openxmlformats.org/drawingml/2006/main">
              <a:ext uri="{FF2B5EF4-FFF2-40B4-BE49-F238E27FC236}">
                <a16:creationId xmlns:a16="http://schemas.microsoft.com/office/drawing/2014/main" id="{83A26C9B-915A-4C1F-BDAB-09E04BF9A2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34750" y="6334125"/>
            <a:ext cx="4572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b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200" b="0">
                <a:solidFill>
                  <a:srgbClr val="5E6B62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5E6B62"/>
                </a:solidFill>
                <a:latin typeface="Arial"/>
                <a:ea typeface="Arial"/>
                <a:cs typeface="Arial"/>
              </a:rPr>
              <a:t>03</a:t>
            </a:r>
          </a:p>
        </p:txBody>
      </p:sp>
    </p:spTree>
    <p:extLst>
      <p:ext uri="{BB962C8B-B14F-4D97-AF65-F5344CB8AC3E}">
        <p14:creationId xmlns:p14="http://schemas.microsoft.com/office/powerpoint/2010/main" val="699416191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4" name="title-4">
            <a:extLst xmlns:a="http://schemas.openxmlformats.org/drawingml/2006/main">
              <a:ext uri="{FF2B5EF4-FFF2-40B4-BE49-F238E27FC236}">
                <a16:creationId xmlns:a16="http://schemas.microsoft.com/office/drawing/2014/main" id="{239E28DA-72EF-45EA-B464-D0390D0BDB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361950"/>
            <a:ext cx="112776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3900" b="1">
                <a:solidFill>
                  <a:srgbClr val="111814"/>
                </a:solidFill>
                <a:latin typeface="Arial"/>
                <a:ea typeface="Arial"/>
                <a:cs typeface="Arial"/>
              </a:defRPr>
            </a:pPr>
            <a:r>
              <a:rPr sz="3900" b="1">
                <a:solidFill>
                  <a:srgbClr val="111814"/>
                </a:solidFill>
                <a:latin typeface="Arial"/>
                <a:ea typeface="Arial"/>
                <a:cs typeface="Arial"/>
              </a:rPr>
              <a:t>O ciclo completo já funciona em simulação.</a:t>
            </a:r>
          </a:p>
        </p:txBody>
      </p:sp>
      <p:sp>
        <p:nvSpPr>
          <p:cNvPr id="2" name="architecture-arrow-1">
            <a:extLst xmlns:a="http://schemas.openxmlformats.org/drawingml/2006/main">
              <a:ext uri="{FF2B5EF4-FFF2-40B4-BE49-F238E27FC236}">
                <a16:creationId xmlns:a16="http://schemas.microsoft.com/office/drawing/2014/main" id="{3F480D28-9199-4849-BBFE-313A0A49FA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81300" y="3019425"/>
            <a:ext cx="323850" cy="26670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2F7D4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" name="architecture-arrow-2">
            <a:extLst xmlns:a="http://schemas.openxmlformats.org/drawingml/2006/main">
              <a:ext uri="{FF2B5EF4-FFF2-40B4-BE49-F238E27FC236}">
                <a16:creationId xmlns:a16="http://schemas.microsoft.com/office/drawing/2014/main" id="{0CD5FE09-FCC9-4F36-9996-A9C26A7C6B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14975" y="3019425"/>
            <a:ext cx="323850" cy="26670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2F7D4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architecture-arrow-3">
            <a:extLst xmlns:a="http://schemas.openxmlformats.org/drawingml/2006/main">
              <a:ext uri="{FF2B5EF4-FFF2-40B4-BE49-F238E27FC236}">
                <a16:creationId xmlns:a16="http://schemas.microsoft.com/office/drawing/2014/main" id="{DDCF484B-9C6B-40AC-ABB2-5FFD592D65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48650" y="3019425"/>
            <a:ext cx="323850" cy="26670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2F7D4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architecture-node-1">
            <a:extLst xmlns:a="http://schemas.openxmlformats.org/drawingml/2006/main">
              <a:ext uri="{FF2B5EF4-FFF2-40B4-BE49-F238E27FC236}">
                <a16:creationId xmlns:a16="http://schemas.microsoft.com/office/drawing/2014/main" id="{53CADC36-5621-4335-B6C1-38D85CA6E8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2238375"/>
            <a:ext cx="2238375" cy="2190750"/>
          </a:xfrm>
          <a:prstGeom xmlns:a="http://schemas.openxmlformats.org/drawingml/2006/main" prst="roundRect">
            <a:avLst>
              <a:gd name="adj" fmla="val 5217"/>
            </a:avLst>
          </a:prstGeom>
          <a:solidFill xmlns:a="http://schemas.openxmlformats.org/drawingml/2006/main">
            <a:srgbClr val="EEF1EF"/>
          </a:solidFill>
          <a:ln xmlns:a="http://schemas.openxmlformats.org/drawingml/2006/main" w="9525">
            <a:solidFill>
              <a:srgbClr val="C4CCC7"/>
            </a:solidFill>
            <a:prstDash val="solid"/>
          </a:ln>
        </p:spPr>
      </p:sp>
      <p:sp>
        <p:nvSpPr>
          <p:cNvPr id="6" name="architecture-accent-1">
            <a:extLst xmlns:a="http://schemas.openxmlformats.org/drawingml/2006/main">
              <a:ext uri="{FF2B5EF4-FFF2-40B4-BE49-F238E27FC236}">
                <a16:creationId xmlns:a16="http://schemas.microsoft.com/office/drawing/2014/main" id="{D190FFA8-A07C-4946-A339-0B5353112D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2238375"/>
            <a:ext cx="2238375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F7D4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" name="architecture-title-1">
            <a:extLst xmlns:a="http://schemas.openxmlformats.org/drawingml/2006/main">
              <a:ext uri="{FF2B5EF4-FFF2-40B4-BE49-F238E27FC236}">
                <a16:creationId xmlns:a16="http://schemas.microsoft.com/office/drawing/2014/main" id="{41CE88B5-9D2B-4AD3-BBF0-D0DEC3753E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2543175"/>
            <a:ext cx="1857375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2025" b="1">
                <a:solidFill>
                  <a:srgbClr val="111814"/>
                </a:solidFill>
                <a:latin typeface="Arial"/>
                <a:ea typeface="Arial"/>
                <a:cs typeface="Arial"/>
              </a:defRPr>
            </a:pPr>
            <a:r>
              <a:rPr sz="2025" b="1">
                <a:solidFill>
                  <a:srgbClr val="111814"/>
                </a:solidFill>
                <a:latin typeface="Arial"/>
                <a:ea typeface="Arial"/>
                <a:cs typeface="Arial"/>
              </a:rPr>
              <a:t>AI Glasses</a:t>
            </a:r>
          </a:p>
        </p:txBody>
      </p:sp>
      <p:sp>
        <p:nvSpPr>
          <p:cNvPr id="8" name="architecture-body-1">
            <a:extLst xmlns:a="http://schemas.openxmlformats.org/drawingml/2006/main">
              <a:ext uri="{FF2B5EF4-FFF2-40B4-BE49-F238E27FC236}">
                <a16:creationId xmlns:a16="http://schemas.microsoft.com/office/drawing/2014/main" id="{E933CCC4-C7AA-46B8-986D-2012FAF75B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3248025"/>
            <a:ext cx="1857375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1650" b="0">
                <a:solidFill>
                  <a:srgbClr val="5E6B62"/>
                </a:solidFill>
                <a:latin typeface="Arial"/>
                <a:ea typeface="Arial"/>
                <a:cs typeface="Arial"/>
              </a:defRPr>
            </a:pPr>
            <a:r>
              <a:rPr sz="1650" b="0">
                <a:solidFill>
                  <a:srgbClr val="5E6B62"/>
                </a:solidFill>
                <a:latin typeface="Arial"/>
                <a:ea typeface="Arial"/>
                <a:cs typeface="Arial"/>
              </a:rPr>
              <a:t>câmera via DAT</a:t>
            </a:r>
          </a:p>
          <a:p xmlns:a="http://schemas.openxmlformats.org/drawingml/2006/main">
            <a:pPr algn="ctr">
              <a:buNone/>
              <a:defRPr sz="1650" b="0">
                <a:solidFill>
                  <a:srgbClr val="5E6B62"/>
                </a:solidFill>
                <a:latin typeface="Arial"/>
                <a:ea typeface="Arial"/>
                <a:cs typeface="Arial"/>
              </a:defRPr>
            </a:pPr>
            <a:r>
              <a:rPr sz="1650" b="0">
                <a:solidFill>
                  <a:srgbClr val="5E6B62"/>
                </a:solidFill>
                <a:latin typeface="Arial"/>
                <a:ea typeface="Arial"/>
                <a:cs typeface="Arial"/>
              </a:rPr>
              <a:t>áudio do sistema</a:t>
            </a:r>
          </a:p>
          <a:p xmlns:a="http://schemas.openxmlformats.org/drawingml/2006/main">
            <a:pPr algn="ctr">
              <a:buNone/>
              <a:defRPr sz="1650" b="0">
                <a:solidFill>
                  <a:srgbClr val="5E6B62"/>
                </a:solidFill>
                <a:latin typeface="Arial"/>
                <a:ea typeface="Arial"/>
                <a:cs typeface="Arial"/>
              </a:defRPr>
            </a:pPr>
            <a:r>
              <a:rPr sz="1650" b="0">
                <a:solidFill>
                  <a:srgbClr val="5E6B62"/>
                </a:solidFill>
                <a:latin typeface="Arial"/>
                <a:ea typeface="Arial"/>
                <a:cs typeface="Arial"/>
              </a:rPr>
              <a:t>rota a validar</a:t>
            </a:r>
          </a:p>
        </p:txBody>
      </p:sp>
      <p:sp>
        <p:nvSpPr>
          <p:cNvPr id="9" name="architecture-node-2">
            <a:extLst xmlns:a="http://schemas.openxmlformats.org/drawingml/2006/main">
              <a:ext uri="{FF2B5EF4-FFF2-40B4-BE49-F238E27FC236}">
                <a16:creationId xmlns:a16="http://schemas.microsoft.com/office/drawing/2014/main" id="{533482D6-844B-4E81-AAF5-3E86A6F96A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90875" y="2238375"/>
            <a:ext cx="2238375" cy="2190750"/>
          </a:xfrm>
          <a:prstGeom xmlns:a="http://schemas.openxmlformats.org/drawingml/2006/main" prst="roundRect">
            <a:avLst>
              <a:gd name="adj" fmla="val 5217"/>
            </a:avLst>
          </a:prstGeom>
          <a:solidFill xmlns:a="http://schemas.openxmlformats.org/drawingml/2006/main">
            <a:srgbClr val="EEF1EF"/>
          </a:solidFill>
          <a:ln xmlns:a="http://schemas.openxmlformats.org/drawingml/2006/main" w="9525">
            <a:solidFill>
              <a:srgbClr val="C4CCC7"/>
            </a:solidFill>
            <a:prstDash val="solid"/>
          </a:ln>
        </p:spPr>
      </p:sp>
      <p:sp>
        <p:nvSpPr>
          <p:cNvPr id="10" name="architecture-accent-2">
            <a:extLst xmlns:a="http://schemas.openxmlformats.org/drawingml/2006/main">
              <a:ext uri="{FF2B5EF4-FFF2-40B4-BE49-F238E27FC236}">
                <a16:creationId xmlns:a16="http://schemas.microsoft.com/office/drawing/2014/main" id="{8AAEB469-D22A-43B1-82A9-596822D6FE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90875" y="2238375"/>
            <a:ext cx="2238375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F7D4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" name="architecture-title-2">
            <a:extLst xmlns:a="http://schemas.openxmlformats.org/drawingml/2006/main">
              <a:ext uri="{FF2B5EF4-FFF2-40B4-BE49-F238E27FC236}">
                <a16:creationId xmlns:a16="http://schemas.microsoft.com/office/drawing/2014/main" id="{8E389CD5-7A3C-491F-A2B1-7729E42C1D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81375" y="2543175"/>
            <a:ext cx="1857375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2025" b="1">
                <a:solidFill>
                  <a:srgbClr val="111814"/>
                </a:solidFill>
                <a:latin typeface="Arial"/>
                <a:ea typeface="Arial"/>
                <a:cs typeface="Arial"/>
              </a:defRPr>
            </a:pPr>
            <a:r>
              <a:rPr sz="2025" b="1">
                <a:solidFill>
                  <a:srgbClr val="111814"/>
                </a:solidFill>
                <a:latin typeface="Arial"/>
                <a:ea typeface="Arial"/>
                <a:cs typeface="Arial"/>
              </a:rPr>
              <a:t>App nativo</a:t>
            </a:r>
          </a:p>
        </p:txBody>
      </p:sp>
      <p:sp>
        <p:nvSpPr>
          <p:cNvPr id="12" name="architecture-body-2">
            <a:extLst xmlns:a="http://schemas.openxmlformats.org/drawingml/2006/main">
              <a:ext uri="{FF2B5EF4-FFF2-40B4-BE49-F238E27FC236}">
                <a16:creationId xmlns:a16="http://schemas.microsoft.com/office/drawing/2014/main" id="{36AF224E-4C04-4767-9C11-1C61946AF5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81375" y="3248025"/>
            <a:ext cx="1857375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1650" b="0">
                <a:solidFill>
                  <a:srgbClr val="5E6B62"/>
                </a:solidFill>
                <a:latin typeface="Arial"/>
                <a:ea typeface="Arial"/>
                <a:cs typeface="Arial"/>
              </a:defRPr>
            </a:pPr>
            <a:r>
              <a:rPr sz="1650" b="0">
                <a:solidFill>
                  <a:srgbClr val="5E6B62"/>
                </a:solidFill>
                <a:latin typeface="Arial"/>
                <a:ea typeface="Arial"/>
                <a:cs typeface="Arial"/>
              </a:rPr>
              <a:t>Kotlin / Swift</a:t>
            </a:r>
          </a:p>
          <a:p xmlns:a="http://schemas.openxmlformats.org/drawingml/2006/main">
            <a:pPr algn="ctr">
              <a:buNone/>
              <a:defRPr sz="1650" b="0">
                <a:solidFill>
                  <a:srgbClr val="5E6B62"/>
                </a:solidFill>
                <a:latin typeface="Arial"/>
                <a:ea typeface="Arial"/>
                <a:cs typeface="Arial"/>
              </a:defRPr>
            </a:pPr>
            <a:r>
              <a:rPr sz="1650" b="0">
                <a:solidFill>
                  <a:srgbClr val="5E6B62"/>
                </a:solidFill>
                <a:latin typeface="Arial"/>
                <a:ea typeface="Arial"/>
                <a:cs typeface="Arial"/>
              </a:rPr>
              <a:t>IA local</a:t>
            </a:r>
          </a:p>
          <a:p xmlns:a="http://schemas.openxmlformats.org/drawingml/2006/main">
            <a:pPr algn="ctr">
              <a:buNone/>
              <a:defRPr sz="1650" b="0">
                <a:solidFill>
                  <a:srgbClr val="5E6B62"/>
                </a:solidFill>
                <a:latin typeface="Arial"/>
                <a:ea typeface="Arial"/>
                <a:cs typeface="Arial"/>
              </a:defRPr>
            </a:pPr>
            <a:r>
              <a:rPr sz="1650" b="0">
                <a:solidFill>
                  <a:srgbClr val="5E6B62"/>
                </a:solidFill>
                <a:latin typeface="Arial"/>
                <a:ea typeface="Arial"/>
                <a:cs typeface="Arial"/>
              </a:rPr>
              <a:t>confirmação</a:t>
            </a:r>
          </a:p>
        </p:txBody>
      </p:sp>
      <p:sp>
        <p:nvSpPr>
          <p:cNvPr id="13" name="architecture-node-3">
            <a:extLst xmlns:a="http://schemas.openxmlformats.org/drawingml/2006/main">
              <a:ext uri="{FF2B5EF4-FFF2-40B4-BE49-F238E27FC236}">
                <a16:creationId xmlns:a16="http://schemas.microsoft.com/office/drawing/2014/main" id="{A5B104B5-0F1F-4CC0-BC84-013EE861DB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24550" y="2238375"/>
            <a:ext cx="2238375" cy="2190750"/>
          </a:xfrm>
          <a:prstGeom xmlns:a="http://schemas.openxmlformats.org/drawingml/2006/main" prst="roundRect">
            <a:avLst>
              <a:gd name="adj" fmla="val 5217"/>
            </a:avLst>
          </a:prstGeom>
          <a:solidFill xmlns:a="http://schemas.openxmlformats.org/drawingml/2006/main">
            <a:srgbClr val="EEF1EF"/>
          </a:solidFill>
          <a:ln xmlns:a="http://schemas.openxmlformats.org/drawingml/2006/main" w="9525">
            <a:solidFill>
              <a:srgbClr val="C4CCC7"/>
            </a:solidFill>
            <a:prstDash val="solid"/>
          </a:ln>
        </p:spPr>
      </p:sp>
      <p:sp>
        <p:nvSpPr>
          <p:cNvPr id="14" name="architecture-accent-3">
            <a:extLst xmlns:a="http://schemas.openxmlformats.org/drawingml/2006/main">
              <a:ext uri="{FF2B5EF4-FFF2-40B4-BE49-F238E27FC236}">
                <a16:creationId xmlns:a16="http://schemas.microsoft.com/office/drawing/2014/main" id="{982C867B-E4F1-4858-A2C0-443021BEA8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24550" y="2238375"/>
            <a:ext cx="2238375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F7D4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" name="architecture-title-3">
            <a:extLst xmlns:a="http://schemas.openxmlformats.org/drawingml/2006/main">
              <a:ext uri="{FF2B5EF4-FFF2-40B4-BE49-F238E27FC236}">
                <a16:creationId xmlns:a16="http://schemas.microsoft.com/office/drawing/2014/main" id="{BBC03256-51AC-49F6-B60F-5F8A471A5A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15050" y="2543175"/>
            <a:ext cx="1857375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2025" b="1">
                <a:solidFill>
                  <a:srgbClr val="111814"/>
                </a:solidFill>
                <a:latin typeface="Arial"/>
                <a:ea typeface="Arial"/>
                <a:cs typeface="Arial"/>
              </a:defRPr>
            </a:pPr>
            <a:r>
              <a:rPr sz="2025" b="1">
                <a:solidFill>
                  <a:srgbClr val="111814"/>
                </a:solidFill>
                <a:latin typeface="Arial"/>
                <a:ea typeface="Arial"/>
                <a:cs typeface="Arial"/>
              </a:rPr>
              <a:t>WebSocket</a:t>
            </a:r>
          </a:p>
        </p:txBody>
      </p:sp>
      <p:sp>
        <p:nvSpPr>
          <p:cNvPr id="16" name="architecture-body-3">
            <a:extLst xmlns:a="http://schemas.openxmlformats.org/drawingml/2006/main">
              <a:ext uri="{FF2B5EF4-FFF2-40B4-BE49-F238E27FC236}">
                <a16:creationId xmlns:a16="http://schemas.microsoft.com/office/drawing/2014/main" id="{C2DBBB83-36B7-47AA-BCF0-7810096EC5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15050" y="3248025"/>
            <a:ext cx="1857375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1650" b="0">
                <a:solidFill>
                  <a:srgbClr val="5E6B62"/>
                </a:solidFill>
                <a:latin typeface="Arial"/>
                <a:ea typeface="Arial"/>
                <a:cs typeface="Arial"/>
              </a:defRPr>
            </a:pPr>
            <a:r>
              <a:rPr sz="1650" b="0">
                <a:solidFill>
                  <a:srgbClr val="5E6B62"/>
                </a:solidFill>
                <a:latin typeface="Arial"/>
                <a:ea typeface="Arial"/>
                <a:cs typeface="Arial"/>
              </a:rPr>
              <a:t>JSON versionado</a:t>
            </a:r>
          </a:p>
          <a:p xmlns:a="http://schemas.openxmlformats.org/drawingml/2006/main">
            <a:pPr algn="ctr">
              <a:buNone/>
              <a:defRPr sz="1650" b="0">
                <a:solidFill>
                  <a:srgbClr val="5E6B62"/>
                </a:solidFill>
                <a:latin typeface="Arial"/>
                <a:ea typeface="Arial"/>
                <a:cs typeface="Arial"/>
              </a:defRPr>
            </a:pPr>
            <a:r>
              <a:rPr sz="1650" b="0">
                <a:solidFill>
                  <a:srgbClr val="5E6B62"/>
                </a:solidFill>
                <a:latin typeface="Arial"/>
                <a:ea typeface="Arial"/>
                <a:cs typeface="Arial"/>
              </a:rPr>
              <a:t>expiração</a:t>
            </a:r>
          </a:p>
          <a:p xmlns:a="http://schemas.openxmlformats.org/drawingml/2006/main">
            <a:pPr algn="ctr">
              <a:buNone/>
              <a:defRPr sz="1650" b="0">
                <a:solidFill>
                  <a:srgbClr val="5E6B62"/>
                </a:solidFill>
                <a:latin typeface="Arial"/>
                <a:ea typeface="Arial"/>
                <a:cs typeface="Arial"/>
              </a:defRPr>
            </a:pPr>
            <a:r>
              <a:rPr sz="1650" b="0">
                <a:solidFill>
                  <a:srgbClr val="5E6B62"/>
                </a:solidFill>
                <a:latin typeface="Arial"/>
                <a:ea typeface="Arial"/>
                <a:cs typeface="Arial"/>
              </a:rPr>
              <a:t>idempotência</a:t>
            </a:r>
          </a:p>
        </p:txBody>
      </p:sp>
      <p:sp>
        <p:nvSpPr>
          <p:cNvPr id="17" name="architecture-node-4">
            <a:extLst xmlns:a="http://schemas.openxmlformats.org/drawingml/2006/main">
              <a:ext uri="{FF2B5EF4-FFF2-40B4-BE49-F238E27FC236}">
                <a16:creationId xmlns:a16="http://schemas.microsoft.com/office/drawing/2014/main" id="{05C1F3C0-8166-4803-AA97-098BC31709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58225" y="2238375"/>
            <a:ext cx="2238375" cy="2190750"/>
          </a:xfrm>
          <a:prstGeom xmlns:a="http://schemas.openxmlformats.org/drawingml/2006/main" prst="roundRect">
            <a:avLst>
              <a:gd name="adj" fmla="val 5217"/>
            </a:avLst>
          </a:prstGeom>
          <a:solidFill xmlns:a="http://schemas.openxmlformats.org/drawingml/2006/main">
            <a:srgbClr val="EEF1EF"/>
          </a:solidFill>
          <a:ln xmlns:a="http://schemas.openxmlformats.org/drawingml/2006/main" w="9525">
            <a:solidFill>
              <a:srgbClr val="C4CCC7"/>
            </a:solidFill>
            <a:prstDash val="solid"/>
          </a:ln>
        </p:spPr>
      </p:sp>
      <p:sp>
        <p:nvSpPr>
          <p:cNvPr id="18" name="architecture-accent-4">
            <a:extLst xmlns:a="http://schemas.openxmlformats.org/drawingml/2006/main">
              <a:ext uri="{FF2B5EF4-FFF2-40B4-BE49-F238E27FC236}">
                <a16:creationId xmlns:a16="http://schemas.microsoft.com/office/drawing/2014/main" id="{E9CF74ED-AF3B-46E1-8BB7-4AA3F0E856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58225" y="2238375"/>
            <a:ext cx="2238375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F7D4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9" name="architecture-title-4">
            <a:extLst xmlns:a="http://schemas.openxmlformats.org/drawingml/2006/main">
              <a:ext uri="{FF2B5EF4-FFF2-40B4-BE49-F238E27FC236}">
                <a16:creationId xmlns:a16="http://schemas.microsoft.com/office/drawing/2014/main" id="{C8D88FA7-79E4-46B6-A19B-FB22E58A07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48725" y="2543175"/>
            <a:ext cx="1857375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2025" b="1">
                <a:solidFill>
                  <a:srgbClr val="111814"/>
                </a:solidFill>
                <a:latin typeface="Arial"/>
                <a:ea typeface="Arial"/>
                <a:cs typeface="Arial"/>
              </a:defRPr>
            </a:pPr>
            <a:r>
              <a:rPr sz="2025" b="1">
                <a:solidFill>
                  <a:srgbClr val="111814"/>
                </a:solidFill>
                <a:latin typeface="Arial"/>
                <a:ea typeface="Arial"/>
                <a:cs typeface="Arial"/>
              </a:rPr>
              <a:t>ROS 2 / Nav2</a:t>
            </a:r>
          </a:p>
        </p:txBody>
      </p:sp>
      <p:sp>
        <p:nvSpPr>
          <p:cNvPr id="20" name="architecture-body-4">
            <a:extLst xmlns:a="http://schemas.openxmlformats.org/drawingml/2006/main">
              <a:ext uri="{FF2B5EF4-FFF2-40B4-BE49-F238E27FC236}">
                <a16:creationId xmlns:a16="http://schemas.microsoft.com/office/drawing/2014/main" id="{0627F75D-9C2C-4159-BF39-6CF57EBE44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48725" y="3248025"/>
            <a:ext cx="1857375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1650" b="0">
                <a:solidFill>
                  <a:srgbClr val="5E6B62"/>
                </a:solidFill>
                <a:latin typeface="Arial"/>
                <a:ea typeface="Arial"/>
                <a:cs typeface="Arial"/>
              </a:defRPr>
            </a:pPr>
            <a:r>
              <a:rPr sz="1650" b="0">
                <a:solidFill>
                  <a:srgbClr val="5E6B62"/>
                </a:solidFill>
                <a:latin typeface="Arial"/>
                <a:ea typeface="Arial"/>
                <a:cs typeface="Arial"/>
              </a:rPr>
              <a:t>bridge</a:t>
            </a:r>
          </a:p>
          <a:p xmlns:a="http://schemas.openxmlformats.org/drawingml/2006/main">
            <a:pPr algn="ctr">
              <a:buNone/>
              <a:defRPr sz="1650" b="0">
                <a:solidFill>
                  <a:srgbClr val="5E6B62"/>
                </a:solidFill>
                <a:latin typeface="Arial"/>
                <a:ea typeface="Arial"/>
                <a:cs typeface="Arial"/>
              </a:defRPr>
            </a:pPr>
            <a:r>
              <a:rPr sz="1650" b="0">
                <a:solidFill>
                  <a:srgbClr val="5E6B62"/>
                </a:solidFill>
                <a:latin typeface="Arial"/>
                <a:ea typeface="Arial"/>
                <a:cs typeface="Arial"/>
              </a:rPr>
              <a:t>Gazebo</a:t>
            </a:r>
          </a:p>
          <a:p xmlns:a="http://schemas.openxmlformats.org/drawingml/2006/main">
            <a:pPr algn="ctr">
              <a:buNone/>
              <a:defRPr sz="1650" b="0">
                <a:solidFill>
                  <a:srgbClr val="5E6B62"/>
                </a:solidFill>
                <a:latin typeface="Arial"/>
                <a:ea typeface="Arial"/>
                <a:cs typeface="Arial"/>
              </a:defRPr>
            </a:pPr>
            <a:r>
              <a:rPr sz="1650" b="0">
                <a:solidFill>
                  <a:srgbClr val="5E6B62"/>
                </a:solidFill>
                <a:latin typeface="Arial"/>
                <a:ea typeface="Arial"/>
                <a:cs typeface="Arial"/>
              </a:rPr>
              <a:t>TurtleBot 4</a:t>
            </a:r>
          </a:p>
        </p:txBody>
      </p:sp>
      <p:sp>
        <p:nvSpPr>
          <p:cNvPr id="21" name="architecture-decision">
            <a:extLst xmlns:a="http://schemas.openxmlformats.org/drawingml/2006/main">
              <a:ext uri="{FF2B5EF4-FFF2-40B4-BE49-F238E27FC236}">
                <a16:creationId xmlns:a16="http://schemas.microsoft.com/office/drawing/2014/main" id="{883906AB-29EB-47E5-AE65-00D0547F91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4953000"/>
            <a:ext cx="10439400" cy="838200"/>
          </a:xfrm>
          <a:prstGeom xmlns:a="http://schemas.openxmlformats.org/drawingml/2006/main" prst="roundRect">
            <a:avLst>
              <a:gd name="adj" fmla="val 13636"/>
            </a:avLst>
          </a:prstGeom>
          <a:solidFill xmlns:a="http://schemas.openxmlformats.org/drawingml/2006/main">
            <a:srgbClr val="DDEEE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2" name="architecture-decision-text">
            <a:extLst xmlns:a="http://schemas.openxmlformats.org/drawingml/2006/main">
              <a:ext uri="{FF2B5EF4-FFF2-40B4-BE49-F238E27FC236}">
                <a16:creationId xmlns:a16="http://schemas.microsoft.com/office/drawing/2014/main" id="{0AD469E5-AEC7-4C0D-BBED-667C23E534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5162550"/>
            <a:ext cx="99060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1875" b="1">
                <a:solidFill>
                  <a:srgbClr val="174A2B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174A2B"/>
                </a:solidFill>
                <a:latin typeface="Arial"/>
                <a:ea typeface="Arial"/>
                <a:cs typeface="Arial"/>
              </a:rPr>
              <a:t>MVP: QR mapeado — sem depender de pose/IMU que o DAT público não expõe.</a:t>
            </a:r>
          </a:p>
        </p:txBody>
      </p:sp>
      <p:sp>
        <p:nvSpPr>
          <p:cNvPr id="23" name="footer-4">
            <a:extLst xmlns:a="http://schemas.openxmlformats.org/drawingml/2006/main">
              <a:ext uri="{FF2B5EF4-FFF2-40B4-BE49-F238E27FC236}">
                <a16:creationId xmlns:a16="http://schemas.microsoft.com/office/drawing/2014/main" id="{314403E2-B820-445B-B52C-8DFA455C7A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34750" y="6334125"/>
            <a:ext cx="4572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b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200" b="0">
                <a:solidFill>
                  <a:srgbClr val="5E6B62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5E6B62"/>
                </a:solidFill>
                <a:latin typeface="Arial"/>
                <a:ea typeface="Arial"/>
                <a:cs typeface="Arial"/>
              </a:rPr>
              <a:t>04</a:t>
            </a:r>
          </a:p>
        </p:txBody>
      </p:sp>
    </p:spTree>
    <p:extLst>
      <p:ext uri="{BB962C8B-B14F-4D97-AF65-F5344CB8AC3E}">
        <p14:creationId xmlns:p14="http://schemas.microsoft.com/office/powerpoint/2010/main" val="1232403925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7" name="title-5">
            <a:extLst xmlns:a="http://schemas.openxmlformats.org/drawingml/2006/main">
              <a:ext uri="{FF2B5EF4-FFF2-40B4-BE49-F238E27FC236}">
                <a16:creationId xmlns:a16="http://schemas.microsoft.com/office/drawing/2014/main" id="{6A8AF874-5CE9-4109-A69D-9890F2B5E8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361950"/>
            <a:ext cx="112776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3900" b="1">
                <a:solidFill>
                  <a:srgbClr val="111814"/>
                </a:solidFill>
                <a:latin typeface="Arial"/>
                <a:ea typeface="Arial"/>
                <a:cs typeface="Arial"/>
              </a:defRPr>
            </a:pPr>
            <a:r>
              <a:rPr sz="3900" b="1">
                <a:solidFill>
                  <a:srgbClr val="111814"/>
                </a:solidFill>
                <a:latin typeface="Arial"/>
                <a:ea typeface="Arial"/>
                <a:cs typeface="Arial"/>
              </a:rPr>
              <a:t>A simulação já fecha o ciclo com falha segura.</a:t>
            </a:r>
          </a:p>
        </p:txBody>
      </p:sp>
      <p:sp>
        <p:nvSpPr>
          <p:cNvPr id="2" name="evidence-intro">
            <a:extLst xmlns:a="http://schemas.openxmlformats.org/drawingml/2006/main">
              <a:ext uri="{FF2B5EF4-FFF2-40B4-BE49-F238E27FC236}">
                <a16:creationId xmlns:a16="http://schemas.microsoft.com/office/drawing/2014/main" id="{721FE1C0-1132-4571-8640-84FE896D6B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1181100"/>
            <a:ext cx="106680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950" b="0">
                <a:solidFill>
                  <a:srgbClr val="5E6B62"/>
                </a:solidFill>
                <a:latin typeface="Arial"/>
                <a:ea typeface="Arial"/>
                <a:cs typeface="Arial"/>
              </a:defRPr>
            </a:pPr>
            <a:r>
              <a:rPr sz="1950" b="0">
                <a:solidFill>
                  <a:srgbClr val="5E6B62"/>
                </a:solidFill>
                <a:latin typeface="Arial"/>
                <a:ea typeface="Arial"/>
                <a:cs typeface="Arial"/>
              </a:rPr>
              <a:t>Simulação comprovada; DAT e rota de áudio são o próximo teste no hardware.</a:t>
            </a:r>
          </a:p>
        </p:txBody>
      </p:sp>
      <p:sp>
        <p:nvSpPr>
          <p:cNvPr id="3" name="evidence-card-1">
            <a:extLst xmlns:a="http://schemas.openxmlformats.org/drawingml/2006/main">
              <a:ext uri="{FF2B5EF4-FFF2-40B4-BE49-F238E27FC236}">
                <a16:creationId xmlns:a16="http://schemas.microsoft.com/office/drawing/2014/main" id="{84E91BFD-BB43-48D9-BB46-C380A03351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2238375"/>
            <a:ext cx="3219450" cy="2952750"/>
          </a:xfrm>
          <a:prstGeom xmlns:a="http://schemas.openxmlformats.org/drawingml/2006/main" prst="roundRect">
            <a:avLst>
              <a:gd name="adj" fmla="val 3871"/>
            </a:avLst>
          </a:prstGeom>
          <a:solidFill xmlns:a="http://schemas.openxmlformats.org/drawingml/2006/main">
            <a:srgbClr val="EEF1EF"/>
          </a:solidFill>
          <a:ln xmlns:a="http://schemas.openxmlformats.org/drawingml/2006/main" w="9525">
            <a:solidFill>
              <a:srgbClr val="C4CCC7"/>
            </a:solidFill>
            <a:prstDash val="solid"/>
          </a:ln>
        </p:spPr>
      </p:sp>
      <p:sp>
        <p:nvSpPr>
          <p:cNvPr id="4" name="evidence-stat-1">
            <a:extLst xmlns:a="http://schemas.openxmlformats.org/drawingml/2006/main">
              <a:ext uri="{FF2B5EF4-FFF2-40B4-BE49-F238E27FC236}">
                <a16:creationId xmlns:a16="http://schemas.microsoft.com/office/drawing/2014/main" id="{3D087C8D-9C13-4A84-8BBC-4EDF02EB96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2552700"/>
            <a:ext cx="2724150" cy="1066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b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5400" b="1">
                <a:solidFill>
                  <a:srgbClr val="174A2B"/>
                </a:solidFill>
                <a:latin typeface="Arial"/>
                <a:ea typeface="Arial"/>
                <a:cs typeface="Arial"/>
              </a:defRPr>
            </a:pPr>
            <a:r>
              <a:rPr sz="5400" b="1">
                <a:solidFill>
                  <a:srgbClr val="174A2B"/>
                </a:solidFill>
                <a:latin typeface="Arial"/>
                <a:ea typeface="Arial"/>
                <a:cs typeface="Arial"/>
              </a:rPr>
              <a:t>5/5</a:t>
            </a:r>
          </a:p>
        </p:txBody>
      </p:sp>
      <p:sp>
        <p:nvSpPr>
          <p:cNvPr id="5" name="evidence-header-1">
            <a:extLst xmlns:a="http://schemas.openxmlformats.org/drawingml/2006/main">
              <a:ext uri="{FF2B5EF4-FFF2-40B4-BE49-F238E27FC236}">
                <a16:creationId xmlns:a16="http://schemas.microsoft.com/office/drawing/2014/main" id="{C5054F2D-2545-4094-8111-64B6E1D528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3695700"/>
            <a:ext cx="27241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950" b="1">
                <a:solidFill>
                  <a:srgbClr val="111814"/>
                </a:solidFill>
                <a:latin typeface="Arial"/>
                <a:ea typeface="Arial"/>
                <a:cs typeface="Arial"/>
              </a:defRPr>
            </a:pPr>
            <a:r>
              <a:rPr sz="1950" b="1">
                <a:solidFill>
                  <a:srgbClr val="111814"/>
                </a:solidFill>
                <a:latin typeface="Arial"/>
                <a:ea typeface="Arial"/>
                <a:cs typeface="Arial"/>
              </a:rPr>
              <a:t>checkpoints</a:t>
            </a:r>
          </a:p>
        </p:txBody>
      </p:sp>
      <p:sp>
        <p:nvSpPr>
          <p:cNvPr id="6" name="evidence-detail-1">
            <a:extLst xmlns:a="http://schemas.openxmlformats.org/drawingml/2006/main">
              <a:ext uri="{FF2B5EF4-FFF2-40B4-BE49-F238E27FC236}">
                <a16:creationId xmlns:a16="http://schemas.microsoft.com/office/drawing/2014/main" id="{9A558FFD-72CA-4AE6-8566-BFF810BAEA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4210050"/>
            <a:ext cx="272415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575" b="0">
                <a:solidFill>
                  <a:srgbClr val="5E6B62"/>
                </a:solidFill>
                <a:latin typeface="Arial"/>
                <a:ea typeface="Arial"/>
                <a:cs typeface="Arial"/>
              </a:defRPr>
            </a:pPr>
            <a:r>
              <a:rPr sz="1575" b="0">
                <a:solidFill>
                  <a:srgbClr val="5E6B62"/>
                </a:solidFill>
                <a:latin typeface="Arial"/>
                <a:ea typeface="Arial"/>
                <a:cs typeface="Arial"/>
              </a:rPr>
              <a:t>IA, câmera + voz, áudio, privacidade e bateria.</a:t>
            </a:r>
          </a:p>
        </p:txBody>
      </p:sp>
      <p:sp>
        <p:nvSpPr>
          <p:cNvPr id="7" name="evidence-card-2">
            <a:extLst xmlns:a="http://schemas.openxmlformats.org/drawingml/2006/main">
              <a:ext uri="{FF2B5EF4-FFF2-40B4-BE49-F238E27FC236}">
                <a16:creationId xmlns:a16="http://schemas.microsoft.com/office/drawing/2014/main" id="{7296807F-12B4-4BE1-AAF2-F69A911266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33850" y="2238375"/>
            <a:ext cx="3219450" cy="2952750"/>
          </a:xfrm>
          <a:prstGeom xmlns:a="http://schemas.openxmlformats.org/drawingml/2006/main" prst="roundRect">
            <a:avLst>
              <a:gd name="adj" fmla="val 3871"/>
            </a:avLst>
          </a:prstGeom>
          <a:solidFill xmlns:a="http://schemas.openxmlformats.org/drawingml/2006/main">
            <a:srgbClr val="EEF1EF"/>
          </a:solidFill>
          <a:ln xmlns:a="http://schemas.openxmlformats.org/drawingml/2006/main" w="9525">
            <a:solidFill>
              <a:srgbClr val="C4CCC7"/>
            </a:solidFill>
            <a:prstDash val="solid"/>
          </a:ln>
        </p:spPr>
      </p:sp>
      <p:sp>
        <p:nvSpPr>
          <p:cNvPr id="8" name="evidence-stat-2">
            <a:extLst xmlns:a="http://schemas.openxmlformats.org/drawingml/2006/main">
              <a:ext uri="{FF2B5EF4-FFF2-40B4-BE49-F238E27FC236}">
                <a16:creationId xmlns:a16="http://schemas.microsoft.com/office/drawing/2014/main" id="{217565A7-ADB3-4AFF-B041-6A12FA4298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81500" y="2552700"/>
            <a:ext cx="2724150" cy="1066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b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5400" b="1">
                <a:solidFill>
                  <a:srgbClr val="174A2B"/>
                </a:solidFill>
                <a:latin typeface="Arial"/>
                <a:ea typeface="Arial"/>
                <a:cs typeface="Arial"/>
              </a:defRPr>
            </a:pPr>
            <a:r>
              <a:rPr sz="5400" b="1">
                <a:solidFill>
                  <a:srgbClr val="174A2B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9" name="evidence-header-2">
            <a:extLst xmlns:a="http://schemas.openxmlformats.org/drawingml/2006/main">
              <a:ext uri="{FF2B5EF4-FFF2-40B4-BE49-F238E27FC236}">
                <a16:creationId xmlns:a16="http://schemas.microsoft.com/office/drawing/2014/main" id="{4B4E63CD-53B6-4B2B-ABC2-D135ACD19D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81500" y="3695700"/>
            <a:ext cx="27241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950" b="1">
                <a:solidFill>
                  <a:srgbClr val="111814"/>
                </a:solidFill>
                <a:latin typeface="Arial"/>
                <a:ea typeface="Arial"/>
                <a:cs typeface="Arial"/>
              </a:defRPr>
            </a:pPr>
            <a:r>
              <a:rPr sz="1950" b="1">
                <a:solidFill>
                  <a:srgbClr val="111814"/>
                </a:solidFill>
                <a:latin typeface="Arial"/>
                <a:ea typeface="Arial"/>
                <a:cs typeface="Arial"/>
              </a:rPr>
              <a:t>captura por ação</a:t>
            </a:r>
          </a:p>
        </p:txBody>
      </p:sp>
      <p:sp>
        <p:nvSpPr>
          <p:cNvPr id="10" name="evidence-detail-2">
            <a:extLst xmlns:a="http://schemas.openxmlformats.org/drawingml/2006/main">
              <a:ext uri="{FF2B5EF4-FFF2-40B4-BE49-F238E27FC236}">
                <a16:creationId xmlns:a16="http://schemas.microsoft.com/office/drawing/2014/main" id="{75009FFB-2DCD-446E-A4D6-297F0CC55B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81500" y="4210050"/>
            <a:ext cx="272415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575" b="0">
                <a:solidFill>
                  <a:srgbClr val="5E6B62"/>
                </a:solidFill>
                <a:latin typeface="Arial"/>
                <a:ea typeface="Arial"/>
                <a:cs typeface="Arial"/>
              </a:defRPr>
            </a:pPr>
            <a:r>
              <a:rPr sz="1575" b="0">
                <a:solidFill>
                  <a:srgbClr val="5E6B62"/>
                </a:solidFill>
                <a:latin typeface="Arial"/>
                <a:ea typeface="Arial"/>
                <a:cs typeface="Arial"/>
              </a:rPr>
              <a:t>Processamento sob demanda, não gravação contínua.</a:t>
            </a:r>
          </a:p>
        </p:txBody>
      </p:sp>
      <p:sp>
        <p:nvSpPr>
          <p:cNvPr id="11" name="evidence-card-3">
            <a:extLst xmlns:a="http://schemas.openxmlformats.org/drawingml/2006/main">
              <a:ext uri="{FF2B5EF4-FFF2-40B4-BE49-F238E27FC236}">
                <a16:creationId xmlns:a16="http://schemas.microsoft.com/office/drawing/2014/main" id="{872B6ADF-BC87-43C9-BE68-628864F130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0" y="2238375"/>
            <a:ext cx="3219450" cy="2952750"/>
          </a:xfrm>
          <a:prstGeom xmlns:a="http://schemas.openxmlformats.org/drawingml/2006/main" prst="roundRect">
            <a:avLst>
              <a:gd name="adj" fmla="val 3871"/>
            </a:avLst>
          </a:prstGeom>
          <a:solidFill xmlns:a="http://schemas.openxmlformats.org/drawingml/2006/main">
            <a:srgbClr val="EEF1EF"/>
          </a:solidFill>
          <a:ln xmlns:a="http://schemas.openxmlformats.org/drawingml/2006/main" w="9525">
            <a:solidFill>
              <a:srgbClr val="C4CCC7"/>
            </a:solidFill>
            <a:prstDash val="solid"/>
          </a:ln>
        </p:spPr>
      </p:sp>
      <p:sp>
        <p:nvSpPr>
          <p:cNvPr id="12" name="evidence-stat-3">
            <a:extLst xmlns:a="http://schemas.openxmlformats.org/drawingml/2006/main">
              <a:ext uri="{FF2B5EF4-FFF2-40B4-BE49-F238E27FC236}">
                <a16:creationId xmlns:a16="http://schemas.microsoft.com/office/drawing/2014/main" id="{6318F474-73A3-4E75-9030-ADAB822256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58150" y="2552700"/>
            <a:ext cx="2724150" cy="1066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b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5400" b="1">
                <a:solidFill>
                  <a:srgbClr val="174A2B"/>
                </a:solidFill>
                <a:latin typeface="Arial"/>
                <a:ea typeface="Arial"/>
                <a:cs typeface="Arial"/>
              </a:defRPr>
            </a:pPr>
            <a:r>
              <a:rPr sz="5400" b="1">
                <a:solidFill>
                  <a:srgbClr val="174A2B"/>
                </a:solidFill>
                <a:latin typeface="Arial"/>
                <a:ea typeface="Arial"/>
                <a:cs typeface="Arial"/>
              </a:rPr>
              <a:t>0</a:t>
            </a:r>
          </a:p>
        </p:txBody>
      </p:sp>
      <p:sp>
        <p:nvSpPr>
          <p:cNvPr id="13" name="evidence-header-3">
            <a:extLst xmlns:a="http://schemas.openxmlformats.org/drawingml/2006/main">
              <a:ext uri="{FF2B5EF4-FFF2-40B4-BE49-F238E27FC236}">
                <a16:creationId xmlns:a16="http://schemas.microsoft.com/office/drawing/2014/main" id="{FE784F5F-E38F-4B02-A861-57029E7DB6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58150" y="3695700"/>
            <a:ext cx="27241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950" b="1">
                <a:solidFill>
                  <a:srgbClr val="111814"/>
                </a:solidFill>
                <a:latin typeface="Arial"/>
                <a:ea typeface="Arial"/>
                <a:cs typeface="Arial"/>
              </a:defRPr>
            </a:pPr>
            <a:r>
              <a:rPr sz="1950" b="1">
                <a:solidFill>
                  <a:srgbClr val="111814"/>
                </a:solidFill>
                <a:latin typeface="Arial"/>
                <a:ea typeface="Arial"/>
                <a:cs typeface="Arial"/>
              </a:rPr>
              <a:t>mídia salva</a:t>
            </a:r>
          </a:p>
        </p:txBody>
      </p:sp>
      <p:sp>
        <p:nvSpPr>
          <p:cNvPr id="14" name="evidence-detail-3">
            <a:extLst xmlns:a="http://schemas.openxmlformats.org/drawingml/2006/main">
              <a:ext uri="{FF2B5EF4-FFF2-40B4-BE49-F238E27FC236}">
                <a16:creationId xmlns:a16="http://schemas.microsoft.com/office/drawing/2014/main" id="{AF9AB1A3-2614-4210-8592-3243637693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58150" y="4210050"/>
            <a:ext cx="272415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575" b="0">
                <a:solidFill>
                  <a:srgbClr val="5E6B62"/>
                </a:solidFill>
                <a:latin typeface="Arial"/>
                <a:ea typeface="Arial"/>
                <a:cs typeface="Arial"/>
              </a:defRPr>
            </a:pPr>
            <a:r>
              <a:rPr sz="1575" b="0">
                <a:solidFill>
                  <a:srgbClr val="5E6B62"/>
                </a:solidFill>
                <a:latin typeface="Arial"/>
                <a:ea typeface="Arial"/>
                <a:cs typeface="Arial"/>
              </a:rPr>
              <a:t>Frame descartado depois de resolver o alvo.</a:t>
            </a:r>
          </a:p>
        </p:txBody>
      </p:sp>
      <p:sp>
        <p:nvSpPr>
          <p:cNvPr id="15" name="evidence-safety">
            <a:extLst xmlns:a="http://schemas.openxmlformats.org/drawingml/2006/main">
              <a:ext uri="{FF2B5EF4-FFF2-40B4-BE49-F238E27FC236}">
                <a16:creationId xmlns:a16="http://schemas.microsoft.com/office/drawing/2014/main" id="{97D12BA1-2E59-4241-8DDA-F2B871EAE4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5619750"/>
            <a:ext cx="106680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025" b="1">
                <a:solidFill>
                  <a:srgbClr val="174A2B"/>
                </a:solidFill>
                <a:latin typeface="Arial"/>
                <a:ea typeface="Arial"/>
                <a:cs typeface="Arial"/>
              </a:defRPr>
            </a:pPr>
            <a:r>
              <a:rPr sz="2025" b="1">
                <a:solidFill>
                  <a:srgbClr val="174A2B"/>
                </a:solidFill>
                <a:latin typeface="Arial"/>
                <a:ea typeface="Arial"/>
                <a:cs typeface="Arial"/>
              </a:rPr>
              <a:t>ACCEPTED + Nav2 ativo + odometria mudou. ‘Cancelar’ = sem comando.</a:t>
            </a:r>
          </a:p>
        </p:txBody>
      </p:sp>
      <p:sp>
        <p:nvSpPr>
          <p:cNvPr id="16" name="footer-5">
            <a:extLst xmlns:a="http://schemas.openxmlformats.org/drawingml/2006/main">
              <a:ext uri="{FF2B5EF4-FFF2-40B4-BE49-F238E27FC236}">
                <a16:creationId xmlns:a16="http://schemas.microsoft.com/office/drawing/2014/main" id="{F65433F2-F91B-463A-B1DF-EFAC302413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34750" y="6334125"/>
            <a:ext cx="4572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b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200" b="0">
                <a:solidFill>
                  <a:srgbClr val="5E6B62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5E6B62"/>
                </a:solidFill>
                <a:latin typeface="Arial"/>
                <a:ea typeface="Arial"/>
                <a:cs typeface="Arial"/>
              </a:rPr>
              <a:t>05</a:t>
            </a:r>
          </a:p>
        </p:txBody>
      </p:sp>
    </p:spTree>
    <p:extLst>
      <p:ext uri="{BB962C8B-B14F-4D97-AF65-F5344CB8AC3E}">
        <p14:creationId xmlns:p14="http://schemas.microsoft.com/office/powerpoint/2010/main" val="1906628129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5" name="close-overline">
            <a:extLst xmlns:a="http://schemas.openxmlformats.org/drawingml/2006/main">
              <a:ext uri="{FF2B5EF4-FFF2-40B4-BE49-F238E27FC236}">
                <a16:creationId xmlns:a16="http://schemas.microsoft.com/office/drawing/2014/main" id="{B857CE6C-4BA9-4247-8B93-424B714C67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457200"/>
            <a:ext cx="34290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650" b="1">
                <a:solidFill>
                  <a:srgbClr val="2F7D4A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2F7D4A"/>
                </a:solidFill>
                <a:latin typeface="Arial"/>
                <a:ea typeface="Arial"/>
                <a:cs typeface="Arial"/>
              </a:rPr>
              <a:t>MAESTRO AGRÍCOLA</a:t>
            </a:r>
          </a:p>
        </p:txBody>
      </p:sp>
      <p:sp>
        <p:nvSpPr>
          <p:cNvPr id="2" name="close-thesis">
            <a:extLst xmlns:a="http://schemas.openxmlformats.org/drawingml/2006/main">
              <a:ext uri="{FF2B5EF4-FFF2-40B4-BE49-F238E27FC236}">
                <a16:creationId xmlns:a16="http://schemas.microsoft.com/office/drawing/2014/main" id="{28E06A39-AA9A-4146-BBA9-C188263EB5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1714500"/>
            <a:ext cx="10287000" cy="2286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b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5250" b="1">
                <a:solidFill>
                  <a:srgbClr val="111814"/>
                </a:solidFill>
                <a:latin typeface="Arial"/>
                <a:ea typeface="Arial"/>
                <a:cs typeface="Arial"/>
              </a:defRPr>
            </a:pPr>
            <a:r>
              <a:rPr sz="5250" b="1">
                <a:solidFill>
                  <a:srgbClr val="111814"/>
                </a:solidFill>
                <a:latin typeface="Arial"/>
                <a:ea typeface="Arial"/>
                <a:cs typeface="Arial"/>
              </a:rPr>
              <a:t>O futuro do campo não precisa de mais telas.</a:t>
            </a:r>
          </a:p>
        </p:txBody>
      </p:sp>
      <p:sp>
        <p:nvSpPr>
          <p:cNvPr id="3" name="close-tagline">
            <a:extLst xmlns:a="http://schemas.openxmlformats.org/drawingml/2006/main">
              <a:ext uri="{FF2B5EF4-FFF2-40B4-BE49-F238E27FC236}">
                <a16:creationId xmlns:a16="http://schemas.microsoft.com/office/drawing/2014/main" id="{0753BFD4-8DB1-4577-BAA0-53EE2B0BAA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4810125"/>
            <a:ext cx="68580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3300" b="1">
                <a:solidFill>
                  <a:srgbClr val="174A2B"/>
                </a:solidFill>
                <a:latin typeface="Arial"/>
                <a:ea typeface="Arial"/>
                <a:cs typeface="Arial"/>
              </a:defRPr>
            </a:pPr>
            <a:r>
              <a:rPr sz="3300" b="1">
                <a:solidFill>
                  <a:srgbClr val="174A2B"/>
                </a:solidFill>
                <a:latin typeface="Arial"/>
                <a:ea typeface="Arial"/>
                <a:cs typeface="Arial"/>
              </a:rPr>
              <a:t>Olhe. Fale. Confirme.</a:t>
            </a:r>
          </a:p>
        </p:txBody>
      </p:sp>
      <p:sp>
        <p:nvSpPr>
          <p:cNvPr id="4" name="close-bar">
            <a:extLst xmlns:a="http://schemas.openxmlformats.org/drawingml/2006/main">
              <a:ext uri="{FF2B5EF4-FFF2-40B4-BE49-F238E27FC236}">
                <a16:creationId xmlns:a16="http://schemas.microsoft.com/office/drawing/2014/main" id="{C6AC9AA4-0FF6-4476-936F-C4A2E38B44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6524625"/>
            <a:ext cx="12192000" cy="3333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F7D4A"/>
          </a:solidFill>
          <a:ln xmlns:a="http://schemas.openxmlformats.org/drawingml/2006/main" w="0">
            <a:noFill/>
            <a:prstDash val="solid"/>
          </a:ln>
        </p:spPr>
      </p:sp>
    </p:spTree>
    <p:extLst>
      <p:ext uri="{BB962C8B-B14F-4D97-AF65-F5344CB8AC3E}">
        <p14:creationId xmlns:p14="http://schemas.microsoft.com/office/powerpoint/2010/main" val="1992787611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2026-08-18T16:45:44.9030000Z</dcterms:created>
  <dcterms:modified xsi:type="dcterms:W3CDTF">2026-08-18T16:45:44.9030000Z</dcterms:modified>
</coreProperties>
</file>