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8017e788d5412e" /><Relationship Type="http://schemas.openxmlformats.org/officeDocument/2006/relationships/extended-properties" Target="/docProps/app.xml" Id="Rc34bb3895e2b442b" /><Relationship Type="http://schemas.openxmlformats.org/officeDocument/2006/relationships/officeDocument" Target="/ppt/presentation.xml" Id="Rdc96db63d52541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bda29afe064e20"/>
  </p:sldMasterIdLst>
  <p:notesMasterIdLst>
    <p:notesMasterId xmlns:r="http://schemas.openxmlformats.org/officeDocument/2006/relationships" r:id="Rcf91ec31c72545d5"/>
  </p:notesMasterIdLst>
  <p:sldIdLst>
    <p:sldId xmlns:r="http://schemas.openxmlformats.org/officeDocument/2006/relationships" id="256" r:id="R737c2f8e133b44dc"/>
    <p:sldId xmlns:r="http://schemas.openxmlformats.org/officeDocument/2006/relationships" id="257" r:id="R0fbc95c084104487"/>
    <p:sldId xmlns:r="http://schemas.openxmlformats.org/officeDocument/2006/relationships" id="258" r:id="R1feaded38d5541f3"/>
    <p:sldId xmlns:r="http://schemas.openxmlformats.org/officeDocument/2006/relationships" id="259" r:id="R4d031f13571b4d41"/>
    <p:sldId xmlns:r="http://schemas.openxmlformats.org/officeDocument/2006/relationships" id="260" r:id="R35f955670e49423e"/>
    <p:sldId xmlns:r="http://schemas.openxmlformats.org/officeDocument/2006/relationships" id="261" r:id="R94965d58dfce4a0c"/>
    <p:sldId xmlns:r="http://schemas.openxmlformats.org/officeDocument/2006/relationships" id="262" r:id="Rba20064272a94a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012c45326a4765" /><Relationship Type="http://schemas.openxmlformats.org/officeDocument/2006/relationships/slideMaster" Target="/ppt/slideMasters/slideMaster1.xml" Id="Rf9bda29afe064e20" /><Relationship Type="http://schemas.openxmlformats.org/officeDocument/2006/relationships/notesMaster" Target="/ppt/notesMasters/notesMaster1.xml" Id="Rcf91ec31c72545d5" /><Relationship Type="http://schemas.openxmlformats.org/officeDocument/2006/relationships/presProps" Target="/ppt/presProps.xml" Id="R0abb960ca71b4993" /><Relationship Type="http://schemas.openxmlformats.org/officeDocument/2006/relationships/tableStyles" Target="/ppt/tableStyles.xml" Id="Rde11761c226a4c8f" /><Relationship Type="http://schemas.openxmlformats.org/officeDocument/2006/relationships/slide" Target="/ppt/slides/slide1.xml" Id="R737c2f8e133b44dc" /><Relationship Type="http://schemas.openxmlformats.org/officeDocument/2006/relationships/slide" Target="/ppt/slides/slide2.xml" Id="R0fbc95c084104487" /><Relationship Type="http://schemas.openxmlformats.org/officeDocument/2006/relationships/slide" Target="/ppt/slides/slide3.xml" Id="R1feaded38d5541f3" /><Relationship Type="http://schemas.openxmlformats.org/officeDocument/2006/relationships/slide" Target="/ppt/slides/slide4.xml" Id="R4d031f13571b4d41" /><Relationship Type="http://schemas.openxmlformats.org/officeDocument/2006/relationships/slide" Target="/ppt/slides/slide5.xml" Id="R35f955670e49423e" /><Relationship Type="http://schemas.openxmlformats.org/officeDocument/2006/relationships/slide" Target="/ppt/slides/slide6.xml" Id="R94965d58dfce4a0c" /><Relationship Type="http://schemas.openxmlformats.org/officeDocument/2006/relationships/slide" Target="/ppt/slides/slide7.xml" Id="Rba20064272a94a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7b9800611a4b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b541d0c35c64408" /><Relationship Type="http://schemas.openxmlformats.org/officeDocument/2006/relationships/notesMaster" Target="/ppt/notesMasters/notesMaster1.xml" Id="R4bc1559523f944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51e25ce8d041c1" /><Relationship Type="http://schemas.openxmlformats.org/officeDocument/2006/relationships/notesMaster" Target="/ppt/notesMasters/notesMaster1.xml" Id="Rf4461694ec774d1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aa9af19af14598" /><Relationship Type="http://schemas.openxmlformats.org/officeDocument/2006/relationships/notesMaster" Target="/ppt/notesMasters/notesMaster1.xml" Id="Reca94100bd4d46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7d63b289c9465c" /><Relationship Type="http://schemas.openxmlformats.org/officeDocument/2006/relationships/notesMaster" Target="/ppt/notesMasters/notesMaster1.xml" Id="R0c74b1a1445448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ba7952e11948f6" /><Relationship Type="http://schemas.openxmlformats.org/officeDocument/2006/relationships/notesMaster" Target="/ppt/notesMasters/notesMaster1.xml" Id="Rf3034e0f6b534d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104b42ac2a4b93" /><Relationship Type="http://schemas.openxmlformats.org/officeDocument/2006/relationships/notesMaster" Target="/ppt/notesMasters/notesMaster1.xml" Id="R70cb8b15157c4f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a75cf8fa6e4100" /><Relationship Type="http://schemas.openxmlformats.org/officeDocument/2006/relationships/notesMaster" Target="/ppt/notesMasters/notesMaster1.xml" Id="Rbc3fb207b99f42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[Pitch | 0:00–0:19 | Felipe]</a:t>
            </a:r>
          </a:p>
          <a:p xmlns:a="http://schemas.openxmlformats.org/drawingml/2006/main">
            <a:r>
              <a:t>Imagine acompanhar uma máquina autônoma no campo e, mesmo assim, precisar parar para procurar uma tela. O Maestro Agrícola transforma essa interação: o operador olha, fala e confirma. Uma interface hands-free entre intenção humana e máquinas autônomas.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[Cue]</a:t>
            </a:r>
          </a:p>
          <a:p xmlns:a="http://schemas.openxmlformats.org/drawingml/2006/main">
            <a:r>
              <a:t>Abrir com ritmo calmo; pausar brevemente depois de “tela”.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Identidade e conceito: /home/matheus/Downloads/message.txt</a:t>
            </a:r>
          </a:p>
          <a:p xmlns:a="http://schemas.openxmlformats.org/drawingml/2006/main">
            <a:r>
              <a:t>- Logos e imagens fornecidos pelo usuário; visual da capa é conceitual e não comprova validação em hardware físico.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[Pitch | 0:19–0:44 | Felipe]</a:t>
            </a:r>
          </a:p>
          <a:p xmlns:a="http://schemas.openxmlformats.org/drawingml/2006/main">
            <a:r>
              <a:t>No campo, a autonomia esbarra na interface. Sol, poeira, luvas e mãos ocupadas fazem a tela interromper o fluxo: parar, abrir, navegar e retomar. No piloto, vamos medir a oportunidade de reduzir em 20% a 30% custos operacionais e retrabalho. A máquina avançou; a experiência humana ainda não.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[Cue]</a:t>
            </a:r>
          </a:p>
          <a:p xmlns:a="http://schemas.openxmlformats.org/drawingml/2006/main">
            <a:r>
              <a:t>Apontar primeiro a sequência de quatro ações; depois, destacar o 20–30% como impacto potencial a validar.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Oportunidade quantitativa de 20–30%: briefing original fornecido pelo usuário nesta conversa.</a:t>
            </a:r>
          </a:p>
          <a:p xmlns:a="http://schemas.openxmlformats.org/drawingml/2006/main">
            <a:r>
              <a:t>- O valor é exibido como oportunidade estimada a validar, não como resultado de campo concluído.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[Pitch | 0:44–1:12 | Felipe]</a:t>
            </a:r>
          </a:p>
          <a:p xmlns:a="http://schemas.openxmlformats.org/drawingml/2006/main">
            <a:r>
              <a:t>Nossa proposta reduz a experiência a três ações. Primeiro, olhar para o alvo: hoje validamos esse fluxo em pré-hardware com DAT 0.9.0 e MockDeviceKit, identificando, por exemplo, o plot-03. Depois, falar usando o SpeechRecognizer do Android. Por fim, o TTS repete a operação e somente uma confirmação explícita libera o comando. Se voz e câmera divergirem, ou houver CANCEL ou UNKNOWN, não existe movimento.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[Cue]</a:t>
            </a:r>
          </a:p>
          <a:p xmlns:a="http://schemas.openxmlformats.org/drawingml/2006/main">
            <a:r>
              <a:t>Acompanhar visualmente 01, 02 e 03; desacelerar na regra de segurança.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 0.9.0, MockDeviceKit, SpeechRecognizer, TTS, plot-03 e fail-safe: /home/matheus/Downloads/message.txt</a:t>
            </a:r>
          </a:p>
          <a:p xmlns:a="http://schemas.openxmlformats.org/drawingml/2006/main">
            <a:r>
              <a:t>- Validação de câmera atual é pré-hardware; não afirmar teste em Meta Wearables físicos.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[Pitch | 1:12–1:52 | Rafael]</a:t>
            </a:r>
          </a:p>
          <a:p xmlns:a="http://schemas.openxmlformats.org/drawingml/2006/main">
            <a:r>
              <a:t>Na arquitetura, o Android captura câmera e voz. O LocalIntentClassifier é a autoridade operacional, e o TargetResolver cruza o alvo visual com o identificador falado. Após a confirmação, o comando segue em WebSocket e JSON para o bridge ROS 2, que executa em Nav2 e Gazebo com TurtleBot 4. O Qwen 2.5 de 1,5 bilhão roda localmente via llama.cpp apenas para conversa: ele não acessa Command, WebSocket, ROS nem o robô. A câmera é acionada sob demanda e o Maestro não persiste mídia bruta por padrão.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[Cue]</a:t>
            </a:r>
          </a:p>
          <a:p xmlns:a="http://schemas.openxmlformats.org/drawingml/2006/main">
            <a:r>
              <a:t>Troca para Rafael. Seguir o fluxo da esquerda para a direita e terminar apontando a barreira do Qwen.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Arquitetura, autoridade operacional, stack, privacidade e limites do Qwen: /home/matheus/Downloads/message.txt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[Pitch | 1:52–2:21 | Rafael]</a:t>
            </a:r>
          </a:p>
          <a:p xmlns:a="http://schemas.openxmlformats.org/drawingml/2006/main">
            <a:r>
              <a:t>Essa arquitetura já funciona ponta a ponta. O classificador operacional obteve 64 acertos em 64 casos, macro-F1 1,0 e zero aceites perigosos. Passaram também 65 testes portáteis e 36 testes do bridge. O ciclo validado é explícito: UNDOCK, SPRAY, permanência no alvo, DOCK e novo UNDOCK. O SPRAY não retorna nem acopla sozinho. No vídeo, o Android identifica o plot-03, recebe voz, pede confirmação e executa pelo bridge no Gazebo.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[Cue]</a:t>
            </a:r>
          </a:p>
          <a:p xmlns:a="http://schemas.openxmlformats.org/drawingml/2006/main">
            <a:r>
              <a:t>Inserir o vídeo real no placeholder. Manter as métricas visíveis e reservar cerca de 2 segundos finais apenas para a execução.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- 64/64, macro-F1 1,0, zero aceites perigosos, 65 + 36 testes e lifecycle: /home/matheus/Downloads/message.txt</a:t>
            </a:r>
          </a:p>
          <a:p xmlns:a="http://schemas.openxmlformats.org/drawingml/2006/main">
            <a:r>
              <a:t>- O espaço de vídeo é um placeholder; nenhuma demonstração falsa foi criada.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[Pitch | 2:21–2:40 | Felipe]</a:t>
            </a:r>
          </a:p>
          <a:p xmlns:a="http://schemas.openxmlformats.org/drawingml/2006/main">
            <a:r>
              <a:t>Os próximos passos são gates, não promessas: validar a câmera nos Meta Wearables reais; integrar o bridge a um robô físico controlado; e pilotar no campo. Nesse piloto, vamos medir a oportunidade de reduzir em 20% a 30% custos operacionais e retrabalho, preservando zero aceite perigoso.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[Cue]</a:t>
            </a:r>
          </a:p>
          <a:p xmlns:a="http://schemas.openxmlformats.org/drawingml/2006/main">
            <a:r>
              <a:t>Retorno para Felipe. Dizer “potencial” e “validar”; não apresentar 20–30% como resultado já medido.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Oportunidade quantitativa de 20–30%: briefing original fornecido pelo usuário nesta conversa.</a:t>
            </a:r>
          </a:p>
          <a:p xmlns:a="http://schemas.openxmlformats.org/drawingml/2006/main">
            <a:r>
              <a:t>- Gates de validação e lacunas atuais pré-hardware/Gazebo: /home/matheus/Downloads/message.txt.</a:t>
            </a:r>
          </a:p>
          <a:p xmlns:a="http://schemas.openxmlformats.org/drawingml/2006/main">
            <a:r>
              <a:t>- O valor de 20–30% é exibido como oportunidade estimada a validar, não como resultado de campo concluído.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[Pitch | 2:40–2:54 | Felipe]</a:t>
            </a:r>
          </a:p>
          <a:p xmlns:a="http://schemas.openxmlformats.org/drawingml/2006/main">
            <a:r>
              <a:t>Somos a AgroTurtles: Átila no Android e Meta DAT; Felipe em robótica e integração; Rafael em inteligência artificial e segurança. Três pessoas, um sistema ponta a ponta. Maestro Agrícola: olhe, fale, confirme.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[Cue]</a:t>
            </a:r>
          </a:p>
          <a:p xmlns:a="http://schemas.openxmlformats.org/drawingml/2006/main">
            <a:r>
              <a:t>Fechar olhando para a câmera; pequena pausa antes da assinatura final.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Nomes e responsabilidades da equipe: /home/matheus/Downloads/message.txt</a:t>
            </a:r>
          </a:p>
          <a:p xmlns:a="http://schemas.openxmlformats.org/drawingml/2006/main">
            <a:r>
              <a:t>- Fotos fornecidas pelo usuário; Átila permanece com placeholder editável porque sua foto não foi enviada.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3d78d9fa7048b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0259c5e46c4d33" /><Relationship Type="http://schemas.openxmlformats.org/officeDocument/2006/relationships/slideLayout" Target="/ppt/slideLayouts/slideLayout1.xml" Id="Rfd156334a76f4db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156334a76f4d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0f2ba3dd141b7" /><Relationship Type="http://schemas.openxmlformats.org/officeDocument/2006/relationships/image" Target="/ppt/media/image.png" Id="R85cee57298674513" /><Relationship Type="http://schemas.openxmlformats.org/officeDocument/2006/relationships/image" Target="/ppt/media/image2.png" Id="R7eafa43518664c32" /><Relationship Type="http://schemas.openxmlformats.org/officeDocument/2006/relationships/image" Target="/ppt/media/image3.png" Id="R3976b4279f144f1c" /><Relationship Type="http://schemas.openxmlformats.org/officeDocument/2006/relationships/image" Target="/ppt/media/image4.png" Id="R4a8ba592b3b34dea" /><Relationship Type="http://schemas.openxmlformats.org/officeDocument/2006/relationships/image" Target="/ppt/media/image5.png" Id="R9e6d12d66b384d93" /><Relationship Type="http://schemas.openxmlformats.org/officeDocument/2006/relationships/notesSlide" Target="/ppt/notesSlides/notesSlide1.xml" Id="R933868dc736042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7fa9640594d4c" /><Relationship Type="http://schemas.openxmlformats.org/officeDocument/2006/relationships/notesSlide" Target="/ppt/notesSlides/notesSlide2.xml" Id="R2fd6608b8bd045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f750040d6243f9" /><Relationship Type="http://schemas.openxmlformats.org/officeDocument/2006/relationships/notesSlide" Target="/ppt/notesSlides/notesSlide3.xml" Id="R64436962f99946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91a8de23343d2" /><Relationship Type="http://schemas.openxmlformats.org/officeDocument/2006/relationships/notesSlide" Target="/ppt/notesSlides/notesSlide4.xml" Id="R96532852be5946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e77dd0532d4ed8" /><Relationship Type="http://schemas.openxmlformats.org/officeDocument/2006/relationships/notesSlide" Target="/ppt/notesSlides/notesSlide5.xml" Id="R01aa99a74ca04f9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534678d4cd4048" /><Relationship Type="http://schemas.openxmlformats.org/officeDocument/2006/relationships/image" Target="/ppt/media/image6.png" Id="R4c3ed99d769049b7" /><Relationship Type="http://schemas.openxmlformats.org/officeDocument/2006/relationships/notesSlide" Target="/ppt/notesSlides/notesSlide6.xml" Id="R9fc83c57dae445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4d1dc181a04d48" /><Relationship Type="http://schemas.openxmlformats.org/officeDocument/2006/relationships/image" Target="/ppt/media/image6.png" Id="R7918ae19ebfe4f61" /><Relationship Type="http://schemas.openxmlformats.org/officeDocument/2006/relationships/image" Target="/ppt/media/image.bin" Id="Rbb4ffb67774c482e" /><Relationship Type="http://schemas.openxmlformats.org/officeDocument/2006/relationships/image" Target="/ppt/media/image2.bin" Id="Ra0c5fe713b814650" /><Relationship Type="http://schemas.openxmlformats.org/officeDocument/2006/relationships/notesSlide" Target="/ppt/notesSlides/notesSlide7.xml" Id="R255eb151a32945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3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hero-photo-frame">
            <a:extLst xmlns:a="http://schemas.openxmlformats.org/drawingml/2006/main">
              <a:ext uri="{FF2B5EF4-FFF2-40B4-BE49-F238E27FC236}">
                <a16:creationId xmlns:a16="http://schemas.microsoft.com/office/drawing/2014/main" id="{DAB72C10-3853-4814-B4AA-C7805345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2450"/>
            <a:ext cx="5334000" cy="6305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2F2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cee5729867451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858000" y="552450"/>
            <a:ext cx="5334000" cy="6305550"/>
          </a:xfrm>
          <a:prstGeom xmlns:a="http://schemas.openxmlformats.org/drawingml/2006/main" prst="rect">
            <a:avLst/>
          </a:prstGeom>
        </p:spPr>
      </p:pic>
      <p:sp>
        <p:nvSpPr>
          <p:cNvPr id="3" name="partner-strip">
            <a:extLst xmlns:a="http://schemas.openxmlformats.org/drawingml/2006/main">
              <a:ext uri="{FF2B5EF4-FFF2-40B4-BE49-F238E27FC236}">
                <a16:creationId xmlns:a16="http://schemas.microsoft.com/office/drawing/2014/main" id="{2E490259-1383-4472-9CCE-9305AC1F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7C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afa43518664c32"/>
          <a:stretch xmlns:a="http://schemas.openxmlformats.org/drawingml/2006/main"/>
        </p:blipFill>
        <p:spPr>
          <a:xfrm xmlns:a="http://schemas.openxmlformats.org/drawingml/2006/main">
            <a:off x="875087" y="76200"/>
            <a:ext cx="764427" cy="400050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76b4279f144f1c"/>
          <a:stretch xmlns:a="http://schemas.openxmlformats.org/drawingml/2006/main"/>
        </p:blipFill>
        <p:spPr>
          <a:xfrm xmlns:a="http://schemas.openxmlformats.org/drawingml/2006/main">
            <a:off x="9063960" y="123825"/>
            <a:ext cx="483931" cy="304800"/>
          </a:xfrm>
          <a:prstGeom xmlns:a="http://schemas.openxmlformats.org/drawingml/2006/main" prst="rect">
            <a:avLst/>
          </a:prstGeom>
        </p:spPr>
      </p:pic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8ba592b3b34dea"/>
          <a:stretch xmlns:a="http://schemas.openxmlformats.org/drawingml/2006/main"/>
        </p:blipFill>
        <p:spPr>
          <a:xfrm xmlns:a="http://schemas.openxmlformats.org/drawingml/2006/main">
            <a:off x="9969341" y="95250"/>
            <a:ext cx="768668" cy="361950"/>
          </a:xfrm>
          <a:prstGeom xmlns:a="http://schemas.openxmlformats.org/drawingml/2006/main" prst="rect">
            <a:avLst/>
          </a:prstGeom>
        </p:spPr>
      </p:pic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d12d66b384d93"/>
          <a:stretch xmlns:a="http://schemas.openxmlformats.org/drawingml/2006/main"/>
        </p:blipFill>
        <p:spPr>
          <a:xfrm xmlns:a="http://schemas.openxmlformats.org/drawingml/2006/main">
            <a:off x="10991850" y="137201"/>
            <a:ext cx="895350" cy="278048"/>
          </a:xfrm>
          <a:prstGeom xmlns:a="http://schemas.openxmlformats.org/drawingml/2006/main" prst="rect">
            <a:avLst/>
          </a:prstGeom>
        </p:spPr>
      </p:pic>
      <p:sp>
        <p:nvSpPr>
          <p:cNvPr id="8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A9D35DC7-4BB6-455A-968F-3DBF1358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581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1425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AGROTURTLES  ·  INTERFACE IMERSIVA</a:t>
            </a:r>
          </a:p>
        </p:txBody>
      </p:sp>
      <p:sp>
        <p:nvSpPr>
          <p:cNvPr id="9" name="cover-title-maestro">
            <a:extLst xmlns:a="http://schemas.openxmlformats.org/drawingml/2006/main">
              <a:ext uri="{FF2B5EF4-FFF2-40B4-BE49-F238E27FC236}">
                <a16:creationId xmlns:a16="http://schemas.microsoft.com/office/drawing/2014/main" id="{952E3517-1FA3-4E3E-9256-53849CDE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6191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buNone/>
              <a:defRPr sz="72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72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MAESTRO</a:t>
            </a:r>
          </a:p>
        </p:txBody>
      </p:sp>
      <p:sp>
        <p:nvSpPr>
          <p:cNvPr id="10" name="cover-title-agricola">
            <a:extLst xmlns:a="http://schemas.openxmlformats.org/drawingml/2006/main">
              <a:ext uri="{FF2B5EF4-FFF2-40B4-BE49-F238E27FC236}">
                <a16:creationId xmlns:a16="http://schemas.microsoft.com/office/drawing/2014/main" id="{227C0A74-03C6-454E-96D1-C405B64B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61912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buNone/>
              <a:defRPr sz="79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79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AGRÍCOLA</a:t>
            </a:r>
          </a:p>
        </p:txBody>
      </p:sp>
      <p:sp>
        <p:nvSpPr>
          <p:cNvPr id="11" name="cover-tagline">
            <a:extLst xmlns:a="http://schemas.openxmlformats.org/drawingml/2006/main">
              <a:ext uri="{FF2B5EF4-FFF2-40B4-BE49-F238E27FC236}">
                <a16:creationId xmlns:a16="http://schemas.microsoft.com/office/drawing/2014/main" id="{A7775A19-ADDC-4093-91D4-395B9071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528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2325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OLHE.  FALE.  CONFIRME.</a:t>
            </a:r>
          </a:p>
        </p:txBody>
      </p:sp>
      <p:sp>
        <p:nvSpPr>
          <p:cNvPr id="12" name="cover-rule">
            <a:extLst xmlns:a="http://schemas.openxmlformats.org/drawingml/2006/main">
              <a:ext uri="{FF2B5EF4-FFF2-40B4-BE49-F238E27FC236}">
                <a16:creationId xmlns:a16="http://schemas.microsoft.com/office/drawing/2014/main" id="{49184E3A-D63B-4A74-A0CF-812D6D16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3400"/>
            <a:ext cx="11049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68C3527A-1A01-4791-AA8C-9F334767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91050"/>
            <a:ext cx="5562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9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Uma interface hands-free entre intenção humana e máquinas agrícolas autônomas.</a:t>
            </a:r>
          </a:p>
        </p:txBody>
      </p:sp>
      <p:sp>
        <p:nvSpPr>
          <p:cNvPr id="14" name="cover-impact">
            <a:extLst xmlns:a="http://schemas.openxmlformats.org/drawingml/2006/main">
              <a:ext uri="{FF2B5EF4-FFF2-40B4-BE49-F238E27FC236}">
                <a16:creationId xmlns:a16="http://schemas.microsoft.com/office/drawing/2014/main" id="{E99A9933-8E0E-4D04-AD6F-F27C6A7D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76950"/>
            <a:ext cx="600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VISÃO + VOZ  ·  IA LOCAL  ·  CONFIRMAÇÃO EXPLÍCITA</a:t>
            </a:r>
          </a:p>
        </p:txBody>
      </p:sp>
      <p:sp>
        <p:nvSpPr>
          <p:cNvPr id="15" name="photo-separator">
            <a:extLst xmlns:a="http://schemas.openxmlformats.org/drawingml/2006/main">
              <a:ext uri="{FF2B5EF4-FFF2-40B4-BE49-F238E27FC236}">
                <a16:creationId xmlns:a16="http://schemas.microsoft.com/office/drawing/2014/main" id="{83F16F49-A2FF-41E0-B2EF-0DC6B039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52450"/>
            <a:ext cx="114300" cy="6305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</p:spTree>
    <p:transition spd="med" advClick="1">
      <p:fade/>
    </p:transition>
    <p:extLst>
      <p:ext uri="{BB962C8B-B14F-4D97-AF65-F5344CB8AC3E}">
        <p14:creationId xmlns:p14="http://schemas.microsoft.com/office/powerpoint/2010/main" val="17739581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E7C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02">
            <a:extLst xmlns:a="http://schemas.openxmlformats.org/drawingml/2006/main">
              <a:ext uri="{FF2B5EF4-FFF2-40B4-BE49-F238E27FC236}">
                <a16:creationId xmlns:a16="http://schemas.microsoft.com/office/drawing/2014/main" id="{0FA246A5-E513-48A6-B01B-86708B2F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02  /  O PROBLEMA</a:t>
            </a:r>
          </a:p>
        </p:txBody>
      </p:sp>
      <p:sp>
        <p:nvSpPr>
          <p:cNvPr id="2" name="page-02">
            <a:extLst xmlns:a="http://schemas.openxmlformats.org/drawingml/2006/main">
              <a:ext uri="{FF2B5EF4-FFF2-40B4-BE49-F238E27FC236}">
                <a16:creationId xmlns:a16="http://schemas.microsoft.com/office/drawing/2014/main" id="{2170ABF8-EB60-4111-97BB-1FFEDCD6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02</a:t>
            </a:r>
          </a:p>
        </p:txBody>
      </p:sp>
      <p:sp>
        <p:nvSpPr>
          <p:cNvPr id="3" name="problem-headline">
            <a:extLst xmlns:a="http://schemas.openxmlformats.org/drawingml/2006/main">
              <a:ext uri="{FF2B5EF4-FFF2-40B4-BE49-F238E27FC236}">
                <a16:creationId xmlns:a16="http://schemas.microsoft.com/office/drawing/2014/main" id="{4DE4788B-D82B-4446-A329-CF51D5D13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9150"/>
            <a:ext cx="6762750" cy="3600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3000"/>
              </a:lnSpc>
              <a:buNone/>
              <a:defRPr sz="525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525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A MÁQUINA É</a:t>
            </a:r>
          </a:p>
          <a:p xmlns:a="http://schemas.openxmlformats.org/drawingml/2006/main">
            <a:pPr algn="l">
              <a:lnSpc>
                <a:spcPct val="83000"/>
              </a:lnSpc>
              <a:buNone/>
              <a:defRPr sz="525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525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AUTÔNOMA.</a:t>
            </a:r>
          </a:p>
          <a:p xmlns:a="http://schemas.openxmlformats.org/drawingml/2006/main">
            <a:pPr algn="l">
              <a:lnSpc>
                <a:spcPct val="83000"/>
              </a:lnSpc>
              <a:buNone/>
              <a:defRPr sz="525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525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A INTERFACE</a:t>
            </a:r>
          </a:p>
          <a:p xmlns:a="http://schemas.openxmlformats.org/drawingml/2006/main">
            <a:pPr algn="l">
              <a:lnSpc>
                <a:spcPct val="83000"/>
              </a:lnSpc>
              <a:buNone/>
              <a:defRPr sz="525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525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AINDA NÃO.</a:t>
            </a:r>
          </a:p>
        </p:txBody>
      </p:sp>
      <p:sp>
        <p:nvSpPr>
          <p:cNvPr id="4" name="problem-process">
            <a:extLst xmlns:a="http://schemas.openxmlformats.org/drawingml/2006/main">
              <a:ext uri="{FF2B5EF4-FFF2-40B4-BE49-F238E27FC236}">
                <a16:creationId xmlns:a16="http://schemas.microsoft.com/office/drawing/2014/main" id="{D69062BA-682A-4B6B-B269-81DF06DB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720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6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575" b="1" i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PARAR  →  ABRIR UMA TELA  →  NAVEGAR  →  VOLTAR À OPERAÇÃO</a:t>
            </a:r>
          </a:p>
        </p:txBody>
      </p:sp>
      <p:sp>
        <p:nvSpPr>
          <p:cNvPr id="5" name="problem-stat-block">
            <a:extLst xmlns:a="http://schemas.openxmlformats.org/drawingml/2006/main">
              <a:ext uri="{FF2B5EF4-FFF2-40B4-BE49-F238E27FC236}">
                <a16:creationId xmlns:a16="http://schemas.microsoft.com/office/drawing/2014/main" id="{061DA603-F32B-43A5-8D7A-D950960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781050"/>
            <a:ext cx="4095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3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wo-operators">
            <a:extLst xmlns:a="http://schemas.openxmlformats.org/drawingml/2006/main">
              <a:ext uri="{FF2B5EF4-FFF2-40B4-BE49-F238E27FC236}">
                <a16:creationId xmlns:a16="http://schemas.microsoft.com/office/drawing/2014/main" id="{6D93D777-B2BD-45CB-82C4-0E9DE48B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97155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2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52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TELA</a:t>
            </a:r>
          </a:p>
        </p:txBody>
      </p:sp>
      <p:sp>
        <p:nvSpPr>
          <p:cNvPr id="7" name="operators-label">
            <a:extLst xmlns:a="http://schemas.openxmlformats.org/drawingml/2006/main">
              <a:ext uri="{FF2B5EF4-FFF2-40B4-BE49-F238E27FC236}">
                <a16:creationId xmlns:a16="http://schemas.microsoft.com/office/drawing/2014/main" id="{86734022-167D-4EAC-8743-81252500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885950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217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INTERROMPE O FLUXO</a:t>
            </a:r>
          </a:p>
        </p:txBody>
      </p:sp>
      <p:sp>
        <p:nvSpPr>
          <p:cNvPr id="8" name="operators-detail">
            <a:extLst xmlns:a="http://schemas.openxmlformats.org/drawingml/2006/main">
              <a:ext uri="{FF2B5EF4-FFF2-40B4-BE49-F238E27FC236}">
                <a16:creationId xmlns:a16="http://schemas.microsoft.com/office/drawing/2014/main" id="{893B48F1-BFC1-44BA-86BF-548529C08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45745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8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PARAR  →  ABRIR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8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NAVEGAR  →  RETOMAR</a:t>
            </a:r>
          </a:p>
        </p:txBody>
      </p:sp>
      <p:sp>
        <p:nvSpPr>
          <p:cNvPr id="9" name="problem-stat-rule">
            <a:extLst xmlns:a="http://schemas.openxmlformats.org/drawingml/2006/main">
              <a:ext uri="{FF2B5EF4-FFF2-40B4-BE49-F238E27FC236}">
                <a16:creationId xmlns:a16="http://schemas.microsoft.com/office/drawing/2014/main" id="{289E3999-2044-4171-B243-AC5087D8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238500"/>
            <a:ext cx="3371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nnectivity-number">
            <a:extLst xmlns:a="http://schemas.openxmlformats.org/drawingml/2006/main">
              <a:ext uri="{FF2B5EF4-FFF2-40B4-BE49-F238E27FC236}">
                <a16:creationId xmlns:a16="http://schemas.microsoft.com/office/drawing/2014/main" id="{F57E994C-6038-45E3-859F-48275ABA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48050"/>
            <a:ext cx="333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0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40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20–30%</a:t>
            </a:r>
          </a:p>
        </p:txBody>
      </p:sp>
      <p:sp>
        <p:nvSpPr>
          <p:cNvPr id="11" name="connectivity-caption">
            <a:extLst xmlns:a="http://schemas.openxmlformats.org/drawingml/2006/main">
              <a:ext uri="{FF2B5EF4-FFF2-40B4-BE49-F238E27FC236}">
                <a16:creationId xmlns:a16="http://schemas.microsoft.com/office/drawing/2014/main" id="{8950AA06-F2E7-49C3-ACEF-F76DACB4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291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50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MENOS CUSTO OPERACIONAL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50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+ RETRABALHO*</a:t>
            </a:r>
          </a:p>
        </p:txBody>
      </p:sp>
      <p:sp>
        <p:nvSpPr>
          <p:cNvPr id="12" name="obstacle-band">
            <a:extLst xmlns:a="http://schemas.openxmlformats.org/drawingml/2006/main">
              <a:ext uri="{FF2B5EF4-FFF2-40B4-BE49-F238E27FC236}">
                <a16:creationId xmlns:a16="http://schemas.microsoft.com/office/drawing/2014/main" id="{955C0EA9-59DD-47A4-8745-9069079B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91150"/>
            <a:ext cx="12192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2F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stacles">
            <a:extLst xmlns:a="http://schemas.openxmlformats.org/drawingml/2006/main">
              <a:ext uri="{FF2B5EF4-FFF2-40B4-BE49-F238E27FC236}">
                <a16:creationId xmlns:a16="http://schemas.microsoft.com/office/drawing/2014/main" id="{44C27C29-ED6C-4685-BF75-B6D77CEC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95950"/>
            <a:ext cx="11010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22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SOL    /    POEIRA    /    LUVAS    /    MÃOS OCUPADAS</a:t>
            </a:r>
          </a:p>
        </p:txBody>
      </p:sp>
      <p:sp>
        <p:nvSpPr>
          <p:cNvPr id="14" name="problem-footnote">
            <a:extLst xmlns:a="http://schemas.openxmlformats.org/drawingml/2006/main">
              <a:ext uri="{FF2B5EF4-FFF2-40B4-BE49-F238E27FC236}">
                <a16:creationId xmlns:a16="http://schemas.microsoft.com/office/drawing/2014/main" id="{C59857FA-05EA-4A72-AE5F-E0C8FDC2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0080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B7C2B8"/>
                </a:solidFill>
                <a:latin typeface="League Spartan"/>
                <a:ea typeface="League Spartan"/>
                <a:cs typeface="League Spartan"/>
              </a:defRPr>
            </a:pPr>
            <a:r>
              <a:rPr sz="975" b="0" i="0">
                <a:solidFill>
                  <a:srgbClr val="B7C2B8"/>
                </a:solidFill>
                <a:latin typeface="League Spartan"/>
                <a:ea typeface="League Spartan"/>
                <a:cs typeface="League Spartan"/>
              </a:rPr>
              <a:t>* OPORTUNIDADE ESTIMADA; VALIDAR NO PILOTO DE CAMPO.</a:t>
            </a:r>
          </a:p>
        </p:txBody>
      </p:sp>
    </p:spTree>
    <p:transition spd="med" advClick="1">
      <p:push dir="l"/>
    </p:transition>
    <p:extLst>
      <p:ext uri="{BB962C8B-B14F-4D97-AF65-F5344CB8AC3E}">
        <p14:creationId xmlns:p14="http://schemas.microsoft.com/office/powerpoint/2010/main" val="3589681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C9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03">
            <a:extLst xmlns:a="http://schemas.openxmlformats.org/drawingml/2006/main">
              <a:ext uri="{FF2B5EF4-FFF2-40B4-BE49-F238E27FC236}">
                <a16:creationId xmlns:a16="http://schemas.microsoft.com/office/drawing/2014/main" id="{99D040B9-0C73-4E0C-8465-AA25674F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03  /  A EXPERIÊNCIA</a:t>
            </a:r>
          </a:p>
        </p:txBody>
      </p:sp>
      <p:sp>
        <p:nvSpPr>
          <p:cNvPr id="2" name="page-03">
            <a:extLst xmlns:a="http://schemas.openxmlformats.org/drawingml/2006/main">
              <a:ext uri="{FF2B5EF4-FFF2-40B4-BE49-F238E27FC236}">
                <a16:creationId xmlns:a16="http://schemas.microsoft.com/office/drawing/2014/main" id="{668CE107-DDA6-474C-B5F3-AA35BB7D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03</a:t>
            </a:r>
          </a:p>
        </p:txBody>
      </p:sp>
      <p:sp>
        <p:nvSpPr>
          <p:cNvPr id="3" name="experience-title">
            <a:extLst xmlns:a="http://schemas.openxmlformats.org/drawingml/2006/main">
              <a:ext uri="{FF2B5EF4-FFF2-40B4-BE49-F238E27FC236}">
                <a16:creationId xmlns:a16="http://schemas.microsoft.com/office/drawing/2014/main" id="{2A1F5547-62BC-4FC9-82AF-C9959CA8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4953000" cy="33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4000"/>
              </a:lnSpc>
              <a:buNone/>
              <a:defRPr sz="57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57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3 AÇÕES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57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57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SUBSTITUEM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57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57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1 TELA.</a:t>
            </a:r>
          </a:p>
        </p:txBody>
      </p:sp>
      <p:sp>
        <p:nvSpPr>
          <p:cNvPr id="4" name="experience-thesis">
            <a:extLst xmlns:a="http://schemas.openxmlformats.org/drawingml/2006/main">
              <a:ext uri="{FF2B5EF4-FFF2-40B4-BE49-F238E27FC236}">
                <a16:creationId xmlns:a16="http://schemas.microsoft.com/office/drawing/2014/main" id="{71C4D243-9542-4598-88E1-C8D0F053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0535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875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Olhar, falar e confirmar — sem interromper a operação.</a:t>
            </a:r>
          </a:p>
        </p:txBody>
      </p:sp>
      <p:sp>
        <p:nvSpPr>
          <p:cNvPr id="5" name="prehardware">
            <a:extLst xmlns:a="http://schemas.openxmlformats.org/drawingml/2006/main">
              <a:ext uri="{FF2B5EF4-FFF2-40B4-BE49-F238E27FC236}">
                <a16:creationId xmlns:a16="http://schemas.microsoft.com/office/drawing/2014/main" id="{8D191395-B4DD-4198-81A8-5030A8C8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DAT 0.9.0 + MockDeviceKit  ·  PRÉ-HARDWARE</a:t>
            </a:r>
          </a:p>
        </p:txBody>
      </p:sp>
      <p:sp>
        <p:nvSpPr>
          <p:cNvPr id="6" name="step-number-01">
            <a:extLst xmlns:a="http://schemas.openxmlformats.org/drawingml/2006/main">
              <a:ext uri="{FF2B5EF4-FFF2-40B4-BE49-F238E27FC236}">
                <a16:creationId xmlns:a16="http://schemas.microsoft.com/office/drawing/2014/main" id="{CBA10BC5-2934-4DF2-A026-0C9985E9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971550"/>
            <a:ext cx="12001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51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01</a:t>
            </a:r>
          </a:p>
        </p:txBody>
      </p:sp>
      <p:sp>
        <p:nvSpPr>
          <p:cNvPr id="7" name="step-word-01">
            <a:extLst xmlns:a="http://schemas.openxmlformats.org/drawingml/2006/main">
              <a:ext uri="{FF2B5EF4-FFF2-40B4-BE49-F238E27FC236}">
                <a16:creationId xmlns:a16="http://schemas.microsoft.com/office/drawing/2014/main" id="{D735DF0F-360A-4A06-BF61-6C8CF0D4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0096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262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OLHAR</a:t>
            </a:r>
          </a:p>
        </p:txBody>
      </p:sp>
      <p:sp>
        <p:nvSpPr>
          <p:cNvPr id="8" name="step-detail-01">
            <a:extLst xmlns:a="http://schemas.openxmlformats.org/drawingml/2006/main">
              <a:ext uri="{FF2B5EF4-FFF2-40B4-BE49-F238E27FC236}">
                <a16:creationId xmlns:a16="http://schemas.microsoft.com/office/drawing/2014/main" id="{9E4EA63E-A6BF-4B53-8202-59853D3D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5240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575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DAT 0.9.0 + MockDeviceKit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575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575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QR  →  plot-03</a:t>
            </a:r>
          </a:p>
        </p:txBody>
      </p:sp>
      <p:sp>
        <p:nvSpPr>
          <p:cNvPr id="9" name="step-rule-01">
            <a:extLst xmlns:a="http://schemas.openxmlformats.org/drawingml/2006/main">
              <a:ext uri="{FF2B5EF4-FFF2-40B4-BE49-F238E27FC236}">
                <a16:creationId xmlns:a16="http://schemas.microsoft.com/office/drawing/2014/main" id="{BBF37885-CFE7-4A1B-9813-737404E3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24100"/>
            <a:ext cx="542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3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ep-number-02">
            <a:extLst xmlns:a="http://schemas.openxmlformats.org/drawingml/2006/main">
              <a:ext uri="{FF2B5EF4-FFF2-40B4-BE49-F238E27FC236}">
                <a16:creationId xmlns:a16="http://schemas.microsoft.com/office/drawing/2014/main" id="{611DE474-1EB3-451A-BCE0-EF777ED8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05100"/>
            <a:ext cx="12001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51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02</a:t>
            </a:r>
          </a:p>
        </p:txBody>
      </p:sp>
      <p:sp>
        <p:nvSpPr>
          <p:cNvPr id="11" name="step-word-02">
            <a:extLst xmlns:a="http://schemas.openxmlformats.org/drawingml/2006/main">
              <a:ext uri="{FF2B5EF4-FFF2-40B4-BE49-F238E27FC236}">
                <a16:creationId xmlns:a16="http://schemas.microsoft.com/office/drawing/2014/main" id="{3BB5A038-5909-4D4C-AE43-330C0D99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4320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262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FALAR</a:t>
            </a:r>
          </a:p>
        </p:txBody>
      </p:sp>
      <p:sp>
        <p:nvSpPr>
          <p:cNvPr id="12" name="step-detail-02">
            <a:extLst xmlns:a="http://schemas.openxmlformats.org/drawingml/2006/main">
              <a:ext uri="{FF2B5EF4-FFF2-40B4-BE49-F238E27FC236}">
                <a16:creationId xmlns:a16="http://schemas.microsoft.com/office/drawing/2014/main" id="{792128A2-7851-4D7C-98E7-CF4D82A3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575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575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SpeechRecognizer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575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575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IA local no Android</a:t>
            </a:r>
          </a:p>
        </p:txBody>
      </p:sp>
      <p:sp>
        <p:nvSpPr>
          <p:cNvPr id="13" name="step-rule-02">
            <a:extLst xmlns:a="http://schemas.openxmlformats.org/drawingml/2006/main">
              <a:ext uri="{FF2B5EF4-FFF2-40B4-BE49-F238E27FC236}">
                <a16:creationId xmlns:a16="http://schemas.microsoft.com/office/drawing/2014/main" id="{825860F9-49D8-4184-BCC7-E2EE9D8D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57650"/>
            <a:ext cx="542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3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ep-number-03">
            <a:extLst xmlns:a="http://schemas.openxmlformats.org/drawingml/2006/main">
              <a:ext uri="{FF2B5EF4-FFF2-40B4-BE49-F238E27FC236}">
                <a16:creationId xmlns:a16="http://schemas.microsoft.com/office/drawing/2014/main" id="{880906B1-EB21-4DD3-987A-513D7ADF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438650"/>
            <a:ext cx="12001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51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03</a:t>
            </a:r>
          </a:p>
        </p:txBody>
      </p:sp>
      <p:sp>
        <p:nvSpPr>
          <p:cNvPr id="15" name="step-word-03">
            <a:extLst xmlns:a="http://schemas.openxmlformats.org/drawingml/2006/main">
              <a:ext uri="{FF2B5EF4-FFF2-40B4-BE49-F238E27FC236}">
                <a16:creationId xmlns:a16="http://schemas.microsoft.com/office/drawing/2014/main" id="{9A15AE5E-E352-4009-B5F6-5A3128DF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767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262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CONFIRMAR</a:t>
            </a:r>
          </a:p>
        </p:txBody>
      </p:sp>
      <p:sp>
        <p:nvSpPr>
          <p:cNvPr id="16" name="step-detail-03">
            <a:extLst xmlns:a="http://schemas.openxmlformats.org/drawingml/2006/main">
              <a:ext uri="{FF2B5EF4-FFF2-40B4-BE49-F238E27FC236}">
                <a16:creationId xmlns:a16="http://schemas.microsoft.com/office/drawing/2014/main" id="{9972BBDA-2193-4505-8B1C-65867B93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9911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575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TTS repete a operação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575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575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Só a confirmação libera</a:t>
            </a:r>
          </a:p>
        </p:txBody>
      </p:sp>
      <p:sp>
        <p:nvSpPr>
          <p:cNvPr id="17" name="security-band">
            <a:extLst xmlns:a="http://schemas.openxmlformats.org/drawingml/2006/main">
              <a:ext uri="{FF2B5EF4-FFF2-40B4-BE49-F238E27FC236}">
                <a16:creationId xmlns:a16="http://schemas.microsoft.com/office/drawing/2014/main" id="{144F72E2-96CE-47A9-8726-1C9DA1C8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2F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ecurity-copy">
            <a:extLst xmlns:a="http://schemas.openxmlformats.org/drawingml/2006/main">
              <a:ext uri="{FF2B5EF4-FFF2-40B4-BE49-F238E27FC236}">
                <a16:creationId xmlns:a16="http://schemas.microsoft.com/office/drawing/2014/main" id="{1D18C7D9-8688-45FE-8739-FE77E71A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00800"/>
            <a:ext cx="1116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3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VOZ ≠ CÂMERA  →  NENHUM MOVIMENTO     ·     CANCEL / UNKNOWN  →  NENHUM MOVIMENTO</a:t>
            </a:r>
          </a:p>
        </p:txBody>
      </p:sp>
    </p:spTree>
    <p:transition spd="med" advClick="1">
      <p:fade/>
    </p:transition>
    <p:extLst>
      <p:ext uri="{BB962C8B-B14F-4D97-AF65-F5344CB8AC3E}">
        <p14:creationId xmlns:p14="http://schemas.microsoft.com/office/powerpoint/2010/main" val="16716042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F3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04">
            <a:extLst xmlns:a="http://schemas.openxmlformats.org/drawingml/2006/main">
              <a:ext uri="{FF2B5EF4-FFF2-40B4-BE49-F238E27FC236}">
                <a16:creationId xmlns:a16="http://schemas.microsoft.com/office/drawing/2014/main" id="{E9C9CFDD-686B-48DA-B371-FAB76FFA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04  /  IA + ARQUITETURA</a:t>
            </a:r>
          </a:p>
        </p:txBody>
      </p:sp>
      <p:sp>
        <p:nvSpPr>
          <p:cNvPr id="2" name="page-04">
            <a:extLst xmlns:a="http://schemas.openxmlformats.org/drawingml/2006/main">
              <a:ext uri="{FF2B5EF4-FFF2-40B4-BE49-F238E27FC236}">
                <a16:creationId xmlns:a16="http://schemas.microsoft.com/office/drawing/2014/main" id="{2D160F7B-493E-4822-A5E0-EC432425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04</a:t>
            </a:r>
          </a:p>
        </p:txBody>
      </p:sp>
      <p:sp>
        <p:nvSpPr>
          <p:cNvPr id="3" name="architecture-title">
            <a:extLst xmlns:a="http://schemas.openxmlformats.org/drawingml/2006/main">
              <a:ext uri="{FF2B5EF4-FFF2-40B4-BE49-F238E27FC236}">
                <a16:creationId xmlns:a16="http://schemas.microsoft.com/office/drawing/2014/main" id="{C48FB9D0-EDD2-416A-B763-508765145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0100"/>
            <a:ext cx="9906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40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40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DO OLHAR AO NAV2 —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40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40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SEM DAR O VOLANTE AO LLM.</a:t>
            </a:r>
          </a:p>
        </p:txBody>
      </p:sp>
      <p:sp>
        <p:nvSpPr>
          <p:cNvPr id="4" name="architecture-thesis">
            <a:extLst xmlns:a="http://schemas.openxmlformats.org/drawingml/2006/main">
              <a:ext uri="{FF2B5EF4-FFF2-40B4-BE49-F238E27FC236}">
                <a16:creationId xmlns:a16="http://schemas.microsoft.com/office/drawing/2014/main" id="{90579766-B5D5-4286-9626-27928EB6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28850"/>
            <a:ext cx="847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1725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Qwen conversa. O classificador decide. A confirmação libera.</a:t>
            </a:r>
          </a:p>
        </p:txBody>
      </p:sp>
      <p:sp>
        <p:nvSpPr>
          <p:cNvPr id="5" name="arch-number-01">
            <a:extLst xmlns:a="http://schemas.openxmlformats.org/drawingml/2006/main">
              <a:ext uri="{FF2B5EF4-FFF2-40B4-BE49-F238E27FC236}">
                <a16:creationId xmlns:a16="http://schemas.microsoft.com/office/drawing/2014/main" id="{0BD9A18D-95D6-4516-ABAA-F06E06B9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95600"/>
            <a:ext cx="78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34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01</a:t>
            </a:r>
          </a:p>
        </p:txBody>
      </p:sp>
      <p:sp>
        <p:nvSpPr>
          <p:cNvPr id="6" name="arch-word-01">
            <a:extLst xmlns:a="http://schemas.openxmlformats.org/drawingml/2006/main">
              <a:ext uri="{FF2B5EF4-FFF2-40B4-BE49-F238E27FC236}">
                <a16:creationId xmlns:a16="http://schemas.microsoft.com/office/drawing/2014/main" id="{20E263BF-5ADF-43D0-B0C0-E23931F4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81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CAPTURA</a:t>
            </a:r>
          </a:p>
        </p:txBody>
      </p:sp>
      <p:sp>
        <p:nvSpPr>
          <p:cNvPr id="7" name="arch-detail-01">
            <a:extLst xmlns:a="http://schemas.openxmlformats.org/drawingml/2006/main">
              <a:ext uri="{FF2B5EF4-FFF2-40B4-BE49-F238E27FC236}">
                <a16:creationId xmlns:a16="http://schemas.microsoft.com/office/drawing/2014/main" id="{62F77C9E-3866-4DAD-A1C9-C6B4DC67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95750"/>
            <a:ext cx="2209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DAT 0.9.0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SpeechRecognizer</a:t>
            </a:r>
          </a:p>
        </p:txBody>
      </p:sp>
      <p:sp>
        <p:nvSpPr>
          <p:cNvPr id="8" name="arch-number-02">
            <a:extLst xmlns:a="http://schemas.openxmlformats.org/drawingml/2006/main">
              <a:ext uri="{FF2B5EF4-FFF2-40B4-BE49-F238E27FC236}">
                <a16:creationId xmlns:a16="http://schemas.microsoft.com/office/drawing/2014/main" id="{2A4D6E24-B29B-4B49-AD82-233E83FA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895600"/>
            <a:ext cx="78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34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02</a:t>
            </a:r>
          </a:p>
        </p:txBody>
      </p:sp>
      <p:sp>
        <p:nvSpPr>
          <p:cNvPr id="9" name="arch-word-02">
            <a:extLst xmlns:a="http://schemas.openxmlformats.org/drawingml/2006/main">
              <a:ext uri="{FF2B5EF4-FFF2-40B4-BE49-F238E27FC236}">
                <a16:creationId xmlns:a16="http://schemas.microsoft.com/office/drawing/2014/main" id="{209B865C-BD05-4042-99A4-ACE730C0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581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DECIDE</a:t>
            </a:r>
          </a:p>
        </p:txBody>
      </p:sp>
      <p:sp>
        <p:nvSpPr>
          <p:cNvPr id="10" name="arch-detail-02">
            <a:extLst xmlns:a="http://schemas.openxmlformats.org/drawingml/2006/main">
              <a:ext uri="{FF2B5EF4-FFF2-40B4-BE49-F238E27FC236}">
                <a16:creationId xmlns:a16="http://schemas.microsoft.com/office/drawing/2014/main" id="{977D9ABD-B21A-40F0-AC4B-F25BC797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95750"/>
            <a:ext cx="2209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LocalIntentClassifier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TargetResolver</a:t>
            </a:r>
          </a:p>
        </p:txBody>
      </p:sp>
      <p:sp>
        <p:nvSpPr>
          <p:cNvPr id="11" name="arch-number-03">
            <a:extLst xmlns:a="http://schemas.openxmlformats.org/drawingml/2006/main">
              <a:ext uri="{FF2B5EF4-FFF2-40B4-BE49-F238E27FC236}">
                <a16:creationId xmlns:a16="http://schemas.microsoft.com/office/drawing/2014/main" id="{12E7D2E2-90A0-48BD-8525-C938F8C2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895600"/>
            <a:ext cx="78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34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03</a:t>
            </a:r>
          </a:p>
        </p:txBody>
      </p:sp>
      <p:sp>
        <p:nvSpPr>
          <p:cNvPr id="12" name="arch-word-03">
            <a:extLst xmlns:a="http://schemas.openxmlformats.org/drawingml/2006/main">
              <a:ext uri="{FF2B5EF4-FFF2-40B4-BE49-F238E27FC236}">
                <a16:creationId xmlns:a16="http://schemas.microsoft.com/office/drawing/2014/main" id="{FA30A4E1-380F-43B5-BBEC-E1E3D586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581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CONFIRMA</a:t>
            </a:r>
          </a:p>
        </p:txBody>
      </p:sp>
      <p:sp>
        <p:nvSpPr>
          <p:cNvPr id="13" name="arch-detail-03">
            <a:extLst xmlns:a="http://schemas.openxmlformats.org/drawingml/2006/main">
              <a:ext uri="{FF2B5EF4-FFF2-40B4-BE49-F238E27FC236}">
                <a16:creationId xmlns:a16="http://schemas.microsoft.com/office/drawing/2014/main" id="{27A108BA-E10E-48E3-A34E-FA25A094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095750"/>
            <a:ext cx="2209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Android TTS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“sim” explícito</a:t>
            </a:r>
          </a:p>
        </p:txBody>
      </p:sp>
      <p:sp>
        <p:nvSpPr>
          <p:cNvPr id="14" name="arch-number-04">
            <a:extLst xmlns:a="http://schemas.openxmlformats.org/drawingml/2006/main">
              <a:ext uri="{FF2B5EF4-FFF2-40B4-BE49-F238E27FC236}">
                <a16:creationId xmlns:a16="http://schemas.microsoft.com/office/drawing/2014/main" id="{F8968EEB-152D-434F-92C9-A72A657C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95600"/>
            <a:ext cx="78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34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04</a:t>
            </a:r>
          </a:p>
        </p:txBody>
      </p:sp>
      <p:sp>
        <p:nvSpPr>
          <p:cNvPr id="15" name="arch-word-04">
            <a:extLst xmlns:a="http://schemas.openxmlformats.org/drawingml/2006/main">
              <a:ext uri="{FF2B5EF4-FFF2-40B4-BE49-F238E27FC236}">
                <a16:creationId xmlns:a16="http://schemas.microsoft.com/office/drawing/2014/main" id="{F0F585CD-4D13-4023-B0EA-C52D850A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81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EXECUTA</a:t>
            </a:r>
          </a:p>
        </p:txBody>
      </p:sp>
      <p:sp>
        <p:nvSpPr>
          <p:cNvPr id="16" name="arch-detail-04">
            <a:extLst xmlns:a="http://schemas.openxmlformats.org/drawingml/2006/main">
              <a:ext uri="{FF2B5EF4-FFF2-40B4-BE49-F238E27FC236}">
                <a16:creationId xmlns:a16="http://schemas.microsoft.com/office/drawing/2014/main" id="{69B27B22-0A48-44CD-BAB1-9BAB1C94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95750"/>
            <a:ext cx="2209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WebSocket + JSON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ROS 2 · Nav2 · Gazebo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3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TurtleBot 4</a:t>
            </a:r>
          </a:p>
        </p:txBody>
      </p:sp>
      <p:sp>
        <p:nvSpPr>
          <p:cNvPr id="17" name="arrow-1">
            <a:extLst xmlns:a="http://schemas.openxmlformats.org/drawingml/2006/main">
              <a:ext uri="{FF2B5EF4-FFF2-40B4-BE49-F238E27FC236}">
                <a16:creationId xmlns:a16="http://schemas.microsoft.com/office/drawing/2014/main" id="{F805D48E-5595-4B85-B465-B7C6404A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5814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25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→</a:t>
            </a:r>
          </a:p>
        </p:txBody>
      </p:sp>
      <p:sp>
        <p:nvSpPr>
          <p:cNvPr id="18" name="arrow-2">
            <a:extLst xmlns:a="http://schemas.openxmlformats.org/drawingml/2006/main">
              <a:ext uri="{FF2B5EF4-FFF2-40B4-BE49-F238E27FC236}">
                <a16:creationId xmlns:a16="http://schemas.microsoft.com/office/drawing/2014/main" id="{CD6D4C33-9BE6-4762-B7E2-9710F5DE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5814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25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→</a:t>
            </a:r>
          </a:p>
        </p:txBody>
      </p:sp>
      <p:sp>
        <p:nvSpPr>
          <p:cNvPr id="19" name="arrow-3">
            <a:extLst xmlns:a="http://schemas.openxmlformats.org/drawingml/2006/main">
              <a:ext uri="{FF2B5EF4-FFF2-40B4-BE49-F238E27FC236}">
                <a16:creationId xmlns:a16="http://schemas.microsoft.com/office/drawing/2014/main" id="{F3EAD7FE-D6CF-4698-8840-84DA97896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5814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25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→</a:t>
            </a:r>
          </a:p>
        </p:txBody>
      </p:sp>
      <p:sp>
        <p:nvSpPr>
          <p:cNvPr id="20" name="qwen-band">
            <a:extLst xmlns:a="http://schemas.openxmlformats.org/drawingml/2006/main">
              <a:ext uri="{FF2B5EF4-FFF2-40B4-BE49-F238E27FC236}">
                <a16:creationId xmlns:a16="http://schemas.microsoft.com/office/drawing/2014/main" id="{DF455BC2-B411-47AF-B203-657F74E8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67350"/>
            <a:ext cx="121920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7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qwen-flow">
            <a:extLst xmlns:a="http://schemas.openxmlformats.org/drawingml/2006/main">
              <a:ext uri="{FF2B5EF4-FFF2-40B4-BE49-F238E27FC236}">
                <a16:creationId xmlns:a16="http://schemas.microsoft.com/office/drawing/2014/main" id="{CC6AA0B3-0F60-4ECE-9FAC-113475C0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828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8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UNKNOWN  →  QWEN2.5-1.5B + LLAMA.CPP  →  RESPOSTA POR ÁUDIO</a:t>
            </a:r>
          </a:p>
        </p:txBody>
      </p:sp>
      <p:sp>
        <p:nvSpPr>
          <p:cNvPr id="22" name="qwen-block">
            <a:extLst xmlns:a="http://schemas.openxmlformats.org/drawingml/2006/main">
              <a:ext uri="{FF2B5EF4-FFF2-40B4-BE49-F238E27FC236}">
                <a16:creationId xmlns:a16="http://schemas.microsoft.com/office/drawing/2014/main" id="{4E0F368F-880A-4083-BBC3-18860508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619750"/>
            <a:ext cx="25146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qwen-block-copy">
            <a:extLst xmlns:a="http://schemas.openxmlformats.org/drawingml/2006/main">
              <a:ext uri="{FF2B5EF4-FFF2-40B4-BE49-F238E27FC236}">
                <a16:creationId xmlns:a16="http://schemas.microsoft.com/office/drawing/2014/main" id="{CD8437AD-41C5-496A-A745-B14ACC8C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81025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87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87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SEM ACESSO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87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87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AO ROBÔ</a:t>
            </a:r>
          </a:p>
        </p:txBody>
      </p:sp>
    </p:spTree>
    <p:transition spd="med" advClick="1">
      <p:push dir="l"/>
    </p:transition>
    <p:extLst>
      <p:ext uri="{BB962C8B-B14F-4D97-AF65-F5344CB8AC3E}">
        <p14:creationId xmlns:p14="http://schemas.microsoft.com/office/powerpoint/2010/main" val="18300188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E7C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05">
            <a:extLst xmlns:a="http://schemas.openxmlformats.org/drawingml/2006/main">
              <a:ext uri="{FF2B5EF4-FFF2-40B4-BE49-F238E27FC236}">
                <a16:creationId xmlns:a16="http://schemas.microsoft.com/office/drawing/2014/main" id="{02A6CD38-F7DF-4890-B4F9-4A99D60D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05  /  PROVA + DEMONSTRAÇÃO</a:t>
            </a:r>
          </a:p>
        </p:txBody>
      </p:sp>
      <p:sp>
        <p:nvSpPr>
          <p:cNvPr id="2" name="page-05">
            <a:extLst xmlns:a="http://schemas.openxmlformats.org/drawingml/2006/main">
              <a:ext uri="{FF2B5EF4-FFF2-40B4-BE49-F238E27FC236}">
                <a16:creationId xmlns:a16="http://schemas.microsoft.com/office/drawing/2014/main" id="{FD420B24-6DE2-4299-AEFE-F8DCC134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05</a:t>
            </a:r>
          </a:p>
        </p:txBody>
      </p:sp>
      <p:sp>
        <p:nvSpPr>
          <p:cNvPr id="3" name="proof-title">
            <a:extLst xmlns:a="http://schemas.openxmlformats.org/drawingml/2006/main">
              <a:ext uri="{FF2B5EF4-FFF2-40B4-BE49-F238E27FC236}">
                <a16:creationId xmlns:a16="http://schemas.microsoft.com/office/drawing/2014/main" id="{26DB75F4-2CF7-4256-9F77-E9F776F0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8858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36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36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JÁ FUNCIONA PONTA A PONTA —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36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3600" b="1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E FALHA COM SEGURANÇA.</a:t>
            </a:r>
          </a:p>
        </p:txBody>
      </p:sp>
      <p:sp>
        <p:nvSpPr>
          <p:cNvPr id="4" name="video-placeholder">
            <a:extLst xmlns:a="http://schemas.openxmlformats.org/drawingml/2006/main">
              <a:ext uri="{FF2B5EF4-FFF2-40B4-BE49-F238E27FC236}">
                <a16:creationId xmlns:a16="http://schemas.microsoft.com/office/drawing/2014/main" id="{605AF864-B6E0-4088-A932-2F2FF3B5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708660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2F2A"/>
          </a:solidFill>
          <a:ln xmlns:a="http://schemas.openxmlformats.org/drawingml/2006/main" w="47625">
            <a:solidFill>
              <a:srgbClr val="FCC931"/>
            </a:solidFill>
            <a:prstDash val="solid"/>
          </a:ln>
        </p:spPr>
      </p:sp>
      <p:sp>
        <p:nvSpPr>
          <p:cNvPr id="5" name="video-play">
            <a:extLst xmlns:a="http://schemas.openxmlformats.org/drawingml/2006/main">
              <a:ext uri="{FF2B5EF4-FFF2-40B4-BE49-F238E27FC236}">
                <a16:creationId xmlns:a16="http://schemas.microsoft.com/office/drawing/2014/main" id="{77424A2C-6A71-4426-BCAC-859D9A50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028950"/>
            <a:ext cx="2095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7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▶</a:t>
            </a:r>
          </a:p>
        </p:txBody>
      </p:sp>
      <p:sp>
        <p:nvSpPr>
          <p:cNvPr id="6" name="video-label">
            <a:extLst xmlns:a="http://schemas.openxmlformats.org/drawingml/2006/main">
              <a:ext uri="{FF2B5EF4-FFF2-40B4-BE49-F238E27FC236}">
                <a16:creationId xmlns:a16="http://schemas.microsoft.com/office/drawing/2014/main" id="{228C391C-1A63-4E04-8C76-F17FFA8D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95800"/>
            <a:ext cx="5391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6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INSERIR VÍDEO DE DEMONSTRAÇÃO</a:t>
            </a:r>
          </a:p>
        </p:txBody>
      </p:sp>
      <p:sp>
        <p:nvSpPr>
          <p:cNvPr id="7" name="video-caption">
            <a:extLst xmlns:a="http://schemas.openxmlformats.org/drawingml/2006/main">
              <a:ext uri="{FF2B5EF4-FFF2-40B4-BE49-F238E27FC236}">
                <a16:creationId xmlns:a16="http://schemas.microsoft.com/office/drawing/2014/main" id="{8E3DFC38-E85F-4A79-984A-43D95FBC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0075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0" i="0">
                <a:solidFill>
                  <a:srgbClr val="0F3D35"/>
                </a:solidFill>
                <a:latin typeface="League Spartan"/>
                <a:ea typeface="League Spartan"/>
                <a:cs typeface="League Spartan"/>
              </a:rPr>
              <a:t>Android físico + DAT/MockDeviceKit  →  WebSocket  →  ROS 2/Nav2/Gazebo</a:t>
            </a:r>
          </a:p>
        </p:txBody>
      </p:sp>
      <p:sp>
        <p:nvSpPr>
          <p:cNvPr id="8" name="metrics-panel">
            <a:extLst xmlns:a="http://schemas.openxmlformats.org/drawingml/2006/main">
              <a:ext uri="{FF2B5EF4-FFF2-40B4-BE49-F238E27FC236}">
                <a16:creationId xmlns:a16="http://schemas.microsoft.com/office/drawing/2014/main" id="{5D865643-1F08-4E5C-B39C-A344F1CC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28750"/>
            <a:ext cx="3562350" cy="483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3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metric-64">
            <a:extLst xmlns:a="http://schemas.openxmlformats.org/drawingml/2006/main">
              <a:ext uri="{FF2B5EF4-FFF2-40B4-BE49-F238E27FC236}">
                <a16:creationId xmlns:a16="http://schemas.microsoft.com/office/drawing/2014/main" id="{C9A50ED7-9ECF-49EE-B848-61EB38BE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57350"/>
            <a:ext cx="2895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2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52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64/64</a:t>
            </a:r>
          </a:p>
        </p:txBody>
      </p:sp>
      <p:sp>
        <p:nvSpPr>
          <p:cNvPr id="10" name="metric-64-label">
            <a:extLst xmlns:a="http://schemas.openxmlformats.org/drawingml/2006/main">
              <a:ext uri="{FF2B5EF4-FFF2-40B4-BE49-F238E27FC236}">
                <a16:creationId xmlns:a16="http://schemas.microsoft.com/office/drawing/2014/main" id="{0ECB04B5-38D6-4968-969D-7A1915C5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76500"/>
            <a:ext cx="2743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3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IA OPERACIONAL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3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macro-F1 1,0</a:t>
            </a:r>
          </a:p>
        </p:txBody>
      </p:sp>
      <p:sp>
        <p:nvSpPr>
          <p:cNvPr id="11" name="metric-rule-1">
            <a:extLst xmlns:a="http://schemas.openxmlformats.org/drawingml/2006/main">
              <a:ext uri="{FF2B5EF4-FFF2-40B4-BE49-F238E27FC236}">
                <a16:creationId xmlns:a16="http://schemas.microsoft.com/office/drawing/2014/main" id="{52A11D8F-E9A9-40EA-AD26-C82CDDC4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62300"/>
            <a:ext cx="2686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zero">
            <a:extLst xmlns:a="http://schemas.openxmlformats.org/drawingml/2006/main">
              <a:ext uri="{FF2B5EF4-FFF2-40B4-BE49-F238E27FC236}">
                <a16:creationId xmlns:a16="http://schemas.microsoft.com/office/drawing/2014/main" id="{D9F9957E-2198-485B-A3F1-D51438E5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33750"/>
            <a:ext cx="1066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2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8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58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0</a:t>
            </a:r>
          </a:p>
        </p:txBody>
      </p:sp>
      <p:sp>
        <p:nvSpPr>
          <p:cNvPr id="13" name="metric-zero-label">
            <a:extLst xmlns:a="http://schemas.openxmlformats.org/drawingml/2006/main">
              <a:ext uri="{FF2B5EF4-FFF2-40B4-BE49-F238E27FC236}">
                <a16:creationId xmlns:a16="http://schemas.microsoft.com/office/drawing/2014/main" id="{48EE3218-1FE6-4520-8D6B-F1EE5386E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5433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15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5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ACEITES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15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5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PERIGOSOS</a:t>
            </a:r>
          </a:p>
        </p:txBody>
      </p:sp>
      <p:sp>
        <p:nvSpPr>
          <p:cNvPr id="14" name="metric-rule-2">
            <a:extLst xmlns:a="http://schemas.openxmlformats.org/drawingml/2006/main">
              <a:ext uri="{FF2B5EF4-FFF2-40B4-BE49-F238E27FC236}">
                <a16:creationId xmlns:a16="http://schemas.microsoft.com/office/drawing/2014/main" id="{86CF0BCE-821E-4DE5-AA30-CB7BCCE4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62450"/>
            <a:ext cx="2686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etric-tests">
            <a:extLst xmlns:a="http://schemas.openxmlformats.org/drawingml/2006/main">
              <a:ext uri="{FF2B5EF4-FFF2-40B4-BE49-F238E27FC236}">
                <a16:creationId xmlns:a16="http://schemas.microsoft.com/office/drawing/2014/main" id="{89E00B81-6EEC-4C2B-A223-58BC9052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552950"/>
            <a:ext cx="274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9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39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65 + 36</a:t>
            </a:r>
          </a:p>
        </p:txBody>
      </p:sp>
      <p:sp>
        <p:nvSpPr>
          <p:cNvPr id="16" name="metric-tests-label">
            <a:extLst xmlns:a="http://schemas.openxmlformats.org/drawingml/2006/main">
              <a:ext uri="{FF2B5EF4-FFF2-40B4-BE49-F238E27FC236}">
                <a16:creationId xmlns:a16="http://schemas.microsoft.com/office/drawing/2014/main" id="{4C566BCF-4CDD-4058-B3DE-C7F7AFB8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238750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3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TESTES PASSARAM</a:t>
            </a:r>
          </a:p>
        </p:txBody>
      </p:sp>
      <p:sp>
        <p:nvSpPr>
          <p:cNvPr id="17" name="lifecycle">
            <a:extLst xmlns:a="http://schemas.openxmlformats.org/drawingml/2006/main">
              <a:ext uri="{FF2B5EF4-FFF2-40B4-BE49-F238E27FC236}">
                <a16:creationId xmlns:a16="http://schemas.microsoft.com/office/drawing/2014/main" id="{B6EDD108-92CB-4ECA-BB55-E27F0614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734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6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UNDOCK  →  SPRAY  →  DOCK  →  UNDOCK</a:t>
            </a:r>
          </a:p>
        </p:txBody>
      </p:sp>
    </p:spTree>
    <p:transition spd="med" advClick="1">
      <p:fade/>
    </p:transition>
    <p:extLst>
      <p:ext uri="{BB962C8B-B14F-4D97-AF65-F5344CB8AC3E}">
        <p14:creationId xmlns:p14="http://schemas.microsoft.com/office/powerpoint/2010/main" val="1962042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2F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ection-06">
            <a:extLst xmlns:a="http://schemas.openxmlformats.org/drawingml/2006/main">
              <a:ext uri="{FF2B5EF4-FFF2-40B4-BE49-F238E27FC236}">
                <a16:creationId xmlns:a16="http://schemas.microsoft.com/office/drawing/2014/main" id="{52F87E4F-15CB-4A1F-8C0C-91EBB128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06  /  PRÓXIMAS ETAPAS</a:t>
            </a:r>
          </a:p>
        </p:txBody>
      </p:sp>
      <p:sp>
        <p:nvSpPr>
          <p:cNvPr id="2" name="page-06">
            <a:extLst xmlns:a="http://schemas.openxmlformats.org/drawingml/2006/main">
              <a:ext uri="{FF2B5EF4-FFF2-40B4-BE49-F238E27FC236}">
                <a16:creationId xmlns:a16="http://schemas.microsoft.com/office/drawing/2014/main" id="{412D2457-80EC-4ACF-8E32-787D1ECD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06</a:t>
            </a:r>
          </a:p>
        </p:txBody>
      </p:sp>
      <p:sp>
        <p:nvSpPr>
          <p:cNvPr id="3" name="team-close-kicker">
            <a:extLst xmlns:a="http://schemas.openxmlformats.org/drawingml/2006/main">
              <a:ext uri="{FF2B5EF4-FFF2-40B4-BE49-F238E27FC236}">
                <a16:creationId xmlns:a16="http://schemas.microsoft.com/office/drawing/2014/main" id="{165F1185-DFFA-432F-9A24-4ADA8BDF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781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16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PRÓXIMAS ETAPAS  ·  EXPECTATIVAS  ·  METAS</a:t>
            </a:r>
          </a:p>
        </p:txBody>
      </p:sp>
      <p:sp>
        <p:nvSpPr>
          <p:cNvPr id="4" name="team-close-title">
            <a:extLst xmlns:a="http://schemas.openxmlformats.org/drawingml/2006/main">
              <a:ext uri="{FF2B5EF4-FFF2-40B4-BE49-F238E27FC236}">
                <a16:creationId xmlns:a16="http://schemas.microsoft.com/office/drawing/2014/main" id="{98E33471-2E37-42E7-9FE7-0227FB44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7429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40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40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DO PRÉ-HARDWARE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40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40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AO CAMPO.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3ed99d769049b7"/>
          <a:stretch xmlns:a="http://schemas.openxmlformats.org/drawingml/2006/main"/>
        </p:blipFill>
        <p:spPr>
          <a:xfrm xmlns:a="http://schemas.openxmlformats.org/drawingml/2006/main" rot="0" flipH="0" flipV="0">
            <a:off x="8724900" y="876300"/>
            <a:ext cx="2781300" cy="581025"/>
          </a:xfrm>
          <a:prstGeom xmlns:a="http://schemas.openxmlformats.org/drawingml/2006/main" prst="rect">
            <a:avLst/>
          </a:prstGeom>
        </p:spPr>
      </p:pic>
      <p:sp>
        <p:nvSpPr>
          <p:cNvPr id="6" name="ring-RAFAEL">
            <a:extLst xmlns:a="http://schemas.openxmlformats.org/drawingml/2006/main">
              <a:ext uri="{FF2B5EF4-FFF2-40B4-BE49-F238E27FC236}">
                <a16:creationId xmlns:a16="http://schemas.microsoft.com/office/drawing/2014/main" id="{8DC8981F-3902-4583-BA67-D6D35E6C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552700"/>
            <a:ext cx="1695450" cy="16954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CC931"/>
            </a:solidFill>
            <a:prstDash val="solid"/>
          </a:ln>
        </p:spPr>
      </p:sp>
      <p:sp>
        <p:nvSpPr>
          <p:cNvPr id="8" name="name-RAFAEL">
            <a:extLst xmlns:a="http://schemas.openxmlformats.org/drawingml/2006/main">
              <a:ext uri="{FF2B5EF4-FFF2-40B4-BE49-F238E27FC236}">
                <a16:creationId xmlns:a16="http://schemas.microsoft.com/office/drawing/2014/main" id="{D7544351-BCDE-4A22-B43C-0002BC31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857500"/>
            <a:ext cx="876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6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46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02</a:t>
            </a:r>
          </a:p>
        </p:txBody>
      </p:sp>
      <p:sp>
        <p:nvSpPr>
          <p:cNvPr id="9" name="role-RAFAEL">
            <a:extLst xmlns:a="http://schemas.openxmlformats.org/drawingml/2006/main">
              <a:ext uri="{FF2B5EF4-FFF2-40B4-BE49-F238E27FC236}">
                <a16:creationId xmlns:a16="http://schemas.microsoft.com/office/drawing/2014/main" id="{00C8322B-FDC3-4354-9F27-19114482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4362450"/>
            <a:ext cx="226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INTEGRAR</a:t>
            </a:r>
          </a:p>
        </p:txBody>
      </p:sp>
      <p:sp>
        <p:nvSpPr>
          <p:cNvPr id="10" name="detail-RAFAEL">
            <a:extLst xmlns:a="http://schemas.openxmlformats.org/drawingml/2006/main">
              <a:ext uri="{FF2B5EF4-FFF2-40B4-BE49-F238E27FC236}">
                <a16:creationId xmlns:a16="http://schemas.microsoft.com/office/drawing/2014/main" id="{396AA02B-4577-4BD3-9579-9B2293F0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5775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ROBÔ FÍSICO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ROS 2 + Nav2 controlado</a:t>
            </a:r>
          </a:p>
        </p:txBody>
      </p:sp>
      <p:sp>
        <p:nvSpPr>
          <p:cNvPr id="11" name="ring-VIDAL">
            <a:extLst xmlns:a="http://schemas.openxmlformats.org/drawingml/2006/main">
              <a:ext uri="{FF2B5EF4-FFF2-40B4-BE49-F238E27FC236}">
                <a16:creationId xmlns:a16="http://schemas.microsoft.com/office/drawing/2014/main" id="{2F4669D7-3396-4EE1-B865-A33E6054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52700"/>
            <a:ext cx="1695450" cy="16954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3E7CF"/>
            </a:solidFill>
            <a:prstDash val="solid"/>
          </a:ln>
        </p:spPr>
      </p:sp>
      <p:sp>
        <p:nvSpPr>
          <p:cNvPr id="13" name="name-VIDAL">
            <a:extLst xmlns:a="http://schemas.openxmlformats.org/drawingml/2006/main">
              <a:ext uri="{FF2B5EF4-FFF2-40B4-BE49-F238E27FC236}">
                <a16:creationId xmlns:a16="http://schemas.microsoft.com/office/drawing/2014/main" id="{AAA24F08-3720-4152-8A9A-E38780B3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857500"/>
            <a:ext cx="876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6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46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03</a:t>
            </a:r>
          </a:p>
        </p:txBody>
      </p:sp>
      <p:sp>
        <p:nvSpPr>
          <p:cNvPr id="14" name="role-VIDAL">
            <a:extLst xmlns:a="http://schemas.openxmlformats.org/drawingml/2006/main">
              <a:ext uri="{FF2B5EF4-FFF2-40B4-BE49-F238E27FC236}">
                <a16:creationId xmlns:a16="http://schemas.microsoft.com/office/drawing/2014/main" id="{814C96D2-C4CC-40EF-830E-C292C156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62450"/>
            <a:ext cx="226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PILOTAR</a:t>
            </a:r>
          </a:p>
        </p:txBody>
      </p:sp>
      <p:sp>
        <p:nvSpPr>
          <p:cNvPr id="15" name="detail-VIDAL">
            <a:extLst xmlns:a="http://schemas.openxmlformats.org/drawingml/2006/main">
              <a:ext uri="{FF2B5EF4-FFF2-40B4-BE49-F238E27FC236}">
                <a16:creationId xmlns:a16="http://schemas.microsoft.com/office/drawing/2014/main" id="{BAECE520-E388-4083-A98D-E6961F66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85775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CAMPO CONTROLADO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operador + segurança</a:t>
            </a:r>
          </a:p>
        </p:txBody>
      </p:sp>
      <p:sp>
        <p:nvSpPr>
          <p:cNvPr id="16" name="ring-ÁTILA">
            <a:extLst xmlns:a="http://schemas.openxmlformats.org/drawingml/2006/main">
              <a:ext uri="{FF2B5EF4-FFF2-40B4-BE49-F238E27FC236}">
                <a16:creationId xmlns:a16="http://schemas.microsoft.com/office/drawing/2014/main" id="{0FCA9155-CF33-473F-9E45-C5A4DED6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552700"/>
            <a:ext cx="1695450" cy="16954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CC931"/>
            </a:solidFill>
            <a:prstDash val="solid"/>
          </a:ln>
        </p:spPr>
      </p:sp>
      <p:sp>
        <p:nvSpPr>
          <p:cNvPr id="17" name="atila-placeholder">
            <a:extLst xmlns:a="http://schemas.openxmlformats.org/drawingml/2006/main">
              <a:ext uri="{FF2B5EF4-FFF2-40B4-BE49-F238E27FC236}">
                <a16:creationId xmlns:a16="http://schemas.microsoft.com/office/drawing/2014/main" id="{582E2A46-8671-4B4B-9BA4-A39B5AF7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619375"/>
            <a:ext cx="1562100" cy="15621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atila-placeholder-a">
            <a:extLst xmlns:a="http://schemas.openxmlformats.org/drawingml/2006/main">
              <a:ext uri="{FF2B5EF4-FFF2-40B4-BE49-F238E27FC236}">
                <a16:creationId xmlns:a16="http://schemas.microsoft.com/office/drawing/2014/main" id="{CA986ECA-933D-4365-88EB-CA390A1C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2857500"/>
            <a:ext cx="876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6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46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01</a:t>
            </a:r>
          </a:p>
        </p:txBody>
      </p:sp>
      <p:sp>
        <p:nvSpPr>
          <p:cNvPr id="19" name="atila-placeholder-tag">
            <a:extLst xmlns:a="http://schemas.openxmlformats.org/drawingml/2006/main">
              <a:ext uri="{FF2B5EF4-FFF2-40B4-BE49-F238E27FC236}">
                <a16:creationId xmlns:a16="http://schemas.microsoft.com/office/drawing/2014/main" id="{B2940471-0A4B-4CBC-8756-9F8A5BC8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6957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9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WEARABLES</a:t>
            </a:r>
          </a:p>
        </p:txBody>
      </p:sp>
      <p:sp>
        <p:nvSpPr>
          <p:cNvPr id="20" name="name-ÁTILA">
            <a:extLst xmlns:a="http://schemas.openxmlformats.org/drawingml/2006/main">
              <a:ext uri="{FF2B5EF4-FFF2-40B4-BE49-F238E27FC236}">
                <a16:creationId xmlns:a16="http://schemas.microsoft.com/office/drawing/2014/main" id="{3D5FD0C4-F08C-482E-BCE1-3E544FAD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6245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VALIDAR</a:t>
            </a:r>
          </a:p>
        </p:txBody>
      </p:sp>
      <p:sp>
        <p:nvSpPr>
          <p:cNvPr id="21" name="role-ÁTILA">
            <a:extLst xmlns:a="http://schemas.openxmlformats.org/drawingml/2006/main">
              <a:ext uri="{FF2B5EF4-FFF2-40B4-BE49-F238E27FC236}">
                <a16:creationId xmlns:a16="http://schemas.microsoft.com/office/drawing/2014/main" id="{E45EE5DA-63F2-4F4B-B34B-76D17CF4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62500"/>
            <a:ext cx="226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CÂMERA REAL</a:t>
            </a:r>
          </a:p>
        </p:txBody>
      </p:sp>
      <p:sp>
        <p:nvSpPr>
          <p:cNvPr id="22" name="detail-ÁTILA">
            <a:extLst xmlns:a="http://schemas.openxmlformats.org/drawingml/2006/main">
              <a:ext uri="{FF2B5EF4-FFF2-40B4-BE49-F238E27FC236}">
                <a16:creationId xmlns:a16="http://schemas.microsoft.com/office/drawing/2014/main" id="{3E9DA790-11DE-40D9-A58C-1A7BF184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substituir MockDeviceKit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preservar o fail-safe</a:t>
            </a:r>
          </a:p>
        </p:txBody>
      </p:sp>
      <p:sp>
        <p:nvSpPr>
          <p:cNvPr id="23" name="closing-tagline">
            <a:extLst xmlns:a="http://schemas.openxmlformats.org/drawingml/2006/main">
              <a:ext uri="{FF2B5EF4-FFF2-40B4-BE49-F238E27FC236}">
                <a16:creationId xmlns:a16="http://schemas.microsoft.com/office/drawing/2014/main" id="{251F27BA-0219-43FA-9D90-C571DDC4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43550"/>
            <a:ext cx="2143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3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33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20–30%</a:t>
            </a:r>
          </a:p>
        </p:txBody>
      </p:sp>
      <p:sp>
        <p:nvSpPr>
          <p:cNvPr id="24" name="closing-next-gate">
            <a:extLst xmlns:a="http://schemas.openxmlformats.org/drawingml/2006/main">
              <a:ext uri="{FF2B5EF4-FFF2-40B4-BE49-F238E27FC236}">
                <a16:creationId xmlns:a16="http://schemas.microsoft.com/office/drawing/2014/main" id="{CE883198-2B05-4589-A0B0-58749396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543550"/>
            <a:ext cx="676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5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5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POTENCIAL DE REDUÇÃO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15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5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CUSTO OPERACIONAL + RETRABALHO*</a:t>
            </a:r>
          </a:p>
        </p:txBody>
      </p:sp>
      <p:sp>
        <p:nvSpPr>
          <p:cNvPr id="25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92388A41-BD3A-4EFA-B8CA-8B2350CE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solidFill>
              <a:srgbClr val="FCC931"/>
            </a:solidFill>
            <a:prstDash val="solid"/>
          </a:ln>
        </p:spPr>
      </p:sp>
      <p:sp>
        <p:nvSpPr>
          <p:cNvPr id="26" name="closing-signature">
            <a:extLst xmlns:a="http://schemas.openxmlformats.org/drawingml/2006/main">
              <a:ext uri="{FF2B5EF4-FFF2-40B4-BE49-F238E27FC236}">
                <a16:creationId xmlns:a16="http://schemas.microsoft.com/office/drawing/2014/main" id="{653E4FB0-DF0F-4754-BD13-99ECA3B8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4365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0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* OPORTUNIDADE ESTIMADA; VALIDAR NO PILOTO.  ·  META: ZERO ACEITE PERIGOSO EM CADA GATE.</a:t>
            </a:r>
          </a:p>
        </p:txBody>
      </p:sp>
    </p:spTree>
    <p:transition spd="med" advClick="1">
      <p:push dir="l"/>
    </p:transition>
    <p:extLst>
      <p:ext uri="{BB962C8B-B14F-4D97-AF65-F5344CB8AC3E}">
        <p14:creationId xmlns:p14="http://schemas.microsoft.com/office/powerpoint/2010/main" val="15602550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2F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ection-06">
            <a:extLst xmlns:a="http://schemas.openxmlformats.org/drawingml/2006/main">
              <a:ext uri="{FF2B5EF4-FFF2-40B4-BE49-F238E27FC236}">
                <a16:creationId xmlns:a16="http://schemas.microsoft.com/office/drawing/2014/main" id="{52F87E4F-15CB-4A1F-8C0C-91EBB128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07  /  EQUIPE + FECHAMENTO</a:t>
            </a:r>
          </a:p>
        </p:txBody>
      </p:sp>
      <p:sp>
        <p:nvSpPr>
          <p:cNvPr id="2" name="page-06">
            <a:extLst xmlns:a="http://schemas.openxmlformats.org/drawingml/2006/main">
              <a:ext uri="{FF2B5EF4-FFF2-40B4-BE49-F238E27FC236}">
                <a16:creationId xmlns:a16="http://schemas.microsoft.com/office/drawing/2014/main" id="{412D2457-80EC-4ACF-8E32-787D1ECD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07</a:t>
            </a:r>
          </a:p>
        </p:txBody>
      </p:sp>
      <p:sp>
        <p:nvSpPr>
          <p:cNvPr id="3" name="team-close-kicker">
            <a:extLst xmlns:a="http://schemas.openxmlformats.org/drawingml/2006/main">
              <a:ext uri="{FF2B5EF4-FFF2-40B4-BE49-F238E27FC236}">
                <a16:creationId xmlns:a16="http://schemas.microsoft.com/office/drawing/2014/main" id="{165F1185-DFFA-432F-9A24-4ADA8BDF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828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165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TRÊS PESSOAS. UM SISTEMA PONTA A PONTA.</a:t>
            </a:r>
          </a:p>
        </p:txBody>
      </p:sp>
      <p:sp>
        <p:nvSpPr>
          <p:cNvPr id="4" name="team-close-title">
            <a:extLst xmlns:a="http://schemas.openxmlformats.org/drawingml/2006/main">
              <a:ext uri="{FF2B5EF4-FFF2-40B4-BE49-F238E27FC236}">
                <a16:creationId xmlns:a16="http://schemas.microsoft.com/office/drawing/2014/main" id="{98E33471-2E37-42E7-9FE7-0227FB44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81100"/>
            <a:ext cx="49530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78000"/>
              </a:lnSpc>
              <a:buNone/>
              <a:defRPr sz="69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69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AGRO</a:t>
            </a:r>
          </a:p>
          <a:p xmlns:a="http://schemas.openxmlformats.org/drawingml/2006/main">
            <a:pPr algn="l">
              <a:lnSpc>
                <a:spcPct val="78000"/>
              </a:lnSpc>
              <a:buNone/>
              <a:defRPr sz="69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69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TURTLES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18ae19ebfe4f61"/>
          <a:stretch xmlns:a="http://schemas.openxmlformats.org/drawingml/2006/main"/>
        </p:blipFill>
        <p:spPr>
          <a:xfrm xmlns:a="http://schemas.openxmlformats.org/drawingml/2006/main" rot="0" flipH="0" flipV="0">
            <a:off x="7715250" y="1202826"/>
            <a:ext cx="3810000" cy="794748"/>
          </a:xfrm>
          <a:prstGeom xmlns:a="http://schemas.openxmlformats.org/drawingml/2006/main" prst="rect">
            <a:avLst/>
          </a:prstGeom>
        </p:spPr>
      </p:pic>
      <p:sp>
        <p:nvSpPr>
          <p:cNvPr id="6" name="ring-RAFAEL">
            <a:extLst xmlns:a="http://schemas.openxmlformats.org/drawingml/2006/main">
              <a:ext uri="{FF2B5EF4-FFF2-40B4-BE49-F238E27FC236}">
                <a16:creationId xmlns:a16="http://schemas.microsoft.com/office/drawing/2014/main" id="{8DC8981F-3902-4583-BA67-D6D35E6C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4193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4ffb67774c482e"/>
          <a:srcRect xmlns:a="http://schemas.openxmlformats.org/drawingml/2006/main" l="0" t="12500" r="0" b="12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53575" y="2486025"/>
            <a:ext cx="1562100" cy="1562100"/>
          </a:xfrm>
          <a:prstGeom xmlns:a="http://schemas.openxmlformats.org/drawingml/2006/main" prst="ellipse">
            <a:avLst/>
          </a:prstGeom>
        </p:spPr>
      </p:pic>
      <p:sp>
        <p:nvSpPr>
          <p:cNvPr id="8" name="name-RAFAEL">
            <a:extLst xmlns:a="http://schemas.openxmlformats.org/drawingml/2006/main">
              <a:ext uri="{FF2B5EF4-FFF2-40B4-BE49-F238E27FC236}">
                <a16:creationId xmlns:a16="http://schemas.microsoft.com/office/drawing/2014/main" id="{D7544351-BCDE-4A22-B43C-0002BC31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28625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RAFAEL</a:t>
            </a:r>
          </a:p>
        </p:txBody>
      </p:sp>
      <p:sp>
        <p:nvSpPr>
          <p:cNvPr id="9" name="role-RAFAEL">
            <a:extLst xmlns:a="http://schemas.openxmlformats.org/drawingml/2006/main">
              <a:ext uri="{FF2B5EF4-FFF2-40B4-BE49-F238E27FC236}">
                <a16:creationId xmlns:a16="http://schemas.microsoft.com/office/drawing/2014/main" id="{00C8322B-FDC3-4354-9F27-19114482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724400"/>
            <a:ext cx="226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INTELIGÊNCIA ARTIFICIAL</a:t>
            </a:r>
          </a:p>
        </p:txBody>
      </p:sp>
      <p:sp>
        <p:nvSpPr>
          <p:cNvPr id="10" name="detail-RAFAEL">
            <a:extLst xmlns:a="http://schemas.openxmlformats.org/drawingml/2006/main">
              <a:ext uri="{FF2B5EF4-FFF2-40B4-BE49-F238E27FC236}">
                <a16:creationId xmlns:a16="http://schemas.microsoft.com/office/drawing/2014/main" id="{396AA02B-4577-4BD3-9579-9B2293F0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1816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classificação · avaliação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segurança</a:t>
            </a:r>
          </a:p>
        </p:txBody>
      </p:sp>
      <p:sp>
        <p:nvSpPr>
          <p:cNvPr id="11" name="ring-VIDAL">
            <a:extLst xmlns:a="http://schemas.openxmlformats.org/drawingml/2006/main">
              <a:ext uri="{FF2B5EF4-FFF2-40B4-BE49-F238E27FC236}">
                <a16:creationId xmlns:a16="http://schemas.microsoft.com/office/drawing/2014/main" id="{2F4669D7-3396-4EE1-B865-A33E6054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193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7C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c5fe713b814650"/>
          <a:srcRect xmlns:a="http://schemas.openxmlformats.org/drawingml/2006/main" l="0" t="12500" r="0" b="12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91375" y="2486025"/>
            <a:ext cx="1562100" cy="1562100"/>
          </a:xfrm>
          <a:prstGeom xmlns:a="http://schemas.openxmlformats.org/drawingml/2006/main" prst="ellipse">
            <a:avLst/>
          </a:prstGeom>
        </p:spPr>
      </p:pic>
      <p:sp>
        <p:nvSpPr>
          <p:cNvPr id="13" name="name-VIDAL">
            <a:extLst xmlns:a="http://schemas.openxmlformats.org/drawingml/2006/main">
              <a:ext uri="{FF2B5EF4-FFF2-40B4-BE49-F238E27FC236}">
                <a16:creationId xmlns:a16="http://schemas.microsoft.com/office/drawing/2014/main" id="{AAA24F08-3720-4152-8A9A-E38780B3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8625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FELIPE</a:t>
            </a:r>
          </a:p>
        </p:txBody>
      </p:sp>
      <p:sp>
        <p:nvSpPr>
          <p:cNvPr id="14" name="role-VIDAL">
            <a:extLst xmlns:a="http://schemas.openxmlformats.org/drawingml/2006/main">
              <a:ext uri="{FF2B5EF4-FFF2-40B4-BE49-F238E27FC236}">
                <a16:creationId xmlns:a16="http://schemas.microsoft.com/office/drawing/2014/main" id="{814C96D2-C4CC-40EF-830E-C292C156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724400"/>
            <a:ext cx="226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ROBÓTICA E INTEGRAÇÃO</a:t>
            </a:r>
          </a:p>
        </p:txBody>
      </p:sp>
      <p:sp>
        <p:nvSpPr>
          <p:cNvPr id="15" name="detail-VIDAL">
            <a:extLst xmlns:a="http://schemas.openxmlformats.org/drawingml/2006/main">
              <a:ext uri="{FF2B5EF4-FFF2-40B4-BE49-F238E27FC236}">
                <a16:creationId xmlns:a16="http://schemas.microsoft.com/office/drawing/2014/main" id="{BAECE520-E388-4083-A98D-E6961F66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1816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ROS 2 · Nav2 · Gazebo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QR · E2E</a:t>
            </a:r>
          </a:p>
        </p:txBody>
      </p:sp>
      <p:sp>
        <p:nvSpPr>
          <p:cNvPr id="16" name="ring-ÁTILA">
            <a:extLst xmlns:a="http://schemas.openxmlformats.org/drawingml/2006/main">
              <a:ext uri="{FF2B5EF4-FFF2-40B4-BE49-F238E27FC236}">
                <a16:creationId xmlns:a16="http://schemas.microsoft.com/office/drawing/2014/main" id="{0FCA9155-CF33-473F-9E45-C5A4DED6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193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atila-placeholder">
            <a:extLst xmlns:a="http://schemas.openxmlformats.org/drawingml/2006/main">
              <a:ext uri="{FF2B5EF4-FFF2-40B4-BE49-F238E27FC236}">
                <a16:creationId xmlns:a16="http://schemas.microsoft.com/office/drawing/2014/main" id="{582E2A46-8671-4B4B-9BA4-A39B5AF7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486025"/>
            <a:ext cx="1562100" cy="1562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3D35"/>
          </a:solidFill>
          <a:ln xmlns:a="http://schemas.openxmlformats.org/drawingml/2006/main" w="19050">
            <a:solidFill>
              <a:srgbClr val="F3E7CF"/>
            </a:solidFill>
            <a:prstDash val="solid"/>
          </a:ln>
        </p:spPr>
      </p:sp>
      <p:sp>
        <p:nvSpPr>
          <p:cNvPr id="18" name="atila-placeholder-a">
            <a:extLst xmlns:a="http://schemas.openxmlformats.org/drawingml/2006/main">
              <a:ext uri="{FF2B5EF4-FFF2-40B4-BE49-F238E27FC236}">
                <a16:creationId xmlns:a16="http://schemas.microsoft.com/office/drawing/2014/main" id="{CA986ECA-933D-4365-88EB-CA390A1C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724150"/>
            <a:ext cx="876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9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495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A</a:t>
            </a:r>
          </a:p>
        </p:txBody>
      </p:sp>
      <p:sp>
        <p:nvSpPr>
          <p:cNvPr id="19" name="atila-placeholder-tag">
            <a:extLst xmlns:a="http://schemas.openxmlformats.org/drawingml/2006/main">
              <a:ext uri="{FF2B5EF4-FFF2-40B4-BE49-F238E27FC236}">
                <a16:creationId xmlns:a16="http://schemas.microsoft.com/office/drawing/2014/main" id="{B2940471-0A4B-4CBC-8756-9F8A5BC8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5814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9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FOTO EM BREVE</a:t>
            </a:r>
          </a:p>
        </p:txBody>
      </p:sp>
      <p:sp>
        <p:nvSpPr>
          <p:cNvPr id="20" name="name-ÁTILA">
            <a:extLst xmlns:a="http://schemas.openxmlformats.org/drawingml/2006/main">
              <a:ext uri="{FF2B5EF4-FFF2-40B4-BE49-F238E27FC236}">
                <a16:creationId xmlns:a16="http://schemas.microsoft.com/office/drawing/2014/main" id="{3D5FD0C4-F08C-482E-BCE1-3E544FAD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28625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2025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ÁTILA</a:t>
            </a:r>
          </a:p>
        </p:txBody>
      </p:sp>
      <p:sp>
        <p:nvSpPr>
          <p:cNvPr id="21" name="role-ÁTILA">
            <a:extLst xmlns:a="http://schemas.openxmlformats.org/drawingml/2006/main">
              <a:ext uri="{FF2B5EF4-FFF2-40B4-BE49-F238E27FC236}">
                <a16:creationId xmlns:a16="http://schemas.microsoft.com/office/drawing/2014/main" id="{E45EE5DA-63F2-4F4B-B34B-76D17CF4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24400"/>
            <a:ext cx="226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ANDROID E META DAT</a:t>
            </a:r>
          </a:p>
        </p:txBody>
      </p:sp>
      <p:sp>
        <p:nvSpPr>
          <p:cNvPr id="22" name="detail-ÁTILA">
            <a:extLst xmlns:a="http://schemas.openxmlformats.org/drawingml/2006/main">
              <a:ext uri="{FF2B5EF4-FFF2-40B4-BE49-F238E27FC236}">
                <a16:creationId xmlns:a16="http://schemas.microsoft.com/office/drawing/2014/main" id="{3E9DA790-11DE-40D9-A58C-1A7BF184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1816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Kotlin · DAT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125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voz · TTS</a:t>
            </a:r>
          </a:p>
        </p:txBody>
      </p:sp>
      <p:sp>
        <p:nvSpPr>
          <p:cNvPr id="23" name="closing-tagline">
            <a:extLst xmlns:a="http://schemas.openxmlformats.org/drawingml/2006/main">
              <a:ext uri="{FF2B5EF4-FFF2-40B4-BE49-F238E27FC236}">
                <a16:creationId xmlns:a16="http://schemas.microsoft.com/office/drawing/2014/main" id="{251F27BA-0219-43FA-9D90-C571DDC4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6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defRPr>
            </a:pPr>
            <a:r>
              <a:rPr sz="2325" b="1" i="0">
                <a:solidFill>
                  <a:srgbClr val="FCC931"/>
                </a:solidFill>
                <a:latin typeface="League Spartan"/>
                <a:ea typeface="League Spartan"/>
                <a:cs typeface="League Spartan"/>
              </a:rPr>
              <a:t>OLHE.  FALE.  CONFIRME.</a:t>
            </a:r>
          </a:p>
        </p:txBody>
      </p:sp>
      <p:sp>
        <p:nvSpPr>
          <p:cNvPr id="24" name="closing-next-gate">
            <a:extLst xmlns:a="http://schemas.openxmlformats.org/drawingml/2006/main">
              <a:ext uri="{FF2B5EF4-FFF2-40B4-BE49-F238E27FC236}">
                <a16:creationId xmlns:a16="http://schemas.microsoft.com/office/drawing/2014/main" id="{CE883198-2B05-4589-A0B0-58749396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352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650" b="0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Interface segura, local e ponta a ponta.</a:t>
            </a:r>
          </a:p>
        </p:txBody>
      </p:sp>
      <p:sp>
        <p:nvSpPr>
          <p:cNvPr id="25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92388A41-BD3A-4EFA-B8CA-8B2350CE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104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closing-signature">
            <a:extLst xmlns:a="http://schemas.openxmlformats.org/drawingml/2006/main">
              <a:ext uri="{FF2B5EF4-FFF2-40B4-BE49-F238E27FC236}">
                <a16:creationId xmlns:a16="http://schemas.microsoft.com/office/drawing/2014/main" id="{653E4FB0-DF0F-4754-BD13-99ECA3B8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defRPr>
            </a:pPr>
            <a:r>
              <a:rPr sz="1200" b="1" i="0">
                <a:solidFill>
                  <a:srgbClr val="F3E7CF"/>
                </a:solidFill>
                <a:latin typeface="League Spartan"/>
                <a:ea typeface="League Spartan"/>
                <a:cs typeface="League Spartan"/>
              </a:rPr>
              <a:t>MAESTRO AGRÍCOLA  ·  POR AGROTURTLES</a:t>
            </a:r>
          </a:p>
        </p:txBody>
      </p:sp>
    </p:spTree>
    <p:transition spd="med" advClick="1">
      <p:fade/>
    </p:transition>
    <p:extLst>
      <p:ext uri="{BB962C8B-B14F-4D97-AF65-F5344CB8AC3E}">
        <p14:creationId xmlns:p14="http://schemas.microsoft.com/office/powerpoint/2010/main" val="15602550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2026-08-22T20:42:55.1200000Z</dcterms:created>
  <dcterms:modified xsi:type="dcterms:W3CDTF">2026-08-22T20:42:55.1200000Z</dcterms:modified>
</coreProperties>
</file>